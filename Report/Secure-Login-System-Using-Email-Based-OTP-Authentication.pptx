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73C5C-9FA3-4D05-9357-F7811DB61C7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3684A-DBA6-46D6-87BA-F09684992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3684A-DBA6-46D6-87BA-F09684992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0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3684A-DBA6-46D6-87BA-F09684992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9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D8D5C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D8D5C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62187" y="576262"/>
            <a:ext cx="504825" cy="209550"/>
          </a:xfrm>
          <a:custGeom>
            <a:avLst/>
            <a:gdLst/>
            <a:ahLst/>
            <a:cxnLst/>
            <a:rect l="l" t="t" r="r" b="b"/>
            <a:pathLst>
              <a:path w="504825" h="209550">
                <a:moveTo>
                  <a:pt x="0" y="201612"/>
                </a:moveTo>
                <a:lnTo>
                  <a:pt x="0" y="7937"/>
                </a:lnTo>
                <a:lnTo>
                  <a:pt x="0" y="5740"/>
                </a:lnTo>
                <a:lnTo>
                  <a:pt x="774" y="3873"/>
                </a:lnTo>
                <a:lnTo>
                  <a:pt x="2324" y="2324"/>
                </a:lnTo>
                <a:lnTo>
                  <a:pt x="3873" y="774"/>
                </a:lnTo>
                <a:lnTo>
                  <a:pt x="5740" y="0"/>
                </a:lnTo>
                <a:lnTo>
                  <a:pt x="7937" y="0"/>
                </a:lnTo>
                <a:lnTo>
                  <a:pt x="496887" y="0"/>
                </a:lnTo>
                <a:lnTo>
                  <a:pt x="499084" y="0"/>
                </a:lnTo>
                <a:lnTo>
                  <a:pt x="500951" y="774"/>
                </a:lnTo>
                <a:lnTo>
                  <a:pt x="502500" y="2324"/>
                </a:lnTo>
                <a:lnTo>
                  <a:pt x="504050" y="3873"/>
                </a:lnTo>
                <a:lnTo>
                  <a:pt x="504825" y="5740"/>
                </a:lnTo>
                <a:lnTo>
                  <a:pt x="504825" y="7937"/>
                </a:lnTo>
                <a:lnTo>
                  <a:pt x="504825" y="201612"/>
                </a:lnTo>
                <a:lnTo>
                  <a:pt x="504825" y="203809"/>
                </a:lnTo>
                <a:lnTo>
                  <a:pt x="504050" y="205676"/>
                </a:lnTo>
                <a:lnTo>
                  <a:pt x="502500" y="207225"/>
                </a:lnTo>
                <a:lnTo>
                  <a:pt x="500951" y="208775"/>
                </a:lnTo>
                <a:lnTo>
                  <a:pt x="499084" y="209550"/>
                </a:lnTo>
                <a:lnTo>
                  <a:pt x="496887" y="209550"/>
                </a:lnTo>
                <a:lnTo>
                  <a:pt x="7937" y="209550"/>
                </a:lnTo>
                <a:lnTo>
                  <a:pt x="5740" y="209550"/>
                </a:lnTo>
                <a:lnTo>
                  <a:pt x="3873" y="208775"/>
                </a:lnTo>
                <a:lnTo>
                  <a:pt x="2324" y="207225"/>
                </a:lnTo>
                <a:lnTo>
                  <a:pt x="774" y="205676"/>
                </a:lnTo>
                <a:lnTo>
                  <a:pt x="0" y="203809"/>
                </a:lnTo>
                <a:lnTo>
                  <a:pt x="0" y="201612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41118" y="1439576"/>
            <a:ext cx="2915920" cy="375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9224" y="1007617"/>
            <a:ext cx="10953551" cy="595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91226" y="1802879"/>
            <a:ext cx="6350000" cy="402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D8D5C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905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73047" y="2367788"/>
            <a:ext cx="8542655" cy="138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480"/>
              </a:lnSpc>
            </a:pPr>
            <a:r>
              <a:rPr sz="4350" spc="390" dirty="0"/>
              <a:t>Secure</a:t>
            </a:r>
            <a:r>
              <a:rPr sz="4350" spc="-105" dirty="0"/>
              <a:t> </a:t>
            </a:r>
            <a:r>
              <a:rPr sz="4350" spc="405" dirty="0"/>
              <a:t>Login</a:t>
            </a:r>
            <a:r>
              <a:rPr sz="4350" spc="-100" dirty="0"/>
              <a:t> </a:t>
            </a:r>
            <a:r>
              <a:rPr sz="4350" spc="290" dirty="0"/>
              <a:t>System</a:t>
            </a:r>
            <a:r>
              <a:rPr sz="4350" spc="-105" dirty="0"/>
              <a:t> </a:t>
            </a:r>
            <a:r>
              <a:rPr sz="4350" spc="310" dirty="0"/>
              <a:t>Using </a:t>
            </a:r>
            <a:r>
              <a:rPr sz="4350" spc="350" dirty="0"/>
              <a:t>Email-</a:t>
            </a:r>
            <a:r>
              <a:rPr sz="4350" spc="405" dirty="0"/>
              <a:t>Based</a:t>
            </a:r>
            <a:r>
              <a:rPr sz="4350" spc="-105" dirty="0"/>
              <a:t> </a:t>
            </a:r>
            <a:r>
              <a:rPr sz="4350" spc="770" dirty="0"/>
              <a:t>OTP</a:t>
            </a:r>
            <a:r>
              <a:rPr sz="4350" spc="-110" dirty="0"/>
              <a:t> </a:t>
            </a:r>
            <a:r>
              <a:rPr sz="4350" spc="215" dirty="0"/>
              <a:t>Authentication</a:t>
            </a:r>
            <a:endParaRPr sz="4350" dirty="0"/>
          </a:p>
        </p:txBody>
      </p:sp>
      <p:sp>
        <p:nvSpPr>
          <p:cNvPr id="4" name="object 4"/>
          <p:cNvSpPr txBox="1"/>
          <p:nvPr/>
        </p:nvSpPr>
        <p:spPr>
          <a:xfrm>
            <a:off x="4382935" y="3987895"/>
            <a:ext cx="3429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Java-</a:t>
            </a:r>
            <a:r>
              <a:rPr sz="1200" spc="-1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Based</a:t>
            </a:r>
            <a:r>
              <a:rPr sz="1200" spc="-12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 </a:t>
            </a:r>
            <a:r>
              <a:rPr sz="1200" spc="-105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Two-</a:t>
            </a:r>
            <a:r>
              <a:rPr sz="1200" spc="-1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Factor</a:t>
            </a:r>
            <a:r>
              <a:rPr sz="1200" spc="-114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Authentication</a:t>
            </a:r>
            <a:r>
              <a:rPr sz="1200" spc="-114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 </a:t>
            </a:r>
            <a:r>
              <a:rPr sz="1200" spc="-65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/>
                <a:cs typeface="Arial Black"/>
              </a:rPr>
              <a:t>System</a:t>
            </a:r>
            <a:endParaRPr sz="1200" dirty="0">
              <a:solidFill>
                <a:schemeClr val="accent2">
                  <a:lumMod val="40000"/>
                  <a:lumOff val="60000"/>
                </a:schemeClr>
              </a:solidFill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85900" y="4381500"/>
            <a:ext cx="9220200" cy="19050"/>
          </a:xfrm>
          <a:custGeom>
            <a:avLst/>
            <a:gdLst/>
            <a:ahLst/>
            <a:cxnLst/>
            <a:rect l="l" t="t" r="r" b="b"/>
            <a:pathLst>
              <a:path w="9220200" h="19050">
                <a:moveTo>
                  <a:pt x="9213304" y="0"/>
                </a:moveTo>
                <a:lnTo>
                  <a:pt x="6896" y="0"/>
                </a:lnTo>
                <a:lnTo>
                  <a:pt x="4648" y="927"/>
                </a:lnTo>
                <a:lnTo>
                  <a:pt x="927" y="4648"/>
                </a:lnTo>
                <a:lnTo>
                  <a:pt x="0" y="6896"/>
                </a:lnTo>
                <a:lnTo>
                  <a:pt x="0" y="9525"/>
                </a:lnTo>
                <a:lnTo>
                  <a:pt x="0" y="12153"/>
                </a:lnTo>
                <a:lnTo>
                  <a:pt x="927" y="14401"/>
                </a:lnTo>
                <a:lnTo>
                  <a:pt x="4648" y="18122"/>
                </a:lnTo>
                <a:lnTo>
                  <a:pt x="6896" y="19050"/>
                </a:lnTo>
                <a:lnTo>
                  <a:pt x="9213304" y="19050"/>
                </a:lnTo>
                <a:lnTo>
                  <a:pt x="9215551" y="18122"/>
                </a:lnTo>
                <a:lnTo>
                  <a:pt x="9219273" y="14401"/>
                </a:lnTo>
                <a:lnTo>
                  <a:pt x="9220200" y="12153"/>
                </a:lnTo>
                <a:lnTo>
                  <a:pt x="9220200" y="6896"/>
                </a:lnTo>
                <a:lnTo>
                  <a:pt x="9219273" y="4648"/>
                </a:lnTo>
                <a:lnTo>
                  <a:pt x="9215551" y="927"/>
                </a:lnTo>
                <a:lnTo>
                  <a:pt x="9213304" y="0"/>
                </a:lnTo>
                <a:close/>
              </a:path>
            </a:pathLst>
          </a:custGeom>
          <a:solidFill>
            <a:srgbClr val="D8D5CE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5900" y="4581525"/>
            <a:ext cx="9220200" cy="1752600"/>
          </a:xfrm>
          <a:custGeom>
            <a:avLst/>
            <a:gdLst/>
            <a:ahLst/>
            <a:cxnLst/>
            <a:rect l="l" t="t" r="r" b="b"/>
            <a:pathLst>
              <a:path w="9220200" h="1752600">
                <a:moveTo>
                  <a:pt x="9220200" y="16510"/>
                </a:moveTo>
                <a:lnTo>
                  <a:pt x="9203677" y="0"/>
                </a:lnTo>
                <a:lnTo>
                  <a:pt x="6915150" y="0"/>
                </a:lnTo>
                <a:lnTo>
                  <a:pt x="4610100" y="0"/>
                </a:lnTo>
                <a:lnTo>
                  <a:pt x="2305050" y="0"/>
                </a:lnTo>
                <a:lnTo>
                  <a:pt x="16510" y="0"/>
                </a:lnTo>
                <a:lnTo>
                  <a:pt x="14071" y="482"/>
                </a:lnTo>
                <a:lnTo>
                  <a:pt x="0" y="16510"/>
                </a:lnTo>
                <a:lnTo>
                  <a:pt x="0" y="1257300"/>
                </a:lnTo>
                <a:lnTo>
                  <a:pt x="0" y="1733562"/>
                </a:lnTo>
                <a:lnTo>
                  <a:pt x="0" y="1736090"/>
                </a:lnTo>
                <a:lnTo>
                  <a:pt x="482" y="1738515"/>
                </a:lnTo>
                <a:lnTo>
                  <a:pt x="16510" y="1752600"/>
                </a:lnTo>
                <a:lnTo>
                  <a:pt x="9203677" y="1752600"/>
                </a:lnTo>
                <a:lnTo>
                  <a:pt x="9220200" y="1736090"/>
                </a:lnTo>
                <a:lnTo>
                  <a:pt x="9220200" y="1257300"/>
                </a:lnTo>
                <a:lnTo>
                  <a:pt x="9220200" y="1651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85900" y="5838825"/>
            <a:ext cx="10610850" cy="923925"/>
            <a:chOff x="1485900" y="5838825"/>
            <a:chExt cx="10610850" cy="923925"/>
          </a:xfrm>
        </p:grpSpPr>
        <p:sp>
          <p:nvSpPr>
            <p:cNvPr id="8" name="object 8"/>
            <p:cNvSpPr/>
            <p:nvPr/>
          </p:nvSpPr>
          <p:spPr>
            <a:xfrm>
              <a:off x="1485900" y="5838825"/>
              <a:ext cx="9220200" cy="495300"/>
            </a:xfrm>
            <a:custGeom>
              <a:avLst/>
              <a:gdLst/>
              <a:ahLst/>
              <a:cxnLst/>
              <a:rect l="l" t="t" r="r" b="b"/>
              <a:pathLst>
                <a:path w="9220200" h="495300">
                  <a:moveTo>
                    <a:pt x="9220200" y="0"/>
                  </a:moveTo>
                  <a:lnTo>
                    <a:pt x="0" y="0"/>
                  </a:lnTo>
                  <a:lnTo>
                    <a:pt x="0" y="476255"/>
                  </a:lnTo>
                  <a:lnTo>
                    <a:pt x="0" y="478779"/>
                  </a:lnTo>
                  <a:lnTo>
                    <a:pt x="16510" y="495300"/>
                  </a:lnTo>
                  <a:lnTo>
                    <a:pt x="9203677" y="495300"/>
                  </a:lnTo>
                  <a:lnTo>
                    <a:pt x="9220200" y="478779"/>
                  </a:lnTo>
                  <a:lnTo>
                    <a:pt x="9220200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85900" y="4572000"/>
          <a:ext cx="9220200" cy="1266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550" spc="114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550" spc="-10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150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136525" marB="0">
                    <a:lnR w="19050">
                      <a:solidFill>
                        <a:srgbClr val="AE9D8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550" spc="130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r>
                        <a:rPr sz="1550" spc="-30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155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136525" marB="0">
                    <a:lnL w="19050">
                      <a:solidFill>
                        <a:srgbClr val="AE9D81"/>
                      </a:solidFill>
                      <a:prstDash val="solid"/>
                    </a:lnL>
                    <a:lnR w="19050">
                      <a:solidFill>
                        <a:srgbClr val="BDBAB3"/>
                      </a:solidFill>
                      <a:prstDash val="solid"/>
                    </a:ln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550" spc="100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College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136525" marB="0">
                    <a:lnL w="19050">
                      <a:solidFill>
                        <a:srgbClr val="BDBAB3"/>
                      </a:solidFill>
                      <a:prstDash val="solid"/>
                    </a:lnL>
                    <a:lnR w="19050">
                      <a:solidFill>
                        <a:srgbClr val="424242"/>
                      </a:solidFill>
                      <a:prstDash val="solid"/>
                    </a:ln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550" spc="114" dirty="0">
                          <a:solidFill>
                            <a:srgbClr val="D8D5CE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136525" marB="0">
                    <a:lnL w="19050">
                      <a:solidFill>
                        <a:srgbClr val="424242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944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50" spc="-11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950" spc="-1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7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UDAYA</a:t>
                      </a:r>
                      <a:r>
                        <a:rPr sz="950" spc="-14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7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950" spc="-1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4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K</a:t>
                      </a:r>
                      <a:r>
                        <a:rPr sz="950" spc="-14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950">
                        <a:latin typeface="Verdana"/>
                        <a:cs typeface="Verdana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1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950" spc="-14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Rohith</a:t>
                      </a:r>
                      <a:r>
                        <a:rPr sz="950" spc="-13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Gowda</a:t>
                      </a:r>
                      <a:r>
                        <a:rPr sz="950" spc="-14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4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950" spc="-13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R w="19050">
                      <a:solidFill>
                        <a:srgbClr val="AE9D81"/>
                      </a:solidFill>
                      <a:prstDash val="solid"/>
                    </a:lnR>
                    <a:lnB w="19050">
                      <a:solidFill>
                        <a:srgbClr val="746F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50" spc="-11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950" spc="-114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4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4AD25MC086</a:t>
                      </a:r>
                      <a:r>
                        <a:rPr sz="950" spc="-114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950">
                        <a:latin typeface="Verdana"/>
                        <a:cs typeface="Verdana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1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950" spc="-12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3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4AD25MC064</a:t>
                      </a:r>
                      <a:r>
                        <a:rPr sz="950" spc="-12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AE9D81"/>
                      </a:solidFill>
                      <a:prstDash val="solid"/>
                    </a:lnL>
                    <a:lnR w="19050">
                      <a:solidFill>
                        <a:srgbClr val="BDBAB3"/>
                      </a:solidFill>
                      <a:prstDash val="solid"/>
                    </a:lnR>
                    <a:lnB w="19050">
                      <a:solidFill>
                        <a:srgbClr val="746F69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142240" marR="497205">
                        <a:lnSpc>
                          <a:spcPct val="111800"/>
                        </a:lnSpc>
                        <a:spcBef>
                          <a:spcPts val="200"/>
                        </a:spcBef>
                      </a:pPr>
                      <a:r>
                        <a:rPr sz="9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950" spc="7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4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ATME</a:t>
                      </a:r>
                      <a:r>
                        <a:rPr sz="950" spc="-14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College</a:t>
                      </a:r>
                      <a:r>
                        <a:rPr sz="950" spc="-14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sz="950" spc="-14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7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Engineering</a:t>
                      </a:r>
                      <a:r>
                        <a:rPr sz="950" spc="-14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114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, </a:t>
                      </a:r>
                      <a:r>
                        <a:rPr sz="950" spc="-2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MYSURU</a:t>
                      </a:r>
                      <a:r>
                        <a:rPr sz="950" spc="-11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BDBAB3"/>
                      </a:solidFill>
                      <a:prstDash val="solid"/>
                    </a:lnL>
                    <a:lnR w="19050">
                      <a:solidFill>
                        <a:srgbClr val="424242"/>
                      </a:solidFill>
                      <a:prstDash val="solid"/>
                    </a:lnR>
                    <a:lnB w="19050">
                      <a:solidFill>
                        <a:srgbClr val="746F69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950" spc="-11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950" spc="-13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sz="950" spc="-13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APPLICATION</a:t>
                      </a:r>
                      <a:r>
                        <a:rPr sz="950" spc="-13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5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(MCA)</a:t>
                      </a:r>
                      <a:r>
                        <a:rPr sz="950" spc="-13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50" spc="-50" dirty="0">
                          <a:solidFill>
                            <a:srgbClr val="D8D5C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950" dirty="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424242"/>
                      </a:solidFill>
                      <a:prstDash val="solid"/>
                    </a:lnL>
                    <a:lnB w="19050">
                      <a:solidFill>
                        <a:srgbClr val="746F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77200" y="6371716"/>
            <a:ext cx="4114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33412" y="576262"/>
            <a:ext cx="704850" cy="314325"/>
          </a:xfrm>
          <a:custGeom>
            <a:avLst/>
            <a:gdLst/>
            <a:ahLst/>
            <a:cxnLst/>
            <a:rect l="l" t="t" r="r" b="b"/>
            <a:pathLst>
              <a:path w="704850" h="314325">
                <a:moveTo>
                  <a:pt x="0" y="301307"/>
                </a:moveTo>
                <a:lnTo>
                  <a:pt x="0" y="13017"/>
                </a:lnTo>
                <a:lnTo>
                  <a:pt x="0" y="11290"/>
                </a:lnTo>
                <a:lnTo>
                  <a:pt x="332" y="9626"/>
                </a:lnTo>
                <a:lnTo>
                  <a:pt x="991" y="8026"/>
                </a:lnTo>
                <a:lnTo>
                  <a:pt x="1652" y="6438"/>
                </a:lnTo>
                <a:lnTo>
                  <a:pt x="2589" y="5029"/>
                </a:lnTo>
                <a:lnTo>
                  <a:pt x="3810" y="3810"/>
                </a:lnTo>
                <a:lnTo>
                  <a:pt x="5030" y="2590"/>
                </a:lnTo>
                <a:lnTo>
                  <a:pt x="6438" y="1651"/>
                </a:lnTo>
                <a:lnTo>
                  <a:pt x="8031" y="990"/>
                </a:lnTo>
                <a:lnTo>
                  <a:pt x="9624" y="330"/>
                </a:lnTo>
                <a:lnTo>
                  <a:pt x="11286" y="0"/>
                </a:lnTo>
                <a:lnTo>
                  <a:pt x="13012" y="0"/>
                </a:lnTo>
                <a:lnTo>
                  <a:pt x="691832" y="0"/>
                </a:lnTo>
                <a:lnTo>
                  <a:pt x="693559" y="0"/>
                </a:lnTo>
                <a:lnTo>
                  <a:pt x="695223" y="330"/>
                </a:lnTo>
                <a:lnTo>
                  <a:pt x="696823" y="990"/>
                </a:lnTo>
                <a:lnTo>
                  <a:pt x="698411" y="1651"/>
                </a:lnTo>
                <a:lnTo>
                  <a:pt x="699820" y="2590"/>
                </a:lnTo>
                <a:lnTo>
                  <a:pt x="701040" y="3810"/>
                </a:lnTo>
                <a:lnTo>
                  <a:pt x="702259" y="5029"/>
                </a:lnTo>
                <a:lnTo>
                  <a:pt x="703199" y="6438"/>
                </a:lnTo>
                <a:lnTo>
                  <a:pt x="703859" y="8026"/>
                </a:lnTo>
                <a:lnTo>
                  <a:pt x="704519" y="9626"/>
                </a:lnTo>
                <a:lnTo>
                  <a:pt x="704850" y="11290"/>
                </a:lnTo>
                <a:lnTo>
                  <a:pt x="704850" y="13017"/>
                </a:lnTo>
                <a:lnTo>
                  <a:pt x="704850" y="301307"/>
                </a:lnTo>
                <a:lnTo>
                  <a:pt x="704850" y="303034"/>
                </a:lnTo>
                <a:lnTo>
                  <a:pt x="704519" y="304698"/>
                </a:lnTo>
                <a:lnTo>
                  <a:pt x="703859" y="306298"/>
                </a:lnTo>
                <a:lnTo>
                  <a:pt x="703199" y="307886"/>
                </a:lnTo>
                <a:lnTo>
                  <a:pt x="702259" y="309295"/>
                </a:lnTo>
                <a:lnTo>
                  <a:pt x="701040" y="310515"/>
                </a:lnTo>
                <a:lnTo>
                  <a:pt x="699820" y="311734"/>
                </a:lnTo>
                <a:lnTo>
                  <a:pt x="698411" y="312674"/>
                </a:lnTo>
                <a:lnTo>
                  <a:pt x="696823" y="313334"/>
                </a:lnTo>
                <a:lnTo>
                  <a:pt x="695223" y="313994"/>
                </a:lnTo>
                <a:lnTo>
                  <a:pt x="693559" y="314325"/>
                </a:lnTo>
                <a:lnTo>
                  <a:pt x="691832" y="314325"/>
                </a:lnTo>
                <a:lnTo>
                  <a:pt x="13012" y="314325"/>
                </a:lnTo>
                <a:lnTo>
                  <a:pt x="11286" y="314325"/>
                </a:lnTo>
                <a:lnTo>
                  <a:pt x="9624" y="313994"/>
                </a:lnTo>
                <a:lnTo>
                  <a:pt x="8031" y="313334"/>
                </a:lnTo>
                <a:lnTo>
                  <a:pt x="6438" y="312674"/>
                </a:lnTo>
                <a:lnTo>
                  <a:pt x="5030" y="311734"/>
                </a:lnTo>
                <a:lnTo>
                  <a:pt x="3810" y="310515"/>
                </a:lnTo>
                <a:lnTo>
                  <a:pt x="2589" y="309295"/>
                </a:lnTo>
                <a:lnTo>
                  <a:pt x="1652" y="307886"/>
                </a:lnTo>
                <a:lnTo>
                  <a:pt x="991" y="306298"/>
                </a:lnTo>
                <a:lnTo>
                  <a:pt x="332" y="304698"/>
                </a:lnTo>
                <a:lnTo>
                  <a:pt x="0" y="303034"/>
                </a:lnTo>
                <a:lnTo>
                  <a:pt x="0" y="301307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5309" y="626237"/>
            <a:ext cx="51054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85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1100" spc="-155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FFFFF0"/>
                </a:solidFill>
                <a:latin typeface="Verdana"/>
                <a:cs typeface="Verdana"/>
              </a:rPr>
              <a:t>2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19224" y="919797"/>
            <a:ext cx="276987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235" dirty="0"/>
              <a:t>Introduction</a:t>
            </a:r>
            <a:endParaRPr sz="3650"/>
          </a:p>
        </p:txBody>
      </p:sp>
      <p:grpSp>
        <p:nvGrpSpPr>
          <p:cNvPr id="6" name="object 6"/>
          <p:cNvGrpSpPr/>
          <p:nvPr/>
        </p:nvGrpSpPr>
        <p:grpSpPr>
          <a:xfrm>
            <a:off x="609600" y="1809750"/>
            <a:ext cx="6381750" cy="990600"/>
            <a:chOff x="609600" y="1809750"/>
            <a:chExt cx="6381750" cy="990600"/>
          </a:xfrm>
        </p:grpSpPr>
        <p:sp>
          <p:nvSpPr>
            <p:cNvPr id="7" name="object 7"/>
            <p:cNvSpPr/>
            <p:nvPr/>
          </p:nvSpPr>
          <p:spPr>
            <a:xfrm>
              <a:off x="628650" y="1819275"/>
              <a:ext cx="6353175" cy="971550"/>
            </a:xfrm>
            <a:custGeom>
              <a:avLst/>
              <a:gdLst/>
              <a:ahLst/>
              <a:cxnLst/>
              <a:rect l="l" t="t" r="r" b="b"/>
              <a:pathLst>
                <a:path w="6353175" h="971550">
                  <a:moveTo>
                    <a:pt x="6342164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904875"/>
                  </a:lnTo>
                  <a:lnTo>
                    <a:pt x="0" y="909256"/>
                  </a:lnTo>
                  <a:lnTo>
                    <a:pt x="15622" y="945553"/>
                  </a:lnTo>
                  <a:lnTo>
                    <a:pt x="51663" y="968146"/>
                  </a:lnTo>
                  <a:lnTo>
                    <a:pt x="71194" y="971550"/>
                  </a:lnTo>
                  <a:lnTo>
                    <a:pt x="6342164" y="971550"/>
                  </a:lnTo>
                  <a:lnTo>
                    <a:pt x="6353175" y="960539"/>
                  </a:lnTo>
                  <a:lnTo>
                    <a:pt x="6353175" y="11010"/>
                  </a:lnTo>
                  <a:lnTo>
                    <a:pt x="6343789" y="317"/>
                  </a:lnTo>
                  <a:lnTo>
                    <a:pt x="6342164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600" y="1809749"/>
              <a:ext cx="6381750" cy="991235"/>
            </a:xfrm>
            <a:custGeom>
              <a:avLst/>
              <a:gdLst/>
              <a:ahLst/>
              <a:cxnLst/>
              <a:rect l="l" t="t" r="r" b="b"/>
              <a:pathLst>
                <a:path w="6381750" h="991235">
                  <a:moveTo>
                    <a:pt x="6381737" y="16090"/>
                  </a:moveTo>
                  <a:lnTo>
                    <a:pt x="6379565" y="10858"/>
                  </a:lnTo>
                  <a:lnTo>
                    <a:pt x="6375705" y="6997"/>
                  </a:lnTo>
                  <a:lnTo>
                    <a:pt x="6375235" y="6515"/>
                  </a:lnTo>
                  <a:lnTo>
                    <a:pt x="6370891" y="2184"/>
                  </a:lnTo>
                  <a:lnTo>
                    <a:pt x="6365659" y="12"/>
                  </a:lnTo>
                  <a:lnTo>
                    <a:pt x="6362687" y="12"/>
                  </a:lnTo>
                  <a:lnTo>
                    <a:pt x="6362687" y="20142"/>
                  </a:lnTo>
                  <a:lnTo>
                    <a:pt x="6362687" y="970508"/>
                  </a:lnTo>
                  <a:lnTo>
                    <a:pt x="6362166" y="971029"/>
                  </a:lnTo>
                  <a:lnTo>
                    <a:pt x="6361633" y="971562"/>
                  </a:lnTo>
                  <a:lnTo>
                    <a:pt x="95237" y="971562"/>
                  </a:lnTo>
                  <a:lnTo>
                    <a:pt x="87731" y="971283"/>
                  </a:lnTo>
                  <a:lnTo>
                    <a:pt x="81140" y="970559"/>
                  </a:lnTo>
                  <a:lnTo>
                    <a:pt x="80949" y="970559"/>
                  </a:lnTo>
                  <a:lnTo>
                    <a:pt x="76200" y="969683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6361633" y="19062"/>
                  </a:lnTo>
                  <a:lnTo>
                    <a:pt x="6362624" y="20078"/>
                  </a:lnTo>
                  <a:lnTo>
                    <a:pt x="6362687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19265" y="0"/>
                  </a:lnTo>
                  <a:lnTo>
                    <a:pt x="16433" y="571"/>
                  </a:lnTo>
                  <a:lnTo>
                    <a:pt x="0" y="19265"/>
                  </a:lnTo>
                  <a:lnTo>
                    <a:pt x="0" y="968387"/>
                  </a:lnTo>
                  <a:lnTo>
                    <a:pt x="0" y="971334"/>
                  </a:lnTo>
                  <a:lnTo>
                    <a:pt x="19265" y="990600"/>
                  </a:lnTo>
                  <a:lnTo>
                    <a:pt x="76200" y="990600"/>
                  </a:lnTo>
                  <a:lnTo>
                    <a:pt x="76200" y="988110"/>
                  </a:lnTo>
                  <a:lnTo>
                    <a:pt x="80378" y="989152"/>
                  </a:lnTo>
                  <a:lnTo>
                    <a:pt x="87731" y="990244"/>
                  </a:lnTo>
                  <a:lnTo>
                    <a:pt x="95237" y="990612"/>
                  </a:lnTo>
                  <a:lnTo>
                    <a:pt x="6365659" y="990612"/>
                  </a:lnTo>
                  <a:lnTo>
                    <a:pt x="6370891" y="988441"/>
                  </a:lnTo>
                  <a:lnTo>
                    <a:pt x="6375235" y="984097"/>
                  </a:lnTo>
                  <a:lnTo>
                    <a:pt x="6375705" y="983627"/>
                  </a:lnTo>
                  <a:lnTo>
                    <a:pt x="6379565" y="979766"/>
                  </a:lnTo>
                  <a:lnTo>
                    <a:pt x="6381737" y="974534"/>
                  </a:lnTo>
                  <a:lnTo>
                    <a:pt x="6381737" y="1609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72657" y="1972786"/>
            <a:ext cx="5387340" cy="612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135" dirty="0">
                <a:solidFill>
                  <a:srgbClr val="D8D5CE"/>
                </a:solidFill>
                <a:latin typeface="Calibri"/>
                <a:cs typeface="Calibri"/>
              </a:rPr>
              <a:t>What</a:t>
            </a:r>
            <a:r>
              <a:rPr sz="1850" spc="-5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105" dirty="0">
                <a:solidFill>
                  <a:srgbClr val="D8D5CE"/>
                </a:solidFill>
                <a:latin typeface="Calibri"/>
                <a:cs typeface="Calibri"/>
              </a:rPr>
              <a:t>is</a:t>
            </a:r>
            <a:r>
              <a:rPr sz="1850" spc="-5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75" dirty="0">
                <a:solidFill>
                  <a:srgbClr val="D8D5CE"/>
                </a:solidFill>
                <a:latin typeface="Calibri"/>
                <a:cs typeface="Calibri"/>
              </a:rPr>
              <a:t>Authentication?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Authentication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D8D5CE"/>
                </a:solidFill>
                <a:latin typeface="Verdana"/>
                <a:cs typeface="Verdana"/>
              </a:rPr>
              <a:t>process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D8D5CE"/>
                </a:solidFill>
                <a:latin typeface="Verdana"/>
                <a:cs typeface="Verdana"/>
              </a:rPr>
              <a:t>of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D8D5CE"/>
                </a:solidFill>
                <a:latin typeface="Verdana"/>
                <a:cs typeface="Verdana"/>
              </a:rPr>
              <a:t>verifying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D8D5CE"/>
                </a:solidFill>
                <a:latin typeface="Arial Black"/>
                <a:cs typeface="Arial Black"/>
              </a:rPr>
              <a:t>who</a:t>
            </a:r>
            <a:r>
              <a:rPr sz="1100" spc="-17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75" dirty="0">
                <a:solidFill>
                  <a:srgbClr val="D8D5CE"/>
                </a:solidFill>
                <a:latin typeface="Arial Black"/>
                <a:cs typeface="Arial Black"/>
              </a:rPr>
              <a:t>you</a:t>
            </a:r>
            <a:r>
              <a:rPr sz="1100" spc="-16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D8D5CE"/>
                </a:solidFill>
                <a:latin typeface="Arial Black"/>
                <a:cs typeface="Arial Black"/>
              </a:rPr>
              <a:t>are</a:t>
            </a:r>
            <a:r>
              <a:rPr sz="1100" spc="-14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D8D5CE"/>
                </a:solidFill>
                <a:latin typeface="Verdana"/>
                <a:cs typeface="Verdana"/>
              </a:rPr>
              <a:t>before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D8D5CE"/>
                </a:solidFill>
                <a:latin typeface="Verdana"/>
                <a:cs typeface="Verdana"/>
              </a:rPr>
              <a:t>giving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D8D5CE"/>
                </a:solidFill>
                <a:latin typeface="Verdana"/>
                <a:cs typeface="Verdana"/>
              </a:rPr>
              <a:t>access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1100" spc="-1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D8D5CE"/>
                </a:solidFill>
                <a:latin typeface="Verdana"/>
                <a:cs typeface="Verdana"/>
              </a:rPr>
              <a:t>system.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600" y="2971800"/>
            <a:ext cx="6381750" cy="990600"/>
            <a:chOff x="609600" y="2971800"/>
            <a:chExt cx="6381750" cy="990600"/>
          </a:xfrm>
        </p:grpSpPr>
        <p:sp>
          <p:nvSpPr>
            <p:cNvPr id="11" name="object 11"/>
            <p:cNvSpPr/>
            <p:nvPr/>
          </p:nvSpPr>
          <p:spPr>
            <a:xfrm>
              <a:off x="628650" y="2981325"/>
              <a:ext cx="6353175" cy="971550"/>
            </a:xfrm>
            <a:custGeom>
              <a:avLst/>
              <a:gdLst/>
              <a:ahLst/>
              <a:cxnLst/>
              <a:rect l="l" t="t" r="r" b="b"/>
              <a:pathLst>
                <a:path w="6353175" h="971550">
                  <a:moveTo>
                    <a:pt x="6342164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904875"/>
                  </a:lnTo>
                  <a:lnTo>
                    <a:pt x="0" y="909256"/>
                  </a:lnTo>
                  <a:lnTo>
                    <a:pt x="15622" y="945565"/>
                  </a:lnTo>
                  <a:lnTo>
                    <a:pt x="51663" y="968146"/>
                  </a:lnTo>
                  <a:lnTo>
                    <a:pt x="71194" y="971550"/>
                  </a:lnTo>
                  <a:lnTo>
                    <a:pt x="6342164" y="971550"/>
                  </a:lnTo>
                  <a:lnTo>
                    <a:pt x="6353175" y="960539"/>
                  </a:lnTo>
                  <a:lnTo>
                    <a:pt x="6353175" y="11010"/>
                  </a:lnTo>
                  <a:lnTo>
                    <a:pt x="6343789" y="317"/>
                  </a:lnTo>
                  <a:lnTo>
                    <a:pt x="6342164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00" y="2971799"/>
              <a:ext cx="6381750" cy="991235"/>
            </a:xfrm>
            <a:custGeom>
              <a:avLst/>
              <a:gdLst/>
              <a:ahLst/>
              <a:cxnLst/>
              <a:rect l="l" t="t" r="r" b="b"/>
              <a:pathLst>
                <a:path w="6381750" h="991235">
                  <a:moveTo>
                    <a:pt x="6381737" y="16090"/>
                  </a:moveTo>
                  <a:lnTo>
                    <a:pt x="6379565" y="10858"/>
                  </a:lnTo>
                  <a:lnTo>
                    <a:pt x="6375705" y="6997"/>
                  </a:lnTo>
                  <a:lnTo>
                    <a:pt x="6375235" y="6515"/>
                  </a:lnTo>
                  <a:lnTo>
                    <a:pt x="6370891" y="2184"/>
                  </a:lnTo>
                  <a:lnTo>
                    <a:pt x="6365659" y="12"/>
                  </a:lnTo>
                  <a:lnTo>
                    <a:pt x="6362687" y="12"/>
                  </a:lnTo>
                  <a:lnTo>
                    <a:pt x="6362687" y="20142"/>
                  </a:lnTo>
                  <a:lnTo>
                    <a:pt x="6362687" y="970508"/>
                  </a:lnTo>
                  <a:lnTo>
                    <a:pt x="6362166" y="971029"/>
                  </a:lnTo>
                  <a:lnTo>
                    <a:pt x="6361633" y="971562"/>
                  </a:lnTo>
                  <a:lnTo>
                    <a:pt x="95237" y="971562"/>
                  </a:lnTo>
                  <a:lnTo>
                    <a:pt x="87731" y="971283"/>
                  </a:lnTo>
                  <a:lnTo>
                    <a:pt x="81140" y="970559"/>
                  </a:lnTo>
                  <a:lnTo>
                    <a:pt x="80949" y="970559"/>
                  </a:lnTo>
                  <a:lnTo>
                    <a:pt x="76200" y="969683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6361633" y="19062"/>
                  </a:lnTo>
                  <a:lnTo>
                    <a:pt x="6362624" y="20078"/>
                  </a:lnTo>
                  <a:lnTo>
                    <a:pt x="6362687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19265" y="0"/>
                  </a:lnTo>
                  <a:lnTo>
                    <a:pt x="16433" y="571"/>
                  </a:lnTo>
                  <a:lnTo>
                    <a:pt x="0" y="19265"/>
                  </a:lnTo>
                  <a:lnTo>
                    <a:pt x="0" y="968400"/>
                  </a:lnTo>
                  <a:lnTo>
                    <a:pt x="0" y="971334"/>
                  </a:lnTo>
                  <a:lnTo>
                    <a:pt x="19265" y="990600"/>
                  </a:lnTo>
                  <a:lnTo>
                    <a:pt x="76200" y="990600"/>
                  </a:lnTo>
                  <a:lnTo>
                    <a:pt x="76200" y="988110"/>
                  </a:lnTo>
                  <a:lnTo>
                    <a:pt x="80378" y="989152"/>
                  </a:lnTo>
                  <a:lnTo>
                    <a:pt x="87731" y="990244"/>
                  </a:lnTo>
                  <a:lnTo>
                    <a:pt x="95237" y="990612"/>
                  </a:lnTo>
                  <a:lnTo>
                    <a:pt x="6365659" y="990612"/>
                  </a:lnTo>
                  <a:lnTo>
                    <a:pt x="6370891" y="988441"/>
                  </a:lnTo>
                  <a:lnTo>
                    <a:pt x="6375235" y="984097"/>
                  </a:lnTo>
                  <a:lnTo>
                    <a:pt x="6375705" y="983627"/>
                  </a:lnTo>
                  <a:lnTo>
                    <a:pt x="6379565" y="979766"/>
                  </a:lnTo>
                  <a:lnTo>
                    <a:pt x="6381737" y="974534"/>
                  </a:lnTo>
                  <a:lnTo>
                    <a:pt x="6381737" y="16090"/>
                  </a:lnTo>
                  <a:close/>
                </a:path>
              </a:pathLst>
            </a:custGeom>
            <a:solidFill>
              <a:srgbClr val="C9B7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72657" y="3134836"/>
            <a:ext cx="5249545" cy="621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185" dirty="0">
                <a:solidFill>
                  <a:srgbClr val="D8D5CE"/>
                </a:solidFill>
                <a:latin typeface="Calibri"/>
                <a:cs typeface="Calibri"/>
              </a:rPr>
              <a:t>Why</a:t>
            </a:r>
            <a:r>
              <a:rPr sz="1850" spc="-4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165" dirty="0">
                <a:solidFill>
                  <a:srgbClr val="D8D5CE"/>
                </a:solidFill>
                <a:latin typeface="Calibri"/>
                <a:cs typeface="Calibri"/>
              </a:rPr>
              <a:t>Login</a:t>
            </a:r>
            <a:r>
              <a:rPr sz="1850" spc="-4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125" dirty="0">
                <a:solidFill>
                  <a:srgbClr val="D8D5CE"/>
                </a:solidFill>
                <a:latin typeface="Calibri"/>
                <a:cs typeface="Calibri"/>
              </a:rPr>
              <a:t>Security</a:t>
            </a:r>
            <a:r>
              <a:rPr sz="1850" spc="-4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70" dirty="0">
                <a:solidFill>
                  <a:srgbClr val="D8D5CE"/>
                </a:solidFill>
                <a:latin typeface="Calibri"/>
                <a:cs typeface="Calibri"/>
              </a:rPr>
              <a:t>Matters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100" spc="-70" dirty="0">
                <a:solidFill>
                  <a:srgbClr val="D8D5CE"/>
                </a:solidFill>
                <a:latin typeface="Verdana"/>
                <a:cs typeface="Verdana"/>
              </a:rPr>
              <a:t>Weak</a:t>
            </a:r>
            <a:r>
              <a:rPr sz="1100" spc="-1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D8D5CE"/>
                </a:solidFill>
                <a:latin typeface="Verdana"/>
                <a:cs typeface="Verdana"/>
              </a:rPr>
              <a:t>login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D8D5CE"/>
                </a:solidFill>
                <a:latin typeface="Verdana"/>
                <a:cs typeface="Verdana"/>
              </a:rPr>
              <a:t>systems</a:t>
            </a:r>
            <a:r>
              <a:rPr sz="1100" spc="-1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D8D5CE"/>
                </a:solidFill>
                <a:latin typeface="Verdana"/>
                <a:cs typeface="Verdana"/>
              </a:rPr>
              <a:t>can</a:t>
            </a:r>
            <a:r>
              <a:rPr sz="1100" spc="-1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lead</a:t>
            </a:r>
            <a:r>
              <a:rPr sz="1100" spc="-1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D8D5CE"/>
                </a:solidFill>
                <a:latin typeface="Arial Black"/>
                <a:cs typeface="Arial Black"/>
              </a:rPr>
              <a:t>data</a:t>
            </a:r>
            <a:r>
              <a:rPr sz="1100" spc="-15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D8D5CE"/>
                </a:solidFill>
                <a:latin typeface="Arial Black"/>
                <a:cs typeface="Arial Black"/>
              </a:rPr>
              <a:t>theft,</a:t>
            </a:r>
            <a:r>
              <a:rPr sz="1100" spc="-15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D8D5CE"/>
                </a:solidFill>
                <a:latin typeface="Arial Black"/>
                <a:cs typeface="Arial Black"/>
              </a:rPr>
              <a:t>account</a:t>
            </a:r>
            <a:r>
              <a:rPr sz="1100" spc="-15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95" dirty="0">
                <a:solidFill>
                  <a:srgbClr val="D8D5CE"/>
                </a:solidFill>
                <a:latin typeface="Arial Black"/>
                <a:cs typeface="Arial Black"/>
              </a:rPr>
              <a:t>hacking,</a:t>
            </a:r>
            <a:r>
              <a:rPr sz="1100" spc="-12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45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1100" spc="-1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D8D5CE"/>
                </a:solidFill>
                <a:latin typeface="Verdana"/>
                <a:cs typeface="Verdana"/>
              </a:rPr>
              <a:t>privacy</a:t>
            </a:r>
            <a:r>
              <a:rPr sz="1100" spc="-1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D8D5CE"/>
                </a:solidFill>
                <a:latin typeface="Verdana"/>
                <a:cs typeface="Verdana"/>
              </a:rPr>
              <a:t>breaches.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9600" y="4133850"/>
            <a:ext cx="6381750" cy="990600"/>
            <a:chOff x="609600" y="4133850"/>
            <a:chExt cx="6381750" cy="990600"/>
          </a:xfrm>
        </p:grpSpPr>
        <p:sp>
          <p:nvSpPr>
            <p:cNvPr id="15" name="object 15"/>
            <p:cNvSpPr/>
            <p:nvPr/>
          </p:nvSpPr>
          <p:spPr>
            <a:xfrm>
              <a:off x="628650" y="4143375"/>
              <a:ext cx="6353175" cy="971550"/>
            </a:xfrm>
            <a:custGeom>
              <a:avLst/>
              <a:gdLst/>
              <a:ahLst/>
              <a:cxnLst/>
              <a:rect l="l" t="t" r="r" b="b"/>
              <a:pathLst>
                <a:path w="6353175" h="971550">
                  <a:moveTo>
                    <a:pt x="6342164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904875"/>
                  </a:lnTo>
                  <a:lnTo>
                    <a:pt x="0" y="909256"/>
                  </a:lnTo>
                  <a:lnTo>
                    <a:pt x="15622" y="945553"/>
                  </a:lnTo>
                  <a:lnTo>
                    <a:pt x="51663" y="968146"/>
                  </a:lnTo>
                  <a:lnTo>
                    <a:pt x="71194" y="971550"/>
                  </a:lnTo>
                  <a:lnTo>
                    <a:pt x="6342164" y="971550"/>
                  </a:lnTo>
                  <a:lnTo>
                    <a:pt x="6353175" y="960539"/>
                  </a:lnTo>
                  <a:lnTo>
                    <a:pt x="6353175" y="11010"/>
                  </a:lnTo>
                  <a:lnTo>
                    <a:pt x="6343789" y="317"/>
                  </a:lnTo>
                  <a:lnTo>
                    <a:pt x="6342164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600" y="4133849"/>
              <a:ext cx="6381750" cy="991235"/>
            </a:xfrm>
            <a:custGeom>
              <a:avLst/>
              <a:gdLst/>
              <a:ahLst/>
              <a:cxnLst/>
              <a:rect l="l" t="t" r="r" b="b"/>
              <a:pathLst>
                <a:path w="6381750" h="991235">
                  <a:moveTo>
                    <a:pt x="6381737" y="16090"/>
                  </a:moveTo>
                  <a:lnTo>
                    <a:pt x="6379565" y="10858"/>
                  </a:lnTo>
                  <a:lnTo>
                    <a:pt x="6375705" y="6997"/>
                  </a:lnTo>
                  <a:lnTo>
                    <a:pt x="6375235" y="6515"/>
                  </a:lnTo>
                  <a:lnTo>
                    <a:pt x="6370891" y="2184"/>
                  </a:lnTo>
                  <a:lnTo>
                    <a:pt x="6365659" y="12"/>
                  </a:lnTo>
                  <a:lnTo>
                    <a:pt x="6362687" y="12"/>
                  </a:lnTo>
                  <a:lnTo>
                    <a:pt x="6362687" y="20142"/>
                  </a:lnTo>
                  <a:lnTo>
                    <a:pt x="6362687" y="970508"/>
                  </a:lnTo>
                  <a:lnTo>
                    <a:pt x="6362166" y="971029"/>
                  </a:lnTo>
                  <a:lnTo>
                    <a:pt x="6361633" y="971562"/>
                  </a:lnTo>
                  <a:lnTo>
                    <a:pt x="95237" y="971562"/>
                  </a:lnTo>
                  <a:lnTo>
                    <a:pt x="87731" y="971283"/>
                  </a:lnTo>
                  <a:lnTo>
                    <a:pt x="81140" y="970559"/>
                  </a:lnTo>
                  <a:lnTo>
                    <a:pt x="80949" y="970559"/>
                  </a:lnTo>
                  <a:lnTo>
                    <a:pt x="76200" y="969683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6361633" y="19062"/>
                  </a:lnTo>
                  <a:lnTo>
                    <a:pt x="6362624" y="20078"/>
                  </a:lnTo>
                  <a:lnTo>
                    <a:pt x="6362687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19265" y="0"/>
                  </a:lnTo>
                  <a:lnTo>
                    <a:pt x="16433" y="571"/>
                  </a:lnTo>
                  <a:lnTo>
                    <a:pt x="0" y="19265"/>
                  </a:lnTo>
                  <a:lnTo>
                    <a:pt x="0" y="968387"/>
                  </a:lnTo>
                  <a:lnTo>
                    <a:pt x="0" y="971321"/>
                  </a:lnTo>
                  <a:lnTo>
                    <a:pt x="19265" y="990600"/>
                  </a:lnTo>
                  <a:lnTo>
                    <a:pt x="76200" y="990600"/>
                  </a:lnTo>
                  <a:lnTo>
                    <a:pt x="76200" y="988110"/>
                  </a:lnTo>
                  <a:lnTo>
                    <a:pt x="80378" y="989152"/>
                  </a:lnTo>
                  <a:lnTo>
                    <a:pt x="87731" y="990244"/>
                  </a:lnTo>
                  <a:lnTo>
                    <a:pt x="95237" y="990612"/>
                  </a:lnTo>
                  <a:lnTo>
                    <a:pt x="6365659" y="990612"/>
                  </a:lnTo>
                  <a:lnTo>
                    <a:pt x="6370891" y="988441"/>
                  </a:lnTo>
                  <a:lnTo>
                    <a:pt x="6375235" y="984097"/>
                  </a:lnTo>
                  <a:lnTo>
                    <a:pt x="6375705" y="983627"/>
                  </a:lnTo>
                  <a:lnTo>
                    <a:pt x="6379565" y="979766"/>
                  </a:lnTo>
                  <a:lnTo>
                    <a:pt x="6381737" y="974534"/>
                  </a:lnTo>
                  <a:lnTo>
                    <a:pt x="6381737" y="16090"/>
                  </a:lnTo>
                  <a:close/>
                </a:path>
              </a:pathLst>
            </a:custGeom>
            <a:solidFill>
              <a:srgbClr val="D8D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72657" y="4296886"/>
            <a:ext cx="5835650" cy="621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135" dirty="0">
                <a:solidFill>
                  <a:srgbClr val="D8D5CE"/>
                </a:solidFill>
                <a:latin typeface="Calibri"/>
                <a:cs typeface="Calibri"/>
              </a:rPr>
              <a:t>What</a:t>
            </a:r>
            <a:r>
              <a:rPr sz="1850" spc="-3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105" dirty="0">
                <a:solidFill>
                  <a:srgbClr val="D8D5CE"/>
                </a:solidFill>
                <a:latin typeface="Calibri"/>
                <a:cs typeface="Calibri"/>
              </a:rPr>
              <a:t>is</a:t>
            </a:r>
            <a:r>
              <a:rPr sz="1850" spc="-3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114" dirty="0">
                <a:solidFill>
                  <a:srgbClr val="D8D5CE"/>
                </a:solidFill>
                <a:latin typeface="Calibri"/>
                <a:cs typeface="Calibri"/>
              </a:rPr>
              <a:t>Two-Factor</a:t>
            </a:r>
            <a:r>
              <a:rPr sz="1850" spc="-4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85" dirty="0">
                <a:solidFill>
                  <a:srgbClr val="D8D5CE"/>
                </a:solidFill>
                <a:latin typeface="Calibri"/>
                <a:cs typeface="Calibri"/>
              </a:rPr>
              <a:t>Authentication</a:t>
            </a:r>
            <a:r>
              <a:rPr sz="185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110" dirty="0">
                <a:solidFill>
                  <a:srgbClr val="D8D5CE"/>
                </a:solidFill>
                <a:latin typeface="Calibri"/>
                <a:cs typeface="Calibri"/>
              </a:rPr>
              <a:t>(2FA)?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100" spc="-65" dirty="0">
                <a:solidFill>
                  <a:srgbClr val="D8D5CE"/>
                </a:solidFill>
                <a:latin typeface="Verdana"/>
                <a:cs typeface="Verdana"/>
              </a:rPr>
              <a:t>2FA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D8D5CE"/>
                </a:solidFill>
                <a:latin typeface="Verdana"/>
                <a:cs typeface="Verdana"/>
              </a:rPr>
              <a:t>adds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D8D5CE"/>
                </a:solidFill>
                <a:latin typeface="Arial Black"/>
                <a:cs typeface="Arial Black"/>
              </a:rPr>
              <a:t>second</a:t>
            </a:r>
            <a:r>
              <a:rPr sz="1100" spc="-16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D8D5CE"/>
                </a:solidFill>
                <a:latin typeface="Arial Black"/>
                <a:cs typeface="Arial Black"/>
              </a:rPr>
              <a:t>verification</a:t>
            </a:r>
            <a:r>
              <a:rPr sz="1100" spc="-16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95" dirty="0">
                <a:solidFill>
                  <a:srgbClr val="D8D5CE"/>
                </a:solidFill>
                <a:latin typeface="Arial Black"/>
                <a:cs typeface="Arial Black"/>
              </a:rPr>
              <a:t>step</a:t>
            </a:r>
            <a:r>
              <a:rPr sz="1100" spc="-13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D8D5CE"/>
                </a:solidFill>
                <a:latin typeface="Verdana"/>
                <a:cs typeface="Verdana"/>
              </a:rPr>
              <a:t>after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D8D5CE"/>
                </a:solidFill>
                <a:latin typeface="Verdana"/>
                <a:cs typeface="Verdana"/>
              </a:rPr>
              <a:t>your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D8D5CE"/>
                </a:solidFill>
                <a:latin typeface="Verdana"/>
                <a:cs typeface="Verdana"/>
              </a:rPr>
              <a:t>password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D8D5CE"/>
                </a:solidFill>
                <a:latin typeface="Verdana"/>
                <a:cs typeface="Verdana"/>
              </a:rPr>
              <a:t>4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making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D8D5CE"/>
                </a:solidFill>
                <a:latin typeface="Verdana"/>
                <a:cs typeface="Verdana"/>
              </a:rPr>
              <a:t>it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D8D5CE"/>
                </a:solidFill>
                <a:latin typeface="Verdana"/>
                <a:cs typeface="Verdana"/>
              </a:rPr>
              <a:t>much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D8D5CE"/>
                </a:solidFill>
                <a:latin typeface="Verdana"/>
                <a:cs typeface="Verdana"/>
              </a:rPr>
              <a:t>harder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D8D5CE"/>
                </a:solidFill>
                <a:latin typeface="Verdana"/>
                <a:cs typeface="Verdana"/>
              </a:rPr>
              <a:t>break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D8D5CE"/>
                </a:solidFill>
                <a:latin typeface="Verdana"/>
                <a:cs typeface="Verdana"/>
              </a:rPr>
              <a:t>in.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9600" y="5295900"/>
            <a:ext cx="6381750" cy="990600"/>
            <a:chOff x="609600" y="5295900"/>
            <a:chExt cx="6381750" cy="990600"/>
          </a:xfrm>
        </p:grpSpPr>
        <p:sp>
          <p:nvSpPr>
            <p:cNvPr id="19" name="object 19"/>
            <p:cNvSpPr/>
            <p:nvPr/>
          </p:nvSpPr>
          <p:spPr>
            <a:xfrm>
              <a:off x="628650" y="5305425"/>
              <a:ext cx="6353175" cy="971550"/>
            </a:xfrm>
            <a:custGeom>
              <a:avLst/>
              <a:gdLst/>
              <a:ahLst/>
              <a:cxnLst/>
              <a:rect l="l" t="t" r="r" b="b"/>
              <a:pathLst>
                <a:path w="6353175" h="971550">
                  <a:moveTo>
                    <a:pt x="6342164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904875"/>
                  </a:lnTo>
                  <a:lnTo>
                    <a:pt x="0" y="909250"/>
                  </a:lnTo>
                  <a:lnTo>
                    <a:pt x="15622" y="945554"/>
                  </a:lnTo>
                  <a:lnTo>
                    <a:pt x="51663" y="968151"/>
                  </a:lnTo>
                  <a:lnTo>
                    <a:pt x="71194" y="971550"/>
                  </a:lnTo>
                  <a:lnTo>
                    <a:pt x="6342164" y="971550"/>
                  </a:lnTo>
                  <a:lnTo>
                    <a:pt x="6353175" y="960541"/>
                  </a:lnTo>
                  <a:lnTo>
                    <a:pt x="6353175" y="11010"/>
                  </a:lnTo>
                  <a:lnTo>
                    <a:pt x="6343789" y="317"/>
                  </a:lnTo>
                  <a:lnTo>
                    <a:pt x="6342164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600" y="5295899"/>
              <a:ext cx="6381750" cy="991235"/>
            </a:xfrm>
            <a:custGeom>
              <a:avLst/>
              <a:gdLst/>
              <a:ahLst/>
              <a:cxnLst/>
              <a:rect l="l" t="t" r="r" b="b"/>
              <a:pathLst>
                <a:path w="6381750" h="991235">
                  <a:moveTo>
                    <a:pt x="6381737" y="16090"/>
                  </a:moveTo>
                  <a:lnTo>
                    <a:pt x="6379565" y="10858"/>
                  </a:lnTo>
                  <a:lnTo>
                    <a:pt x="6375705" y="6997"/>
                  </a:lnTo>
                  <a:lnTo>
                    <a:pt x="6375235" y="6515"/>
                  </a:lnTo>
                  <a:lnTo>
                    <a:pt x="6370891" y="2184"/>
                  </a:lnTo>
                  <a:lnTo>
                    <a:pt x="6365659" y="12"/>
                  </a:lnTo>
                  <a:lnTo>
                    <a:pt x="6362687" y="12"/>
                  </a:lnTo>
                  <a:lnTo>
                    <a:pt x="6362687" y="20142"/>
                  </a:lnTo>
                  <a:lnTo>
                    <a:pt x="6362687" y="970495"/>
                  </a:lnTo>
                  <a:lnTo>
                    <a:pt x="6362166" y="971029"/>
                  </a:lnTo>
                  <a:lnTo>
                    <a:pt x="6361633" y="971562"/>
                  </a:lnTo>
                  <a:lnTo>
                    <a:pt x="95237" y="971562"/>
                  </a:lnTo>
                  <a:lnTo>
                    <a:pt x="87731" y="971283"/>
                  </a:lnTo>
                  <a:lnTo>
                    <a:pt x="81140" y="970546"/>
                  </a:lnTo>
                  <a:lnTo>
                    <a:pt x="80949" y="970546"/>
                  </a:lnTo>
                  <a:lnTo>
                    <a:pt x="76200" y="969683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6361633" y="19062"/>
                  </a:lnTo>
                  <a:lnTo>
                    <a:pt x="6362624" y="20078"/>
                  </a:lnTo>
                  <a:lnTo>
                    <a:pt x="6362687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19265" y="0"/>
                  </a:lnTo>
                  <a:lnTo>
                    <a:pt x="16433" y="558"/>
                  </a:lnTo>
                  <a:lnTo>
                    <a:pt x="0" y="19265"/>
                  </a:lnTo>
                  <a:lnTo>
                    <a:pt x="0" y="968387"/>
                  </a:lnTo>
                  <a:lnTo>
                    <a:pt x="0" y="971334"/>
                  </a:lnTo>
                  <a:lnTo>
                    <a:pt x="19265" y="990600"/>
                  </a:lnTo>
                  <a:lnTo>
                    <a:pt x="76200" y="990600"/>
                  </a:lnTo>
                  <a:lnTo>
                    <a:pt x="76200" y="988110"/>
                  </a:lnTo>
                  <a:lnTo>
                    <a:pt x="80378" y="989152"/>
                  </a:lnTo>
                  <a:lnTo>
                    <a:pt x="87731" y="990244"/>
                  </a:lnTo>
                  <a:lnTo>
                    <a:pt x="95237" y="990612"/>
                  </a:lnTo>
                  <a:lnTo>
                    <a:pt x="6365659" y="990612"/>
                  </a:lnTo>
                  <a:lnTo>
                    <a:pt x="6370891" y="988428"/>
                  </a:lnTo>
                  <a:lnTo>
                    <a:pt x="6375222" y="984097"/>
                  </a:lnTo>
                  <a:lnTo>
                    <a:pt x="6375705" y="983627"/>
                  </a:lnTo>
                  <a:lnTo>
                    <a:pt x="6379565" y="979766"/>
                  </a:lnTo>
                  <a:lnTo>
                    <a:pt x="6381737" y="974521"/>
                  </a:lnTo>
                  <a:lnTo>
                    <a:pt x="6381737" y="1609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73125" y="5458936"/>
            <a:ext cx="5154295" cy="621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85" dirty="0">
                <a:solidFill>
                  <a:srgbClr val="D8D5CE"/>
                </a:solidFill>
                <a:latin typeface="Calibri"/>
                <a:cs typeface="Calibri"/>
              </a:rPr>
              <a:t>Real-</a:t>
            </a:r>
            <a:r>
              <a:rPr sz="1850" spc="125" dirty="0">
                <a:solidFill>
                  <a:srgbClr val="D8D5CE"/>
                </a:solidFill>
                <a:latin typeface="Calibri"/>
                <a:cs typeface="Calibri"/>
              </a:rPr>
              <a:t>World</a:t>
            </a:r>
            <a:r>
              <a:rPr sz="18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850" spc="155" dirty="0">
                <a:solidFill>
                  <a:srgbClr val="D8D5CE"/>
                </a:solidFill>
                <a:latin typeface="Calibri"/>
                <a:cs typeface="Calibri"/>
              </a:rPr>
              <a:t>Examples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100" spc="-75" dirty="0">
                <a:solidFill>
                  <a:srgbClr val="D8D5CE"/>
                </a:solidFill>
                <a:latin typeface="Verdana"/>
                <a:cs typeface="Verdana"/>
              </a:rPr>
              <a:t>Gmail,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D8D5CE"/>
                </a:solidFill>
                <a:latin typeface="Verdana"/>
                <a:cs typeface="Verdana"/>
              </a:rPr>
              <a:t>banking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D8D5CE"/>
                </a:solidFill>
                <a:latin typeface="Verdana"/>
                <a:cs typeface="Verdana"/>
              </a:rPr>
              <a:t>apps,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UPI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D8D5CE"/>
                </a:solidFill>
                <a:latin typeface="Verdana"/>
                <a:cs typeface="Verdana"/>
              </a:rPr>
              <a:t>apps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all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D8D5CE"/>
                </a:solidFill>
                <a:latin typeface="Verdana"/>
                <a:cs typeface="Verdana"/>
              </a:rPr>
              <a:t>use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D8D5CE"/>
                </a:solidFill>
                <a:latin typeface="Verdana"/>
                <a:cs typeface="Verdana"/>
              </a:rPr>
              <a:t>2FA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1100" spc="-1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D8D5CE"/>
                </a:solidFill>
                <a:latin typeface="Verdana"/>
                <a:cs typeface="Verdana"/>
              </a:rPr>
              <a:t>protect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D8D5CE"/>
                </a:solidFill>
                <a:latin typeface="Verdana"/>
                <a:cs typeface="Verdana"/>
              </a:rPr>
              <a:t>your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D8D5CE"/>
                </a:solidFill>
                <a:latin typeface="Verdana"/>
                <a:cs typeface="Verdana"/>
              </a:rPr>
              <a:t>account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105" dirty="0">
                <a:solidFill>
                  <a:srgbClr val="D8D5CE"/>
                </a:solidFill>
                <a:latin typeface="Verdana"/>
                <a:cs typeface="Verdana"/>
              </a:rPr>
              <a:t>with</a:t>
            </a:r>
            <a:r>
              <a:rPr sz="1100" spc="-1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D8D5CE"/>
                </a:solidFill>
                <a:latin typeface="Verdana"/>
                <a:cs typeface="Verdana"/>
              </a:rPr>
              <a:t>an</a:t>
            </a:r>
            <a:r>
              <a:rPr sz="1100" spc="-1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D8D5CE"/>
                </a:solidFill>
                <a:latin typeface="Verdana"/>
                <a:cs typeface="Verdana"/>
              </a:rPr>
              <a:t>OTP.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22" name="object 22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67600" y="6357682"/>
            <a:ext cx="4724400" cy="500317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57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05412" y="652462"/>
            <a:ext cx="685800" cy="3048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0" y="292354"/>
                </a:moveTo>
                <a:lnTo>
                  <a:pt x="0" y="12446"/>
                </a:lnTo>
                <a:lnTo>
                  <a:pt x="0" y="9004"/>
                </a:lnTo>
                <a:lnTo>
                  <a:pt x="1219" y="6083"/>
                </a:lnTo>
                <a:lnTo>
                  <a:pt x="3644" y="3644"/>
                </a:lnTo>
                <a:lnTo>
                  <a:pt x="6083" y="1219"/>
                </a:lnTo>
                <a:lnTo>
                  <a:pt x="9004" y="0"/>
                </a:lnTo>
                <a:lnTo>
                  <a:pt x="12446" y="0"/>
                </a:lnTo>
                <a:lnTo>
                  <a:pt x="673354" y="0"/>
                </a:lnTo>
                <a:lnTo>
                  <a:pt x="676795" y="0"/>
                </a:lnTo>
                <a:lnTo>
                  <a:pt x="679716" y="1219"/>
                </a:lnTo>
                <a:lnTo>
                  <a:pt x="682155" y="3644"/>
                </a:lnTo>
                <a:lnTo>
                  <a:pt x="684580" y="6083"/>
                </a:lnTo>
                <a:lnTo>
                  <a:pt x="685800" y="9004"/>
                </a:lnTo>
                <a:lnTo>
                  <a:pt x="685800" y="12446"/>
                </a:lnTo>
                <a:lnTo>
                  <a:pt x="685800" y="292354"/>
                </a:lnTo>
                <a:lnTo>
                  <a:pt x="685800" y="295795"/>
                </a:lnTo>
                <a:lnTo>
                  <a:pt x="684580" y="298716"/>
                </a:lnTo>
                <a:lnTo>
                  <a:pt x="682155" y="301155"/>
                </a:lnTo>
                <a:lnTo>
                  <a:pt x="679716" y="303580"/>
                </a:lnTo>
                <a:lnTo>
                  <a:pt x="676795" y="304800"/>
                </a:lnTo>
                <a:lnTo>
                  <a:pt x="673354" y="304800"/>
                </a:lnTo>
                <a:lnTo>
                  <a:pt x="12446" y="304800"/>
                </a:lnTo>
                <a:lnTo>
                  <a:pt x="9004" y="304800"/>
                </a:lnTo>
                <a:lnTo>
                  <a:pt x="6083" y="303580"/>
                </a:lnTo>
                <a:lnTo>
                  <a:pt x="3644" y="301155"/>
                </a:lnTo>
                <a:lnTo>
                  <a:pt x="1219" y="298716"/>
                </a:lnTo>
                <a:lnTo>
                  <a:pt x="0" y="295795"/>
                </a:lnTo>
                <a:lnTo>
                  <a:pt x="0" y="292354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03888" y="706913"/>
            <a:ext cx="499109" cy="1911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70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1050" spc="-150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solidFill>
                  <a:srgbClr val="FFFFF0"/>
                </a:solidFill>
                <a:latin typeface="Verdana"/>
                <a:cs typeface="Verdana"/>
              </a:rPr>
              <a:t>3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584700">
              <a:lnSpc>
                <a:spcPct val="100000"/>
              </a:lnSpc>
              <a:spcBef>
                <a:spcPts val="114"/>
              </a:spcBef>
            </a:pPr>
            <a:r>
              <a:rPr sz="3550" spc="290" dirty="0"/>
              <a:t>Problem</a:t>
            </a:r>
            <a:r>
              <a:rPr sz="3550" spc="-75" dirty="0"/>
              <a:t> </a:t>
            </a:r>
            <a:r>
              <a:rPr sz="3550" spc="195" dirty="0"/>
              <a:t>Statement</a:t>
            </a:r>
            <a:endParaRPr sz="3550"/>
          </a:p>
        </p:txBody>
      </p:sp>
      <p:sp>
        <p:nvSpPr>
          <p:cNvPr id="6" name="object 6"/>
          <p:cNvSpPr/>
          <p:nvPr/>
        </p:nvSpPr>
        <p:spPr>
          <a:xfrm>
            <a:off x="5200650" y="2495550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868" y="0"/>
                </a:moveTo>
                <a:lnTo>
                  <a:pt x="18656" y="0"/>
                </a:lnTo>
                <a:lnTo>
                  <a:pt x="15913" y="546"/>
                </a:lnTo>
                <a:lnTo>
                  <a:pt x="0" y="18656"/>
                </a:lnTo>
                <a:lnTo>
                  <a:pt x="0" y="359486"/>
                </a:lnTo>
                <a:lnTo>
                  <a:pt x="0" y="362343"/>
                </a:lnTo>
                <a:lnTo>
                  <a:pt x="18656" y="381000"/>
                </a:lnTo>
                <a:lnTo>
                  <a:pt x="371868" y="381000"/>
                </a:lnTo>
                <a:lnTo>
                  <a:pt x="390525" y="362343"/>
                </a:lnTo>
                <a:lnTo>
                  <a:pt x="390525" y="18656"/>
                </a:lnTo>
                <a:lnTo>
                  <a:pt x="374611" y="546"/>
                </a:lnTo>
                <a:lnTo>
                  <a:pt x="371868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00650" y="363855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868" y="0"/>
                </a:moveTo>
                <a:lnTo>
                  <a:pt x="18656" y="0"/>
                </a:lnTo>
                <a:lnTo>
                  <a:pt x="15913" y="546"/>
                </a:lnTo>
                <a:lnTo>
                  <a:pt x="0" y="18656"/>
                </a:lnTo>
                <a:lnTo>
                  <a:pt x="0" y="369011"/>
                </a:lnTo>
                <a:lnTo>
                  <a:pt x="0" y="371868"/>
                </a:lnTo>
                <a:lnTo>
                  <a:pt x="18656" y="390525"/>
                </a:lnTo>
                <a:lnTo>
                  <a:pt x="371868" y="390525"/>
                </a:lnTo>
                <a:lnTo>
                  <a:pt x="390525" y="371868"/>
                </a:lnTo>
                <a:lnTo>
                  <a:pt x="390525" y="18656"/>
                </a:lnTo>
                <a:lnTo>
                  <a:pt x="374611" y="546"/>
                </a:lnTo>
                <a:lnTo>
                  <a:pt x="371868" y="0"/>
                </a:lnTo>
                <a:close/>
              </a:path>
            </a:pathLst>
          </a:custGeom>
          <a:solidFill>
            <a:srgbClr val="C9B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0650" y="459105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868" y="0"/>
                </a:moveTo>
                <a:lnTo>
                  <a:pt x="18656" y="0"/>
                </a:lnTo>
                <a:lnTo>
                  <a:pt x="15913" y="546"/>
                </a:lnTo>
                <a:lnTo>
                  <a:pt x="0" y="18656"/>
                </a:lnTo>
                <a:lnTo>
                  <a:pt x="0" y="369011"/>
                </a:lnTo>
                <a:lnTo>
                  <a:pt x="0" y="371868"/>
                </a:lnTo>
                <a:lnTo>
                  <a:pt x="18656" y="390525"/>
                </a:lnTo>
                <a:lnTo>
                  <a:pt x="371868" y="390525"/>
                </a:lnTo>
                <a:lnTo>
                  <a:pt x="390525" y="371868"/>
                </a:lnTo>
                <a:lnTo>
                  <a:pt x="390525" y="18656"/>
                </a:lnTo>
                <a:lnTo>
                  <a:pt x="374611" y="546"/>
                </a:lnTo>
                <a:lnTo>
                  <a:pt x="371868" y="0"/>
                </a:lnTo>
                <a:close/>
              </a:path>
            </a:pathLst>
          </a:custGeom>
          <a:solidFill>
            <a:srgbClr val="D8D5C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200650" y="5410200"/>
            <a:ext cx="6362700" cy="609600"/>
            <a:chOff x="5200650" y="5410200"/>
            <a:chExt cx="6362700" cy="609600"/>
          </a:xfrm>
        </p:grpSpPr>
        <p:sp>
          <p:nvSpPr>
            <p:cNvPr id="10" name="object 10"/>
            <p:cNvSpPr/>
            <p:nvPr/>
          </p:nvSpPr>
          <p:spPr>
            <a:xfrm>
              <a:off x="5200650" y="5410200"/>
              <a:ext cx="6362700" cy="609600"/>
            </a:xfrm>
            <a:custGeom>
              <a:avLst/>
              <a:gdLst/>
              <a:ahLst/>
              <a:cxnLst/>
              <a:rect l="l" t="t" r="r" b="b"/>
              <a:pathLst>
                <a:path w="6362700" h="609600">
                  <a:moveTo>
                    <a:pt x="6344043" y="0"/>
                  </a:moveTo>
                  <a:lnTo>
                    <a:pt x="18656" y="0"/>
                  </a:lnTo>
                  <a:lnTo>
                    <a:pt x="15913" y="546"/>
                  </a:lnTo>
                  <a:lnTo>
                    <a:pt x="0" y="18656"/>
                  </a:lnTo>
                  <a:lnTo>
                    <a:pt x="0" y="588088"/>
                  </a:lnTo>
                  <a:lnTo>
                    <a:pt x="0" y="590942"/>
                  </a:lnTo>
                  <a:lnTo>
                    <a:pt x="18656" y="609600"/>
                  </a:lnTo>
                  <a:lnTo>
                    <a:pt x="6344043" y="609600"/>
                  </a:lnTo>
                  <a:lnTo>
                    <a:pt x="6362700" y="590942"/>
                  </a:lnTo>
                  <a:lnTo>
                    <a:pt x="6362700" y="18656"/>
                  </a:lnTo>
                  <a:lnTo>
                    <a:pt x="6346786" y="546"/>
                  </a:lnTo>
                  <a:lnTo>
                    <a:pt x="6344043" y="0"/>
                  </a:lnTo>
                  <a:close/>
                </a:path>
              </a:pathLst>
            </a:custGeom>
            <a:solidFill>
              <a:srgbClr val="4B3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3601" y="5640025"/>
              <a:ext cx="172046" cy="15053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pc="-100" dirty="0"/>
              <a:t>Traditional</a:t>
            </a:r>
            <a:r>
              <a:rPr spc="-170" dirty="0"/>
              <a:t> </a:t>
            </a:r>
            <a:r>
              <a:rPr spc="-90" dirty="0"/>
              <a:t>username-</a:t>
            </a:r>
            <a:r>
              <a:rPr spc="-85" dirty="0"/>
              <a:t>password</a:t>
            </a:r>
            <a:r>
              <a:rPr spc="-165" dirty="0"/>
              <a:t> </a:t>
            </a:r>
            <a:r>
              <a:rPr spc="-80" dirty="0"/>
              <a:t>login</a:t>
            </a:r>
            <a:r>
              <a:rPr spc="-170" dirty="0"/>
              <a:t> </a:t>
            </a:r>
            <a:r>
              <a:rPr spc="-90" dirty="0"/>
              <a:t>systems</a:t>
            </a:r>
            <a:r>
              <a:rPr spc="-165" dirty="0"/>
              <a:t> </a:t>
            </a:r>
            <a:r>
              <a:rPr spc="-105" dirty="0"/>
              <a:t>are</a:t>
            </a:r>
            <a:r>
              <a:rPr spc="-170" dirty="0"/>
              <a:t> </a:t>
            </a:r>
            <a:r>
              <a:rPr spc="-55" dirty="0"/>
              <a:t>no</a:t>
            </a:r>
            <a:r>
              <a:rPr spc="-165" dirty="0"/>
              <a:t> </a:t>
            </a:r>
            <a:r>
              <a:rPr spc="-95" dirty="0"/>
              <a:t>longer</a:t>
            </a:r>
            <a:r>
              <a:rPr spc="-170" dirty="0"/>
              <a:t> </a:t>
            </a:r>
            <a:r>
              <a:rPr spc="-75" dirty="0"/>
              <a:t>safe</a:t>
            </a:r>
            <a:r>
              <a:rPr spc="-165" dirty="0"/>
              <a:t> </a:t>
            </a:r>
            <a:r>
              <a:rPr spc="-60" dirty="0"/>
              <a:t>on</a:t>
            </a:r>
            <a:r>
              <a:rPr spc="-170" dirty="0"/>
              <a:t> </a:t>
            </a:r>
            <a:r>
              <a:rPr spc="-110" dirty="0"/>
              <a:t>their</a:t>
            </a:r>
            <a:r>
              <a:rPr spc="-165" dirty="0"/>
              <a:t> </a:t>
            </a:r>
            <a:r>
              <a:rPr spc="-155" dirty="0"/>
              <a:t>own.</a:t>
            </a:r>
            <a:r>
              <a:rPr spc="-170" dirty="0"/>
              <a:t> </a:t>
            </a:r>
            <a:r>
              <a:rPr spc="-70" dirty="0"/>
              <a:t>Here's </a:t>
            </a:r>
            <a:r>
              <a:rPr spc="-20" dirty="0"/>
              <a:t>why:</a:t>
            </a: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pc="-20" dirty="0"/>
          </a:p>
          <a:p>
            <a:pPr marL="563245">
              <a:lnSpc>
                <a:spcPct val="100000"/>
              </a:lnSpc>
              <a:spcBef>
                <a:spcPts val="5"/>
              </a:spcBef>
            </a:pPr>
            <a:r>
              <a:rPr sz="1750" spc="140" dirty="0">
                <a:latin typeface="Calibri"/>
                <a:cs typeface="Calibri"/>
              </a:rPr>
              <a:t>Passwords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135" dirty="0">
                <a:latin typeface="Calibri"/>
                <a:cs typeface="Calibri"/>
              </a:rPr>
              <a:t>Alone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155" dirty="0">
                <a:latin typeface="Calibri"/>
                <a:cs typeface="Calibri"/>
              </a:rPr>
              <a:t>Are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135" dirty="0">
                <a:latin typeface="Calibri"/>
                <a:cs typeface="Calibri"/>
              </a:rPr>
              <a:t>Not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spc="170" dirty="0">
                <a:latin typeface="Calibri"/>
                <a:cs typeface="Calibri"/>
              </a:rPr>
              <a:t>Enough</a:t>
            </a:r>
            <a:endParaRPr sz="1750">
              <a:latin typeface="Calibri"/>
              <a:cs typeface="Calibri"/>
            </a:endParaRPr>
          </a:p>
          <a:p>
            <a:pPr marL="563245" marR="386715">
              <a:lnSpc>
                <a:spcPct val="119000"/>
              </a:lnSpc>
              <a:spcBef>
                <a:spcPts val="835"/>
              </a:spcBef>
            </a:pPr>
            <a:r>
              <a:rPr sz="1050" dirty="0"/>
              <a:t>A</a:t>
            </a:r>
            <a:r>
              <a:rPr sz="1050" spc="-140" dirty="0"/>
              <a:t> </a:t>
            </a:r>
            <a:r>
              <a:rPr sz="1050" spc="-65" dirty="0"/>
              <a:t>single</a:t>
            </a:r>
            <a:r>
              <a:rPr sz="1050" spc="-140" dirty="0"/>
              <a:t> </a:t>
            </a:r>
            <a:r>
              <a:rPr sz="1050" spc="-55" dirty="0"/>
              <a:t>password</a:t>
            </a:r>
            <a:r>
              <a:rPr sz="1050" spc="-140" dirty="0"/>
              <a:t> </a:t>
            </a:r>
            <a:r>
              <a:rPr sz="1050" spc="-55" dirty="0"/>
              <a:t>is</a:t>
            </a:r>
            <a:r>
              <a:rPr sz="1050" spc="-140" dirty="0"/>
              <a:t> </a:t>
            </a:r>
            <a:r>
              <a:rPr sz="1050" dirty="0"/>
              <a:t>a</a:t>
            </a:r>
            <a:r>
              <a:rPr sz="1050" spc="-135" dirty="0"/>
              <a:t> </a:t>
            </a:r>
            <a:r>
              <a:rPr sz="1050" spc="-80" dirty="0"/>
              <a:t>weak</a:t>
            </a:r>
            <a:r>
              <a:rPr sz="1050" spc="-140" dirty="0"/>
              <a:t> </a:t>
            </a:r>
            <a:r>
              <a:rPr sz="1050" spc="-70" dirty="0"/>
              <a:t>barrier</a:t>
            </a:r>
            <a:r>
              <a:rPr sz="1050" spc="-140" dirty="0"/>
              <a:t> </a:t>
            </a:r>
            <a:r>
              <a:rPr sz="1050" dirty="0"/>
              <a:t>4</a:t>
            </a:r>
            <a:r>
              <a:rPr sz="1050" spc="-140" dirty="0"/>
              <a:t> </a:t>
            </a:r>
            <a:r>
              <a:rPr sz="1050" spc="-90" dirty="0"/>
              <a:t>it's</a:t>
            </a:r>
            <a:r>
              <a:rPr sz="1050" spc="-135" dirty="0"/>
              <a:t> </a:t>
            </a:r>
            <a:r>
              <a:rPr sz="1050" spc="-65" dirty="0"/>
              <a:t>the</a:t>
            </a:r>
            <a:r>
              <a:rPr sz="1050" spc="-140" dirty="0"/>
              <a:t> </a:t>
            </a:r>
            <a:r>
              <a:rPr sz="1050" spc="-70" dirty="0"/>
              <a:t>only</a:t>
            </a:r>
            <a:r>
              <a:rPr sz="1050" spc="-140" dirty="0"/>
              <a:t> </a:t>
            </a:r>
            <a:r>
              <a:rPr sz="1050" spc="-65" dirty="0"/>
              <a:t>thing</a:t>
            </a:r>
            <a:r>
              <a:rPr sz="1050" spc="-140" dirty="0"/>
              <a:t> </a:t>
            </a:r>
            <a:r>
              <a:rPr sz="1050" spc="-55" dirty="0"/>
              <a:t>standing</a:t>
            </a:r>
            <a:r>
              <a:rPr sz="1050" spc="-140" dirty="0"/>
              <a:t> </a:t>
            </a:r>
            <a:r>
              <a:rPr sz="1050" spc="-80" dirty="0"/>
              <a:t>between</a:t>
            </a:r>
            <a:r>
              <a:rPr sz="1050" spc="-135" dirty="0"/>
              <a:t> </a:t>
            </a:r>
            <a:r>
              <a:rPr sz="1050" dirty="0"/>
              <a:t>a</a:t>
            </a:r>
            <a:r>
              <a:rPr sz="1050" spc="-140" dirty="0"/>
              <a:t> </a:t>
            </a:r>
            <a:r>
              <a:rPr sz="1050" spc="-55" dirty="0"/>
              <a:t>hacker</a:t>
            </a:r>
            <a:r>
              <a:rPr sz="1050" spc="-140" dirty="0"/>
              <a:t> </a:t>
            </a:r>
            <a:r>
              <a:rPr sz="1050" spc="-25" dirty="0"/>
              <a:t>and</a:t>
            </a:r>
            <a:r>
              <a:rPr sz="1050" spc="-140" dirty="0"/>
              <a:t> </a:t>
            </a:r>
            <a:r>
              <a:rPr sz="1050" spc="-20" dirty="0"/>
              <a:t>your </a:t>
            </a:r>
            <a:r>
              <a:rPr sz="1050" spc="-10" dirty="0"/>
              <a:t>account.</a:t>
            </a:r>
            <a:endParaRPr sz="1050"/>
          </a:p>
          <a:p>
            <a:pPr>
              <a:lnSpc>
                <a:spcPct val="100000"/>
              </a:lnSpc>
            </a:pPr>
            <a:endParaRPr sz="1050"/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50"/>
          </a:p>
          <a:p>
            <a:pPr marL="563245">
              <a:lnSpc>
                <a:spcPct val="100000"/>
              </a:lnSpc>
            </a:pPr>
            <a:r>
              <a:rPr sz="1750" spc="140" dirty="0">
                <a:latin typeface="Calibri"/>
                <a:cs typeface="Calibri"/>
              </a:rPr>
              <a:t>Passwords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225" dirty="0">
                <a:latin typeface="Calibri"/>
                <a:cs typeface="Calibri"/>
              </a:rPr>
              <a:t>Can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225" dirty="0">
                <a:latin typeface="Calibri"/>
                <a:cs typeface="Calibri"/>
              </a:rPr>
              <a:t>Be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120" dirty="0">
                <a:latin typeface="Calibri"/>
                <a:cs typeface="Calibri"/>
              </a:rPr>
              <a:t>Stolen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135" dirty="0">
                <a:latin typeface="Calibri"/>
                <a:cs typeface="Calibri"/>
              </a:rPr>
              <a:t>or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135" dirty="0">
                <a:latin typeface="Calibri"/>
                <a:cs typeface="Calibri"/>
              </a:rPr>
              <a:t>Guessed</a:t>
            </a:r>
            <a:endParaRPr sz="1750">
              <a:latin typeface="Calibri"/>
              <a:cs typeface="Calibri"/>
            </a:endParaRPr>
          </a:p>
          <a:p>
            <a:pPr marL="563245">
              <a:lnSpc>
                <a:spcPct val="100000"/>
              </a:lnSpc>
              <a:spcBef>
                <a:spcPts val="1075"/>
              </a:spcBef>
            </a:pPr>
            <a:r>
              <a:rPr sz="1050" spc="-45" dirty="0"/>
              <a:t>Hackers</a:t>
            </a:r>
            <a:r>
              <a:rPr sz="1050" spc="-140" dirty="0"/>
              <a:t> </a:t>
            </a:r>
            <a:r>
              <a:rPr sz="1050" spc="-55" dirty="0"/>
              <a:t>use</a:t>
            </a:r>
            <a:r>
              <a:rPr sz="1050" spc="-140" dirty="0"/>
              <a:t> </a:t>
            </a:r>
            <a:r>
              <a:rPr sz="1050" spc="-60" dirty="0"/>
              <a:t>phishing</a:t>
            </a:r>
            <a:r>
              <a:rPr sz="1050" spc="-135" dirty="0"/>
              <a:t> </a:t>
            </a:r>
            <a:r>
              <a:rPr sz="1050" spc="-65" dirty="0"/>
              <a:t>attacks,</a:t>
            </a:r>
            <a:r>
              <a:rPr sz="1050" spc="-140" dirty="0"/>
              <a:t> </a:t>
            </a:r>
            <a:r>
              <a:rPr sz="1050" spc="-75" dirty="0"/>
              <a:t>brute</a:t>
            </a:r>
            <a:r>
              <a:rPr sz="1050" spc="-140" dirty="0"/>
              <a:t> </a:t>
            </a:r>
            <a:r>
              <a:rPr sz="1050" spc="-95" dirty="0"/>
              <a:t>force,</a:t>
            </a:r>
            <a:r>
              <a:rPr sz="1050" spc="-135" dirty="0"/>
              <a:t> </a:t>
            </a:r>
            <a:r>
              <a:rPr sz="1050" spc="-55" dirty="0"/>
              <a:t>or</a:t>
            </a:r>
            <a:r>
              <a:rPr sz="1050" spc="-140" dirty="0"/>
              <a:t> </a:t>
            </a:r>
            <a:r>
              <a:rPr sz="1050" spc="-30" dirty="0"/>
              <a:t>data</a:t>
            </a:r>
            <a:r>
              <a:rPr sz="1050" spc="-135" dirty="0"/>
              <a:t> </a:t>
            </a:r>
            <a:r>
              <a:rPr sz="1050" spc="-50" dirty="0"/>
              <a:t>breaches</a:t>
            </a:r>
            <a:r>
              <a:rPr sz="1050" spc="-140" dirty="0"/>
              <a:t> </a:t>
            </a:r>
            <a:r>
              <a:rPr sz="1050" spc="-50" dirty="0"/>
              <a:t>to</a:t>
            </a:r>
            <a:r>
              <a:rPr sz="1050" spc="-140" dirty="0"/>
              <a:t> </a:t>
            </a:r>
            <a:r>
              <a:rPr sz="1050" spc="-60" dirty="0"/>
              <a:t>steal</a:t>
            </a:r>
            <a:r>
              <a:rPr sz="1050" spc="-135" dirty="0"/>
              <a:t> </a:t>
            </a:r>
            <a:r>
              <a:rPr sz="1050" spc="-55" dirty="0"/>
              <a:t>or</a:t>
            </a:r>
            <a:r>
              <a:rPr sz="1050" spc="-140" dirty="0"/>
              <a:t> </a:t>
            </a:r>
            <a:r>
              <a:rPr sz="1050" spc="-50" dirty="0"/>
              <a:t>guess</a:t>
            </a:r>
            <a:r>
              <a:rPr sz="1050" spc="-135" dirty="0"/>
              <a:t> </a:t>
            </a:r>
            <a:r>
              <a:rPr sz="1050" spc="-55" dirty="0"/>
              <a:t>passwords</a:t>
            </a:r>
            <a:r>
              <a:rPr sz="1050" spc="-140" dirty="0"/>
              <a:t> </a:t>
            </a:r>
            <a:r>
              <a:rPr sz="1050" spc="-10" dirty="0"/>
              <a:t>easily.</a:t>
            </a:r>
            <a:endParaRPr sz="1050"/>
          </a:p>
          <a:p>
            <a:pPr>
              <a:lnSpc>
                <a:spcPct val="100000"/>
              </a:lnSpc>
            </a:pPr>
            <a:endParaRPr sz="1050"/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050"/>
          </a:p>
          <a:p>
            <a:pPr marL="563245">
              <a:lnSpc>
                <a:spcPct val="100000"/>
              </a:lnSpc>
            </a:pPr>
            <a:r>
              <a:rPr sz="1750" spc="215" dirty="0">
                <a:latin typeface="Calibri"/>
                <a:cs typeface="Calibri"/>
              </a:rPr>
              <a:t>An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180" dirty="0">
                <a:latin typeface="Calibri"/>
                <a:cs typeface="Calibri"/>
              </a:rPr>
              <a:t>Extra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140" dirty="0">
                <a:latin typeface="Calibri"/>
                <a:cs typeface="Calibri"/>
              </a:rPr>
              <a:t>Security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spc="170" dirty="0">
                <a:latin typeface="Calibri"/>
                <a:cs typeface="Calibri"/>
              </a:rPr>
              <a:t>Layer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170" dirty="0">
                <a:latin typeface="Calibri"/>
                <a:cs typeface="Calibri"/>
              </a:rPr>
              <a:t>Is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spc="140" dirty="0">
                <a:latin typeface="Calibri"/>
                <a:cs typeface="Calibri"/>
              </a:rPr>
              <a:t>Needed</a:t>
            </a:r>
            <a:endParaRPr sz="1750">
              <a:latin typeface="Calibri"/>
              <a:cs typeface="Calibri"/>
            </a:endParaRPr>
          </a:p>
          <a:p>
            <a:pPr marL="563245">
              <a:lnSpc>
                <a:spcPct val="100000"/>
              </a:lnSpc>
              <a:spcBef>
                <a:spcPts val="1075"/>
              </a:spcBef>
            </a:pPr>
            <a:r>
              <a:rPr sz="1050" spc="-40" dirty="0"/>
              <a:t>Adding</a:t>
            </a:r>
            <a:r>
              <a:rPr sz="1050" spc="-140" dirty="0"/>
              <a:t> </a:t>
            </a:r>
            <a:r>
              <a:rPr sz="1050" dirty="0"/>
              <a:t>OTP</a:t>
            </a:r>
            <a:r>
              <a:rPr sz="1050" spc="-135" dirty="0"/>
              <a:t> </a:t>
            </a:r>
            <a:r>
              <a:rPr sz="1050" spc="-70" dirty="0"/>
              <a:t>verification</a:t>
            </a:r>
            <a:r>
              <a:rPr sz="1050" spc="-140" dirty="0"/>
              <a:t> </a:t>
            </a:r>
            <a:r>
              <a:rPr sz="1050" spc="-70" dirty="0"/>
              <a:t>ensures</a:t>
            </a:r>
            <a:r>
              <a:rPr sz="1050" spc="-135" dirty="0"/>
              <a:t> </a:t>
            </a:r>
            <a:r>
              <a:rPr sz="1050" spc="-50" dirty="0"/>
              <a:t>that</a:t>
            </a:r>
            <a:r>
              <a:rPr sz="1050" spc="-140" dirty="0"/>
              <a:t> </a:t>
            </a:r>
            <a:r>
              <a:rPr sz="1050" spc="-85" dirty="0"/>
              <a:t>even</a:t>
            </a:r>
            <a:r>
              <a:rPr sz="1050" spc="-135" dirty="0"/>
              <a:t> </a:t>
            </a:r>
            <a:r>
              <a:rPr sz="1050" dirty="0"/>
              <a:t>a</a:t>
            </a:r>
            <a:r>
              <a:rPr sz="1050" spc="-140" dirty="0"/>
              <a:t> </a:t>
            </a:r>
            <a:r>
              <a:rPr sz="1050" spc="-65" dirty="0"/>
              <a:t>stolen</a:t>
            </a:r>
            <a:r>
              <a:rPr sz="1050" spc="-135" dirty="0"/>
              <a:t> </a:t>
            </a:r>
            <a:r>
              <a:rPr sz="1050" spc="-55" dirty="0"/>
              <a:t>password</a:t>
            </a:r>
            <a:r>
              <a:rPr sz="1050" spc="-140" dirty="0"/>
              <a:t> </a:t>
            </a:r>
            <a:r>
              <a:rPr sz="1050" spc="-55" dirty="0"/>
              <a:t>is</a:t>
            </a:r>
            <a:r>
              <a:rPr sz="1050" spc="-135" dirty="0"/>
              <a:t> </a:t>
            </a:r>
            <a:r>
              <a:rPr sz="1050" spc="-60" dirty="0"/>
              <a:t>useless</a:t>
            </a:r>
            <a:r>
              <a:rPr sz="1050" spc="-140" dirty="0"/>
              <a:t> </a:t>
            </a:r>
            <a:r>
              <a:rPr sz="1050" spc="-75" dirty="0"/>
              <a:t>without</a:t>
            </a:r>
            <a:r>
              <a:rPr sz="1050" spc="-135" dirty="0"/>
              <a:t> </a:t>
            </a:r>
            <a:r>
              <a:rPr sz="1050" spc="-65" dirty="0"/>
              <a:t>the</a:t>
            </a:r>
            <a:r>
              <a:rPr sz="1050" spc="-140" dirty="0"/>
              <a:t> </a:t>
            </a:r>
            <a:r>
              <a:rPr sz="1050" spc="-35" dirty="0"/>
              <a:t>second</a:t>
            </a:r>
            <a:r>
              <a:rPr sz="1050" spc="-135" dirty="0"/>
              <a:t> </a:t>
            </a:r>
            <a:r>
              <a:rPr sz="1050" spc="-10" dirty="0"/>
              <a:t>factor.</a:t>
            </a:r>
            <a:endParaRPr sz="1050"/>
          </a:p>
          <a:p>
            <a:pPr>
              <a:lnSpc>
                <a:spcPct val="100000"/>
              </a:lnSpc>
            </a:pPr>
            <a:endParaRPr sz="1050"/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050"/>
          </a:p>
          <a:p>
            <a:pPr marL="571500">
              <a:lnSpc>
                <a:spcPct val="100000"/>
              </a:lnSpc>
            </a:pPr>
            <a:r>
              <a:rPr spc="-20" dirty="0">
                <a:solidFill>
                  <a:srgbClr val="FFFFFF"/>
                </a:solidFill>
              </a:rPr>
              <a:t>OTP</a:t>
            </a:r>
            <a:r>
              <a:rPr spc="-160" dirty="0">
                <a:solidFill>
                  <a:srgbClr val="FFFFFF"/>
                </a:solidFill>
              </a:rPr>
              <a:t> </a:t>
            </a:r>
            <a:r>
              <a:rPr spc="-95" dirty="0">
                <a:solidFill>
                  <a:srgbClr val="FFFFFF"/>
                </a:solidFill>
              </a:rPr>
              <a:t>verification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spc="-90" dirty="0">
                <a:solidFill>
                  <a:srgbClr val="FFFFFF"/>
                </a:solidFill>
              </a:rPr>
              <a:t>significantly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spc="-85" dirty="0">
                <a:solidFill>
                  <a:srgbClr val="FFFFFF"/>
                </a:solidFill>
              </a:rPr>
              <a:t>reduces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spc="-95" dirty="0">
                <a:solidFill>
                  <a:srgbClr val="FFFFFF"/>
                </a:solidFill>
              </a:rPr>
              <a:t>the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spc="-100" dirty="0">
                <a:solidFill>
                  <a:srgbClr val="FFFFFF"/>
                </a:solidFill>
              </a:rPr>
              <a:t>risk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spc="-70" dirty="0">
                <a:solidFill>
                  <a:srgbClr val="FFFFFF"/>
                </a:solidFill>
              </a:rPr>
              <a:t>of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spc="-90" dirty="0">
                <a:solidFill>
                  <a:srgbClr val="FFFFFF"/>
                </a:solidFill>
              </a:rPr>
              <a:t>unauthorized</a:t>
            </a:r>
            <a:r>
              <a:rPr spc="-15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access.</a:t>
            </a:r>
          </a:p>
        </p:txBody>
      </p:sp>
      <p:pic>
        <p:nvPicPr>
          <p:cNvPr id="13" name="object 13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7200" y="6371716"/>
            <a:ext cx="4114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412" y="1309687"/>
            <a:ext cx="733425" cy="323850"/>
          </a:xfrm>
          <a:custGeom>
            <a:avLst/>
            <a:gdLst/>
            <a:ahLst/>
            <a:cxnLst/>
            <a:rect l="l" t="t" r="r" b="b"/>
            <a:pathLst>
              <a:path w="733425" h="323850">
                <a:moveTo>
                  <a:pt x="0" y="310553"/>
                </a:moveTo>
                <a:lnTo>
                  <a:pt x="0" y="13284"/>
                </a:lnTo>
                <a:lnTo>
                  <a:pt x="0" y="11531"/>
                </a:lnTo>
                <a:lnTo>
                  <a:pt x="337" y="9829"/>
                </a:lnTo>
                <a:lnTo>
                  <a:pt x="1012" y="8204"/>
                </a:lnTo>
                <a:lnTo>
                  <a:pt x="1686" y="6578"/>
                </a:lnTo>
                <a:lnTo>
                  <a:pt x="2649" y="5143"/>
                </a:lnTo>
                <a:lnTo>
                  <a:pt x="3893" y="3898"/>
                </a:lnTo>
                <a:lnTo>
                  <a:pt x="5139" y="2641"/>
                </a:lnTo>
                <a:lnTo>
                  <a:pt x="6578" y="1689"/>
                </a:lnTo>
                <a:lnTo>
                  <a:pt x="8205" y="1016"/>
                </a:lnTo>
                <a:lnTo>
                  <a:pt x="9832" y="342"/>
                </a:lnTo>
                <a:lnTo>
                  <a:pt x="11529" y="0"/>
                </a:lnTo>
                <a:lnTo>
                  <a:pt x="13290" y="0"/>
                </a:lnTo>
                <a:lnTo>
                  <a:pt x="720140" y="0"/>
                </a:lnTo>
                <a:lnTo>
                  <a:pt x="721893" y="0"/>
                </a:lnTo>
                <a:lnTo>
                  <a:pt x="723595" y="342"/>
                </a:lnTo>
                <a:lnTo>
                  <a:pt x="725220" y="1016"/>
                </a:lnTo>
                <a:lnTo>
                  <a:pt x="726846" y="1689"/>
                </a:lnTo>
                <a:lnTo>
                  <a:pt x="728281" y="2641"/>
                </a:lnTo>
                <a:lnTo>
                  <a:pt x="729526" y="3898"/>
                </a:lnTo>
                <a:lnTo>
                  <a:pt x="730770" y="5143"/>
                </a:lnTo>
                <a:lnTo>
                  <a:pt x="731735" y="6578"/>
                </a:lnTo>
                <a:lnTo>
                  <a:pt x="732409" y="8204"/>
                </a:lnTo>
                <a:lnTo>
                  <a:pt x="733082" y="9829"/>
                </a:lnTo>
                <a:lnTo>
                  <a:pt x="733425" y="11531"/>
                </a:lnTo>
                <a:lnTo>
                  <a:pt x="733425" y="13284"/>
                </a:lnTo>
                <a:lnTo>
                  <a:pt x="733425" y="310553"/>
                </a:lnTo>
                <a:lnTo>
                  <a:pt x="733425" y="312318"/>
                </a:lnTo>
                <a:lnTo>
                  <a:pt x="733082" y="314007"/>
                </a:lnTo>
                <a:lnTo>
                  <a:pt x="721893" y="323850"/>
                </a:lnTo>
                <a:lnTo>
                  <a:pt x="720140" y="323850"/>
                </a:lnTo>
                <a:lnTo>
                  <a:pt x="13290" y="323850"/>
                </a:lnTo>
                <a:lnTo>
                  <a:pt x="11529" y="323850"/>
                </a:lnTo>
                <a:lnTo>
                  <a:pt x="9832" y="323507"/>
                </a:lnTo>
                <a:lnTo>
                  <a:pt x="8205" y="322834"/>
                </a:lnTo>
                <a:lnTo>
                  <a:pt x="6578" y="322160"/>
                </a:lnTo>
                <a:lnTo>
                  <a:pt x="0" y="312318"/>
                </a:lnTo>
                <a:lnTo>
                  <a:pt x="0" y="310553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6946" y="1366900"/>
            <a:ext cx="52895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75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1100" spc="-140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FFFFF0"/>
                </a:solidFill>
                <a:latin typeface="Verdana"/>
                <a:cs typeface="Verdana"/>
              </a:rPr>
              <a:t>4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19224" y="1664842"/>
            <a:ext cx="2349500" cy="595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210" dirty="0"/>
              <a:t>Objectives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9224" y="2569051"/>
            <a:ext cx="3750310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70" dirty="0">
                <a:solidFill>
                  <a:srgbClr val="D8D5CE"/>
                </a:solidFill>
                <a:latin typeface="Verdana"/>
                <a:cs typeface="Verdana"/>
              </a:rPr>
              <a:t>This</a:t>
            </a:r>
            <a:r>
              <a:rPr sz="1400" spc="-1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D8D5CE"/>
                </a:solidFill>
                <a:latin typeface="Verdana"/>
                <a:cs typeface="Verdana"/>
              </a:rPr>
              <a:t>project</a:t>
            </a:r>
            <a:r>
              <a:rPr sz="1400" spc="-1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D8D5CE"/>
                </a:solidFill>
                <a:latin typeface="Verdana"/>
                <a:cs typeface="Verdana"/>
              </a:rPr>
              <a:t>aims</a:t>
            </a:r>
            <a:r>
              <a:rPr sz="1400" spc="-1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1400" spc="-1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D8D5CE"/>
                </a:solidFill>
                <a:latin typeface="Verdana"/>
                <a:cs typeface="Verdana"/>
              </a:rPr>
              <a:t>achieve</a:t>
            </a:r>
            <a:r>
              <a:rPr sz="1400" spc="-1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1400" spc="-1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D8D5CE"/>
                </a:solidFill>
                <a:latin typeface="Verdana"/>
                <a:cs typeface="Verdana"/>
              </a:rPr>
              <a:t>following</a:t>
            </a:r>
            <a:r>
              <a:rPr sz="1400" spc="-1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D8D5CE"/>
                </a:solidFill>
                <a:latin typeface="Verdana"/>
                <a:cs typeface="Verdana"/>
              </a:rPr>
              <a:t>goals: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650" y="3028950"/>
            <a:ext cx="3524250" cy="1171575"/>
          </a:xfrm>
          <a:custGeom>
            <a:avLst/>
            <a:gdLst/>
            <a:ahLst/>
            <a:cxnLst/>
            <a:rect l="l" t="t" r="r" b="b"/>
            <a:pathLst>
              <a:path w="3524250" h="1171575">
                <a:moveTo>
                  <a:pt x="3504679" y="0"/>
                </a:moveTo>
                <a:lnTo>
                  <a:pt x="19575" y="0"/>
                </a:lnTo>
                <a:lnTo>
                  <a:pt x="16697" y="571"/>
                </a:lnTo>
                <a:lnTo>
                  <a:pt x="0" y="19570"/>
                </a:lnTo>
                <a:lnTo>
                  <a:pt x="0" y="1149007"/>
                </a:lnTo>
                <a:lnTo>
                  <a:pt x="0" y="1152004"/>
                </a:lnTo>
                <a:lnTo>
                  <a:pt x="19575" y="1171575"/>
                </a:lnTo>
                <a:lnTo>
                  <a:pt x="3504679" y="1171575"/>
                </a:lnTo>
                <a:lnTo>
                  <a:pt x="3524250" y="1152004"/>
                </a:lnTo>
                <a:lnTo>
                  <a:pt x="3524250" y="19570"/>
                </a:lnTo>
                <a:lnTo>
                  <a:pt x="3507549" y="571"/>
                </a:lnTo>
                <a:lnTo>
                  <a:pt x="3504679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9753" y="3178746"/>
            <a:ext cx="3122295" cy="835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70" dirty="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r>
              <a:rPr sz="18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80" dirty="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14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25000"/>
              </a:lnSpc>
              <a:spcBef>
                <a:spcPts val="825"/>
              </a:spcBef>
            </a:pPr>
            <a:r>
              <a:rPr sz="1100" spc="-50" dirty="0">
                <a:solidFill>
                  <a:srgbClr val="FFFFFF"/>
                </a:solidFill>
                <a:latin typeface="Verdana"/>
                <a:cs typeface="Verdana"/>
              </a:rPr>
              <a:t>Build</a:t>
            </a:r>
            <a:r>
              <a:rPr sz="11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Verdana"/>
                <a:cs typeface="Verdana"/>
              </a:rPr>
              <a:t>fully</a:t>
            </a:r>
            <a:r>
              <a:rPr sz="1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Verdana"/>
                <a:cs typeface="Verdana"/>
              </a:rPr>
              <a:t>working</a:t>
            </a:r>
            <a:r>
              <a:rPr sz="1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Verdana"/>
                <a:cs typeface="Verdana"/>
              </a:rPr>
              <a:t>login</a:t>
            </a:r>
            <a:r>
              <a:rPr sz="11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sz="1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1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Verdana"/>
                <a:cs typeface="Verdana"/>
              </a:rPr>
              <a:t>safe</a:t>
            </a:r>
            <a:r>
              <a:rPr sz="11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Verdana"/>
                <a:cs typeface="Verdana"/>
              </a:rPr>
              <a:t>from common</a:t>
            </a:r>
            <a:r>
              <a:rPr sz="1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attacks.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33875" y="3028950"/>
            <a:ext cx="3524250" cy="1171575"/>
          </a:xfrm>
          <a:custGeom>
            <a:avLst/>
            <a:gdLst/>
            <a:ahLst/>
            <a:cxnLst/>
            <a:rect l="l" t="t" r="r" b="b"/>
            <a:pathLst>
              <a:path w="3524250" h="1171575">
                <a:moveTo>
                  <a:pt x="3504679" y="0"/>
                </a:moveTo>
                <a:lnTo>
                  <a:pt x="19570" y="0"/>
                </a:lnTo>
                <a:lnTo>
                  <a:pt x="16700" y="571"/>
                </a:lnTo>
                <a:lnTo>
                  <a:pt x="0" y="19570"/>
                </a:lnTo>
                <a:lnTo>
                  <a:pt x="0" y="1149007"/>
                </a:lnTo>
                <a:lnTo>
                  <a:pt x="0" y="1152004"/>
                </a:lnTo>
                <a:lnTo>
                  <a:pt x="19570" y="1171575"/>
                </a:lnTo>
                <a:lnTo>
                  <a:pt x="3504679" y="1171575"/>
                </a:lnTo>
                <a:lnTo>
                  <a:pt x="3524250" y="1152004"/>
                </a:lnTo>
                <a:lnTo>
                  <a:pt x="3524250" y="19570"/>
                </a:lnTo>
                <a:lnTo>
                  <a:pt x="3507549" y="571"/>
                </a:lnTo>
                <a:lnTo>
                  <a:pt x="3504679" y="0"/>
                </a:lnTo>
                <a:close/>
              </a:path>
            </a:pathLst>
          </a:custGeom>
          <a:solidFill>
            <a:srgbClr val="C9B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02594" y="3178746"/>
            <a:ext cx="3044825" cy="835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90" dirty="0">
                <a:latin typeface="Calibri"/>
                <a:cs typeface="Calibri"/>
              </a:rPr>
              <a:t>Email</a:t>
            </a:r>
            <a:r>
              <a:rPr sz="1850" spc="-50" dirty="0">
                <a:latin typeface="Calibri"/>
                <a:cs typeface="Calibri"/>
              </a:rPr>
              <a:t> </a:t>
            </a:r>
            <a:r>
              <a:rPr sz="1850" spc="340" dirty="0">
                <a:latin typeface="Calibri"/>
                <a:cs typeface="Calibri"/>
              </a:rPr>
              <a:t>OTP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spc="80" dirty="0">
                <a:latin typeface="Calibri"/>
                <a:cs typeface="Calibri"/>
              </a:rPr>
              <a:t>Verification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25000"/>
              </a:lnSpc>
              <a:spcBef>
                <a:spcPts val="825"/>
              </a:spcBef>
            </a:pPr>
            <a:r>
              <a:rPr sz="1100" spc="-80" dirty="0">
                <a:latin typeface="Verdana"/>
                <a:cs typeface="Verdana"/>
              </a:rPr>
              <a:t>Implement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one-</a:t>
            </a:r>
            <a:r>
              <a:rPr sz="1100" spc="-65" dirty="0">
                <a:latin typeface="Verdana"/>
                <a:cs typeface="Verdana"/>
              </a:rPr>
              <a:t>time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password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delivery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via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email </a:t>
            </a:r>
            <a:r>
              <a:rPr sz="1100" spc="-10" dirty="0">
                <a:latin typeface="Verdana"/>
                <a:cs typeface="Verdana"/>
              </a:rPr>
              <a:t>as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second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authentication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step.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39100" y="3028950"/>
            <a:ext cx="3524250" cy="1171575"/>
          </a:xfrm>
          <a:custGeom>
            <a:avLst/>
            <a:gdLst/>
            <a:ahLst/>
            <a:cxnLst/>
            <a:rect l="l" t="t" r="r" b="b"/>
            <a:pathLst>
              <a:path w="3524250" h="1171575">
                <a:moveTo>
                  <a:pt x="3504679" y="0"/>
                </a:moveTo>
                <a:lnTo>
                  <a:pt x="19570" y="0"/>
                </a:lnTo>
                <a:lnTo>
                  <a:pt x="16687" y="571"/>
                </a:lnTo>
                <a:lnTo>
                  <a:pt x="0" y="19570"/>
                </a:lnTo>
                <a:lnTo>
                  <a:pt x="0" y="1149007"/>
                </a:lnTo>
                <a:lnTo>
                  <a:pt x="0" y="1152004"/>
                </a:lnTo>
                <a:lnTo>
                  <a:pt x="19570" y="1171575"/>
                </a:lnTo>
                <a:lnTo>
                  <a:pt x="3504679" y="1171575"/>
                </a:lnTo>
                <a:lnTo>
                  <a:pt x="3524250" y="1152004"/>
                </a:lnTo>
                <a:lnTo>
                  <a:pt x="3524250" y="19570"/>
                </a:lnTo>
                <a:lnTo>
                  <a:pt x="3507549" y="571"/>
                </a:lnTo>
                <a:lnTo>
                  <a:pt x="3504679" y="0"/>
                </a:lnTo>
                <a:close/>
              </a:path>
            </a:pathLst>
          </a:custGeom>
          <a:solidFill>
            <a:srgbClr val="D8D5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05444" y="3178746"/>
            <a:ext cx="2912110" cy="835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90" dirty="0">
                <a:latin typeface="Calibri"/>
                <a:cs typeface="Calibri"/>
              </a:rPr>
              <a:t>BCrypt</a:t>
            </a:r>
            <a:r>
              <a:rPr sz="1850" spc="-25" dirty="0">
                <a:latin typeface="Calibri"/>
                <a:cs typeface="Calibri"/>
              </a:rPr>
              <a:t> </a:t>
            </a:r>
            <a:r>
              <a:rPr sz="1850" spc="145" dirty="0">
                <a:latin typeface="Calibri"/>
                <a:cs typeface="Calibri"/>
              </a:rPr>
              <a:t>Password</a:t>
            </a:r>
            <a:r>
              <a:rPr sz="1850" spc="-25" dirty="0">
                <a:latin typeface="Calibri"/>
                <a:cs typeface="Calibri"/>
              </a:rPr>
              <a:t> </a:t>
            </a:r>
            <a:r>
              <a:rPr sz="1850" spc="155" dirty="0">
                <a:latin typeface="Calibri"/>
                <a:cs typeface="Calibri"/>
              </a:rPr>
              <a:t>Hashing</a:t>
            </a:r>
            <a:endParaRPr sz="1850">
              <a:latin typeface="Calibri"/>
              <a:cs typeface="Calibri"/>
            </a:endParaRPr>
          </a:p>
          <a:p>
            <a:pPr marL="12700" marR="177800">
              <a:lnSpc>
                <a:spcPct val="125000"/>
              </a:lnSpc>
              <a:spcBef>
                <a:spcPts val="825"/>
              </a:spcBef>
            </a:pPr>
            <a:r>
              <a:rPr sz="1100" spc="-80" dirty="0">
                <a:latin typeface="Verdana"/>
                <a:cs typeface="Verdana"/>
              </a:rPr>
              <a:t>Store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passwords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securely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so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that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even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if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spc="-40" dirty="0">
                <a:latin typeface="Verdana"/>
                <a:cs typeface="Verdana"/>
              </a:rPr>
              <a:t>database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is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leaked,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passwords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stay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safe.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8650" y="4381500"/>
            <a:ext cx="5381625" cy="1171575"/>
          </a:xfrm>
          <a:custGeom>
            <a:avLst/>
            <a:gdLst/>
            <a:ahLst/>
            <a:cxnLst/>
            <a:rect l="l" t="t" r="r" b="b"/>
            <a:pathLst>
              <a:path w="5381625" h="1171575">
                <a:moveTo>
                  <a:pt x="5362054" y="0"/>
                </a:moveTo>
                <a:lnTo>
                  <a:pt x="19575" y="0"/>
                </a:lnTo>
                <a:lnTo>
                  <a:pt x="16697" y="571"/>
                </a:lnTo>
                <a:lnTo>
                  <a:pt x="0" y="19570"/>
                </a:lnTo>
                <a:lnTo>
                  <a:pt x="0" y="1149007"/>
                </a:lnTo>
                <a:lnTo>
                  <a:pt x="0" y="1152004"/>
                </a:lnTo>
                <a:lnTo>
                  <a:pt x="19575" y="1171575"/>
                </a:lnTo>
                <a:lnTo>
                  <a:pt x="5362054" y="1171575"/>
                </a:lnTo>
                <a:lnTo>
                  <a:pt x="5381625" y="1152004"/>
                </a:lnTo>
                <a:lnTo>
                  <a:pt x="5381625" y="19570"/>
                </a:lnTo>
                <a:lnTo>
                  <a:pt x="5364924" y="571"/>
                </a:lnTo>
                <a:lnTo>
                  <a:pt x="5362054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9277" y="4531296"/>
            <a:ext cx="4694555" cy="835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6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265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45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r>
              <a:rPr sz="18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Versions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25000"/>
              </a:lnSpc>
              <a:spcBef>
                <a:spcPts val="825"/>
              </a:spcBef>
            </a:pPr>
            <a:r>
              <a:rPr sz="1100" spc="-65" dirty="0">
                <a:solidFill>
                  <a:srgbClr val="FFFFFF"/>
                </a:solidFill>
                <a:latin typeface="Verdana"/>
                <a:cs typeface="Verdana"/>
              </a:rPr>
              <a:t>Provide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Verdana"/>
                <a:cs typeface="Verdana"/>
              </a:rPr>
              <a:t>both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FFFFFF"/>
                </a:solidFill>
                <a:latin typeface="Verdana"/>
                <a:cs typeface="Verdana"/>
              </a:rPr>
              <a:t>browser-</a:t>
            </a:r>
            <a:r>
              <a:rPr sz="1100" spc="-35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1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Verdana"/>
                <a:cs typeface="Verdana"/>
              </a:rPr>
              <a:t>interface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Verdana"/>
                <a:cs typeface="Verdana"/>
              </a:rPr>
              <a:t>command-</a:t>
            </a:r>
            <a:r>
              <a:rPr sz="1100" spc="-75" dirty="0">
                <a:solidFill>
                  <a:srgbClr val="FFFFFF"/>
                </a:solidFill>
                <a:latin typeface="Verdana"/>
                <a:cs typeface="Verdana"/>
              </a:rPr>
              <a:t>line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Verdana"/>
                <a:cs typeface="Verdana"/>
              </a:rPr>
              <a:t>version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system.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81725" y="4381500"/>
            <a:ext cx="5381625" cy="1171575"/>
          </a:xfrm>
          <a:custGeom>
            <a:avLst/>
            <a:gdLst/>
            <a:ahLst/>
            <a:cxnLst/>
            <a:rect l="l" t="t" r="r" b="b"/>
            <a:pathLst>
              <a:path w="5381625" h="1171575">
                <a:moveTo>
                  <a:pt x="5362054" y="0"/>
                </a:moveTo>
                <a:lnTo>
                  <a:pt x="19570" y="0"/>
                </a:lnTo>
                <a:lnTo>
                  <a:pt x="16687" y="571"/>
                </a:lnTo>
                <a:lnTo>
                  <a:pt x="0" y="19570"/>
                </a:lnTo>
                <a:lnTo>
                  <a:pt x="0" y="1149007"/>
                </a:lnTo>
                <a:lnTo>
                  <a:pt x="0" y="1152004"/>
                </a:lnTo>
                <a:lnTo>
                  <a:pt x="13931" y="1169847"/>
                </a:lnTo>
                <a:lnTo>
                  <a:pt x="16687" y="1171003"/>
                </a:lnTo>
                <a:lnTo>
                  <a:pt x="19570" y="1171575"/>
                </a:lnTo>
                <a:lnTo>
                  <a:pt x="5362054" y="1171575"/>
                </a:lnTo>
                <a:lnTo>
                  <a:pt x="5381625" y="1152004"/>
                </a:lnTo>
                <a:lnTo>
                  <a:pt x="5381625" y="19570"/>
                </a:lnTo>
                <a:lnTo>
                  <a:pt x="5364924" y="571"/>
                </a:lnTo>
                <a:lnTo>
                  <a:pt x="5362054" y="0"/>
                </a:lnTo>
                <a:close/>
              </a:path>
            </a:pathLst>
          </a:custGeom>
          <a:solidFill>
            <a:srgbClr val="8E89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54013" y="4531296"/>
            <a:ext cx="4434205" cy="625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80" dirty="0">
                <a:latin typeface="Calibri"/>
                <a:cs typeface="Calibri"/>
              </a:rPr>
              <a:t>Login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spc="120" dirty="0">
                <a:latin typeface="Calibri"/>
                <a:cs typeface="Calibri"/>
              </a:rPr>
              <a:t>Audit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spc="175" dirty="0">
                <a:latin typeface="Calibri"/>
                <a:cs typeface="Calibri"/>
              </a:rPr>
              <a:t>Logs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100" spc="-70" dirty="0">
                <a:latin typeface="Verdana"/>
                <a:cs typeface="Verdana"/>
              </a:rPr>
              <a:t>Track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and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store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login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attempts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monitor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suspicious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activity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over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time.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6" name="object 1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77200" y="6371716"/>
            <a:ext cx="4114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1239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362325" y="1628774"/>
            <a:ext cx="381000" cy="142875"/>
          </a:xfrm>
          <a:custGeom>
            <a:avLst/>
            <a:gdLst/>
            <a:ahLst/>
            <a:cxnLst/>
            <a:rect l="l" t="t" r="r" b="b"/>
            <a:pathLst>
              <a:path w="381000" h="142875">
                <a:moveTo>
                  <a:pt x="374472" y="0"/>
                </a:moveTo>
                <a:lnTo>
                  <a:pt x="6527" y="0"/>
                </a:lnTo>
                <a:lnTo>
                  <a:pt x="4406" y="889"/>
                </a:lnTo>
                <a:lnTo>
                  <a:pt x="889" y="4406"/>
                </a:lnTo>
                <a:lnTo>
                  <a:pt x="0" y="6527"/>
                </a:lnTo>
                <a:lnTo>
                  <a:pt x="0" y="136347"/>
                </a:lnTo>
                <a:lnTo>
                  <a:pt x="889" y="138468"/>
                </a:lnTo>
                <a:lnTo>
                  <a:pt x="4406" y="141986"/>
                </a:lnTo>
                <a:lnTo>
                  <a:pt x="6527" y="142875"/>
                </a:lnTo>
                <a:lnTo>
                  <a:pt x="374472" y="142875"/>
                </a:lnTo>
                <a:lnTo>
                  <a:pt x="376593" y="141986"/>
                </a:lnTo>
                <a:lnTo>
                  <a:pt x="380111" y="138468"/>
                </a:lnTo>
                <a:lnTo>
                  <a:pt x="381000" y="136347"/>
                </a:lnTo>
                <a:lnTo>
                  <a:pt x="381000" y="133350"/>
                </a:lnTo>
                <a:lnTo>
                  <a:pt x="9525" y="133350"/>
                </a:lnTo>
                <a:lnTo>
                  <a:pt x="9525" y="9525"/>
                </a:lnTo>
                <a:lnTo>
                  <a:pt x="381000" y="9525"/>
                </a:lnTo>
                <a:lnTo>
                  <a:pt x="381000" y="6527"/>
                </a:lnTo>
                <a:lnTo>
                  <a:pt x="380111" y="4406"/>
                </a:lnTo>
                <a:lnTo>
                  <a:pt x="376593" y="889"/>
                </a:lnTo>
                <a:lnTo>
                  <a:pt x="374472" y="0"/>
                </a:lnTo>
                <a:close/>
              </a:path>
              <a:path w="381000" h="142875">
                <a:moveTo>
                  <a:pt x="381000" y="9525"/>
                </a:moveTo>
                <a:lnTo>
                  <a:pt x="371475" y="9525"/>
                </a:lnTo>
                <a:lnTo>
                  <a:pt x="371475" y="133350"/>
                </a:lnTo>
                <a:lnTo>
                  <a:pt x="381000" y="133350"/>
                </a:lnTo>
                <a:lnTo>
                  <a:pt x="381000" y="9525"/>
                </a:lnTo>
                <a:close/>
              </a:path>
            </a:pathLst>
          </a:custGeom>
          <a:solidFill>
            <a:srgbClr val="FFF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14814" y="1629600"/>
            <a:ext cx="274955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-40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550" spc="-60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550" spc="-50" dirty="0">
                <a:solidFill>
                  <a:srgbClr val="FFFFF0"/>
                </a:solidFill>
                <a:latin typeface="Verdana"/>
                <a:cs typeface="Verdana"/>
              </a:rPr>
              <a:t>5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351263" y="1759521"/>
            <a:ext cx="2095500" cy="3105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20" dirty="0"/>
              <a:t>Technologies</a:t>
            </a:r>
            <a:r>
              <a:rPr sz="1850" spc="-50" dirty="0"/>
              <a:t> </a:t>
            </a:r>
            <a:r>
              <a:rPr sz="1850" spc="145" dirty="0"/>
              <a:t>Used</a:t>
            </a:r>
            <a:endParaRPr sz="1850"/>
          </a:p>
        </p:txBody>
      </p:sp>
      <p:grpSp>
        <p:nvGrpSpPr>
          <p:cNvPr id="6" name="object 6"/>
          <p:cNvGrpSpPr/>
          <p:nvPr/>
        </p:nvGrpSpPr>
        <p:grpSpPr>
          <a:xfrm>
            <a:off x="3362325" y="2152650"/>
            <a:ext cx="5467350" cy="542925"/>
            <a:chOff x="3362325" y="2152650"/>
            <a:chExt cx="5467350" cy="542925"/>
          </a:xfrm>
        </p:grpSpPr>
        <p:sp>
          <p:nvSpPr>
            <p:cNvPr id="7" name="object 7"/>
            <p:cNvSpPr/>
            <p:nvPr/>
          </p:nvSpPr>
          <p:spPr>
            <a:xfrm>
              <a:off x="3367087" y="215741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7"/>
                  </a:lnTo>
                  <a:lnTo>
                    <a:pt x="0" y="4724"/>
                  </a:lnTo>
                  <a:lnTo>
                    <a:pt x="0" y="526872"/>
                  </a:lnTo>
                  <a:lnTo>
                    <a:pt x="0" y="528675"/>
                  </a:lnTo>
                  <a:lnTo>
                    <a:pt x="635" y="530212"/>
                  </a:lnTo>
                  <a:lnTo>
                    <a:pt x="3187" y="532765"/>
                  </a:lnTo>
                  <a:lnTo>
                    <a:pt x="4724" y="533400"/>
                  </a:lnTo>
                  <a:lnTo>
                    <a:pt x="5453100" y="533400"/>
                  </a:lnTo>
                  <a:lnTo>
                    <a:pt x="5454637" y="532765"/>
                  </a:lnTo>
                  <a:lnTo>
                    <a:pt x="5457190" y="530212"/>
                  </a:lnTo>
                  <a:lnTo>
                    <a:pt x="5457825" y="528675"/>
                  </a:lnTo>
                  <a:lnTo>
                    <a:pt x="5457825" y="4724"/>
                  </a:lnTo>
                  <a:lnTo>
                    <a:pt x="5457190" y="3187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67087" y="215741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0" y="526872"/>
                  </a:moveTo>
                  <a:lnTo>
                    <a:pt x="0" y="6527"/>
                  </a:lnTo>
                  <a:lnTo>
                    <a:pt x="0" y="4724"/>
                  </a:lnTo>
                  <a:lnTo>
                    <a:pt x="635" y="3187"/>
                  </a:lnTo>
                  <a:lnTo>
                    <a:pt x="1905" y="1905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05"/>
                  </a:lnTo>
                  <a:lnTo>
                    <a:pt x="5457190" y="3187"/>
                  </a:lnTo>
                  <a:lnTo>
                    <a:pt x="5457825" y="4724"/>
                  </a:lnTo>
                  <a:lnTo>
                    <a:pt x="5457825" y="6527"/>
                  </a:lnTo>
                  <a:lnTo>
                    <a:pt x="5457825" y="526872"/>
                  </a:lnTo>
                  <a:lnTo>
                    <a:pt x="5457825" y="528675"/>
                  </a:lnTo>
                  <a:lnTo>
                    <a:pt x="5457190" y="530212"/>
                  </a:lnTo>
                  <a:lnTo>
                    <a:pt x="5455920" y="531495"/>
                  </a:lnTo>
                  <a:lnTo>
                    <a:pt x="5454637" y="532765"/>
                  </a:lnTo>
                  <a:lnTo>
                    <a:pt x="5453100" y="533400"/>
                  </a:lnTo>
                  <a:lnTo>
                    <a:pt x="5451297" y="533400"/>
                  </a:lnTo>
                  <a:lnTo>
                    <a:pt x="6527" y="533400"/>
                  </a:lnTo>
                  <a:lnTo>
                    <a:pt x="4724" y="533400"/>
                  </a:lnTo>
                  <a:lnTo>
                    <a:pt x="3187" y="532765"/>
                  </a:lnTo>
                  <a:lnTo>
                    <a:pt x="1905" y="531495"/>
                  </a:lnTo>
                  <a:lnTo>
                    <a:pt x="635" y="530212"/>
                  </a:lnTo>
                  <a:lnTo>
                    <a:pt x="0" y="528675"/>
                  </a:lnTo>
                  <a:lnTo>
                    <a:pt x="0" y="526872"/>
                  </a:lnTo>
                  <a:close/>
                </a:path>
              </a:pathLst>
            </a:custGeom>
            <a:ln w="9525">
              <a:solidFill>
                <a:srgbClr val="2A2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71850" y="2161552"/>
              <a:ext cx="361950" cy="524510"/>
            </a:xfrm>
            <a:custGeom>
              <a:avLst/>
              <a:gdLst/>
              <a:ahLst/>
              <a:cxnLst/>
              <a:rect l="l" t="t" r="r" b="b"/>
              <a:pathLst>
                <a:path w="361950" h="524510">
                  <a:moveTo>
                    <a:pt x="361950" y="0"/>
                  </a:moveTo>
                  <a:lnTo>
                    <a:pt x="584" y="0"/>
                  </a:lnTo>
                  <a:lnTo>
                    <a:pt x="584" y="1270"/>
                  </a:lnTo>
                  <a:lnTo>
                    <a:pt x="0" y="1270"/>
                  </a:lnTo>
                  <a:lnTo>
                    <a:pt x="0" y="523240"/>
                  </a:lnTo>
                  <a:lnTo>
                    <a:pt x="0" y="524510"/>
                  </a:lnTo>
                  <a:lnTo>
                    <a:pt x="361950" y="524510"/>
                  </a:lnTo>
                  <a:lnTo>
                    <a:pt x="361950" y="523240"/>
                  </a:lnTo>
                  <a:lnTo>
                    <a:pt x="361950" y="12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66934" y="2184873"/>
            <a:ext cx="2041525" cy="3282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70" dirty="0">
                <a:solidFill>
                  <a:srgbClr val="D8D5CE"/>
                </a:solidFill>
                <a:latin typeface="Calibri"/>
                <a:cs typeface="Calibri"/>
              </a:rPr>
              <a:t>Java</a:t>
            </a:r>
            <a:r>
              <a:rPr sz="900" spc="-1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D8D5CE"/>
                </a:solidFill>
                <a:latin typeface="Calibri"/>
                <a:cs typeface="Calibri"/>
              </a:rPr>
              <a:t>17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Core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programming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language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used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build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entire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application.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62325" y="2743200"/>
            <a:ext cx="5467350" cy="542925"/>
            <a:chOff x="3362325" y="2743200"/>
            <a:chExt cx="5467350" cy="542925"/>
          </a:xfrm>
        </p:grpSpPr>
        <p:sp>
          <p:nvSpPr>
            <p:cNvPr id="12" name="object 12"/>
            <p:cNvSpPr/>
            <p:nvPr/>
          </p:nvSpPr>
          <p:spPr>
            <a:xfrm>
              <a:off x="3367087" y="274796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7"/>
                  </a:lnTo>
                  <a:lnTo>
                    <a:pt x="0" y="4724"/>
                  </a:lnTo>
                  <a:lnTo>
                    <a:pt x="0" y="526872"/>
                  </a:lnTo>
                  <a:lnTo>
                    <a:pt x="0" y="528675"/>
                  </a:lnTo>
                  <a:lnTo>
                    <a:pt x="635" y="530212"/>
                  </a:lnTo>
                  <a:lnTo>
                    <a:pt x="3187" y="532765"/>
                  </a:lnTo>
                  <a:lnTo>
                    <a:pt x="4724" y="533400"/>
                  </a:lnTo>
                  <a:lnTo>
                    <a:pt x="5453100" y="533400"/>
                  </a:lnTo>
                  <a:lnTo>
                    <a:pt x="5454637" y="532765"/>
                  </a:lnTo>
                  <a:lnTo>
                    <a:pt x="5457190" y="530212"/>
                  </a:lnTo>
                  <a:lnTo>
                    <a:pt x="5457825" y="528675"/>
                  </a:lnTo>
                  <a:lnTo>
                    <a:pt x="5457825" y="4724"/>
                  </a:lnTo>
                  <a:lnTo>
                    <a:pt x="5457190" y="3187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67087" y="274796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0" y="526872"/>
                  </a:moveTo>
                  <a:lnTo>
                    <a:pt x="0" y="6527"/>
                  </a:lnTo>
                  <a:lnTo>
                    <a:pt x="0" y="4724"/>
                  </a:lnTo>
                  <a:lnTo>
                    <a:pt x="635" y="3187"/>
                  </a:lnTo>
                  <a:lnTo>
                    <a:pt x="1905" y="1905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05"/>
                  </a:lnTo>
                  <a:lnTo>
                    <a:pt x="5457190" y="3187"/>
                  </a:lnTo>
                  <a:lnTo>
                    <a:pt x="5457825" y="4724"/>
                  </a:lnTo>
                  <a:lnTo>
                    <a:pt x="5457825" y="6527"/>
                  </a:lnTo>
                  <a:lnTo>
                    <a:pt x="5457825" y="526872"/>
                  </a:lnTo>
                  <a:lnTo>
                    <a:pt x="5457825" y="528675"/>
                  </a:lnTo>
                  <a:lnTo>
                    <a:pt x="5457190" y="530212"/>
                  </a:lnTo>
                  <a:lnTo>
                    <a:pt x="5455920" y="531495"/>
                  </a:lnTo>
                  <a:lnTo>
                    <a:pt x="5454637" y="532765"/>
                  </a:lnTo>
                  <a:lnTo>
                    <a:pt x="5453100" y="533400"/>
                  </a:lnTo>
                  <a:lnTo>
                    <a:pt x="5451297" y="533400"/>
                  </a:lnTo>
                  <a:lnTo>
                    <a:pt x="6527" y="533400"/>
                  </a:lnTo>
                  <a:lnTo>
                    <a:pt x="4724" y="533400"/>
                  </a:lnTo>
                  <a:lnTo>
                    <a:pt x="3187" y="532765"/>
                  </a:lnTo>
                  <a:lnTo>
                    <a:pt x="1905" y="531495"/>
                  </a:lnTo>
                  <a:lnTo>
                    <a:pt x="635" y="530212"/>
                  </a:lnTo>
                  <a:lnTo>
                    <a:pt x="0" y="528675"/>
                  </a:lnTo>
                  <a:lnTo>
                    <a:pt x="0" y="526872"/>
                  </a:lnTo>
                  <a:close/>
                </a:path>
              </a:pathLst>
            </a:custGeom>
            <a:ln w="9525">
              <a:solidFill>
                <a:srgbClr val="C9B7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71850" y="2752102"/>
              <a:ext cx="361950" cy="524510"/>
            </a:xfrm>
            <a:custGeom>
              <a:avLst/>
              <a:gdLst/>
              <a:ahLst/>
              <a:cxnLst/>
              <a:rect l="l" t="t" r="r" b="b"/>
              <a:pathLst>
                <a:path w="361950" h="524510">
                  <a:moveTo>
                    <a:pt x="361950" y="0"/>
                  </a:moveTo>
                  <a:lnTo>
                    <a:pt x="584" y="0"/>
                  </a:lnTo>
                  <a:lnTo>
                    <a:pt x="584" y="1270"/>
                  </a:lnTo>
                  <a:lnTo>
                    <a:pt x="0" y="1270"/>
                  </a:lnTo>
                  <a:lnTo>
                    <a:pt x="0" y="523240"/>
                  </a:lnTo>
                  <a:lnTo>
                    <a:pt x="0" y="524510"/>
                  </a:lnTo>
                  <a:lnTo>
                    <a:pt x="361950" y="524510"/>
                  </a:lnTo>
                  <a:lnTo>
                    <a:pt x="361950" y="523240"/>
                  </a:lnTo>
                  <a:lnTo>
                    <a:pt x="361950" y="12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C9B7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66934" y="2750228"/>
            <a:ext cx="2128520" cy="3536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95" dirty="0">
                <a:solidFill>
                  <a:srgbClr val="D8D5CE"/>
                </a:solidFill>
                <a:latin typeface="Calibri"/>
                <a:cs typeface="Calibri"/>
              </a:rPr>
              <a:t>Spring</a:t>
            </a:r>
            <a:r>
              <a:rPr sz="900" spc="-1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60" dirty="0">
                <a:solidFill>
                  <a:srgbClr val="D8D5CE"/>
                </a:solidFill>
                <a:latin typeface="Calibri"/>
                <a:cs typeface="Calibri"/>
              </a:rPr>
              <a:t>Boot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Framework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that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simplifies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building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running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web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application.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62325" y="3333750"/>
            <a:ext cx="5467350" cy="533400"/>
            <a:chOff x="3362325" y="3333750"/>
            <a:chExt cx="5467350" cy="533400"/>
          </a:xfrm>
        </p:grpSpPr>
        <p:sp>
          <p:nvSpPr>
            <p:cNvPr id="17" name="object 17"/>
            <p:cNvSpPr/>
            <p:nvPr/>
          </p:nvSpPr>
          <p:spPr>
            <a:xfrm>
              <a:off x="3367087" y="3338512"/>
              <a:ext cx="5457825" cy="523875"/>
            </a:xfrm>
            <a:custGeom>
              <a:avLst/>
              <a:gdLst/>
              <a:ahLst/>
              <a:cxnLst/>
              <a:rect l="l" t="t" r="r" b="b"/>
              <a:pathLst>
                <a:path w="5457825" h="523875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7"/>
                  </a:lnTo>
                  <a:lnTo>
                    <a:pt x="0" y="4711"/>
                  </a:lnTo>
                  <a:lnTo>
                    <a:pt x="0" y="517347"/>
                  </a:lnTo>
                  <a:lnTo>
                    <a:pt x="0" y="519150"/>
                  </a:lnTo>
                  <a:lnTo>
                    <a:pt x="635" y="520687"/>
                  </a:lnTo>
                  <a:lnTo>
                    <a:pt x="3187" y="523240"/>
                  </a:lnTo>
                  <a:lnTo>
                    <a:pt x="4724" y="523875"/>
                  </a:lnTo>
                  <a:lnTo>
                    <a:pt x="5453100" y="523875"/>
                  </a:lnTo>
                  <a:lnTo>
                    <a:pt x="5454637" y="523240"/>
                  </a:lnTo>
                  <a:lnTo>
                    <a:pt x="5457190" y="520687"/>
                  </a:lnTo>
                  <a:lnTo>
                    <a:pt x="5457825" y="519150"/>
                  </a:lnTo>
                  <a:lnTo>
                    <a:pt x="5457825" y="4711"/>
                  </a:lnTo>
                  <a:lnTo>
                    <a:pt x="5457190" y="3187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67087" y="3338512"/>
              <a:ext cx="5457825" cy="523875"/>
            </a:xfrm>
            <a:custGeom>
              <a:avLst/>
              <a:gdLst/>
              <a:ahLst/>
              <a:cxnLst/>
              <a:rect l="l" t="t" r="r" b="b"/>
              <a:pathLst>
                <a:path w="5457825" h="523875">
                  <a:moveTo>
                    <a:pt x="0" y="517347"/>
                  </a:moveTo>
                  <a:lnTo>
                    <a:pt x="0" y="6527"/>
                  </a:lnTo>
                  <a:lnTo>
                    <a:pt x="0" y="4711"/>
                  </a:lnTo>
                  <a:lnTo>
                    <a:pt x="635" y="3187"/>
                  </a:lnTo>
                  <a:lnTo>
                    <a:pt x="1905" y="1905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05"/>
                  </a:lnTo>
                  <a:lnTo>
                    <a:pt x="5457190" y="3187"/>
                  </a:lnTo>
                  <a:lnTo>
                    <a:pt x="5457825" y="4711"/>
                  </a:lnTo>
                  <a:lnTo>
                    <a:pt x="5457825" y="6527"/>
                  </a:lnTo>
                  <a:lnTo>
                    <a:pt x="5457825" y="517347"/>
                  </a:lnTo>
                  <a:lnTo>
                    <a:pt x="5457825" y="519150"/>
                  </a:lnTo>
                  <a:lnTo>
                    <a:pt x="5457190" y="520687"/>
                  </a:lnTo>
                  <a:lnTo>
                    <a:pt x="5455920" y="521970"/>
                  </a:lnTo>
                  <a:lnTo>
                    <a:pt x="5454637" y="523240"/>
                  </a:lnTo>
                  <a:lnTo>
                    <a:pt x="5453100" y="523875"/>
                  </a:lnTo>
                  <a:lnTo>
                    <a:pt x="5451297" y="523875"/>
                  </a:lnTo>
                  <a:lnTo>
                    <a:pt x="6527" y="523875"/>
                  </a:lnTo>
                  <a:lnTo>
                    <a:pt x="4724" y="523875"/>
                  </a:lnTo>
                  <a:lnTo>
                    <a:pt x="3187" y="523240"/>
                  </a:lnTo>
                  <a:lnTo>
                    <a:pt x="1905" y="521970"/>
                  </a:lnTo>
                  <a:lnTo>
                    <a:pt x="635" y="520687"/>
                  </a:lnTo>
                  <a:lnTo>
                    <a:pt x="0" y="519150"/>
                  </a:lnTo>
                  <a:lnTo>
                    <a:pt x="0" y="517347"/>
                  </a:lnTo>
                  <a:close/>
                </a:path>
              </a:pathLst>
            </a:custGeom>
            <a:ln w="9525">
              <a:solidFill>
                <a:srgbClr val="D8D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1850" y="3342652"/>
              <a:ext cx="361950" cy="514350"/>
            </a:xfrm>
            <a:custGeom>
              <a:avLst/>
              <a:gdLst/>
              <a:ahLst/>
              <a:cxnLst/>
              <a:rect l="l" t="t" r="r" b="b"/>
              <a:pathLst>
                <a:path w="361950" h="514350">
                  <a:moveTo>
                    <a:pt x="361950" y="0"/>
                  </a:moveTo>
                  <a:lnTo>
                    <a:pt x="584" y="0"/>
                  </a:lnTo>
                  <a:lnTo>
                    <a:pt x="584" y="1270"/>
                  </a:lnTo>
                  <a:lnTo>
                    <a:pt x="0" y="1270"/>
                  </a:lnTo>
                  <a:lnTo>
                    <a:pt x="0" y="513080"/>
                  </a:lnTo>
                  <a:lnTo>
                    <a:pt x="0" y="514350"/>
                  </a:lnTo>
                  <a:lnTo>
                    <a:pt x="361950" y="514350"/>
                  </a:lnTo>
                  <a:lnTo>
                    <a:pt x="361950" y="513080"/>
                  </a:lnTo>
                  <a:lnTo>
                    <a:pt x="361950" y="12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D8D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66934" y="3356448"/>
            <a:ext cx="1908810" cy="3282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155" dirty="0">
                <a:solidFill>
                  <a:srgbClr val="D8D5CE"/>
                </a:solidFill>
                <a:latin typeface="Calibri"/>
                <a:cs typeface="Calibri"/>
              </a:rPr>
              <a:t>MySQL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550" spc="-20" dirty="0">
                <a:solidFill>
                  <a:srgbClr val="D8D5CE"/>
                </a:solidFill>
                <a:latin typeface="Verdana"/>
                <a:cs typeface="Verdana"/>
              </a:rPr>
              <a:t>Database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used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store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details,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OTPs,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login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records.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62325" y="3914775"/>
            <a:ext cx="5467350" cy="542925"/>
            <a:chOff x="3362325" y="3914775"/>
            <a:chExt cx="5467350" cy="542925"/>
          </a:xfrm>
        </p:grpSpPr>
        <p:sp>
          <p:nvSpPr>
            <p:cNvPr id="22" name="object 22"/>
            <p:cNvSpPr/>
            <p:nvPr/>
          </p:nvSpPr>
          <p:spPr>
            <a:xfrm>
              <a:off x="3367087" y="3919537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7"/>
                  </a:lnTo>
                  <a:lnTo>
                    <a:pt x="0" y="4724"/>
                  </a:lnTo>
                  <a:lnTo>
                    <a:pt x="0" y="526872"/>
                  </a:lnTo>
                  <a:lnTo>
                    <a:pt x="0" y="528675"/>
                  </a:lnTo>
                  <a:lnTo>
                    <a:pt x="635" y="530212"/>
                  </a:lnTo>
                  <a:lnTo>
                    <a:pt x="3187" y="532765"/>
                  </a:lnTo>
                  <a:lnTo>
                    <a:pt x="4724" y="533400"/>
                  </a:lnTo>
                  <a:lnTo>
                    <a:pt x="5453100" y="533400"/>
                  </a:lnTo>
                  <a:lnTo>
                    <a:pt x="5454637" y="532765"/>
                  </a:lnTo>
                  <a:lnTo>
                    <a:pt x="5457190" y="530212"/>
                  </a:lnTo>
                  <a:lnTo>
                    <a:pt x="5457825" y="528675"/>
                  </a:lnTo>
                  <a:lnTo>
                    <a:pt x="5457825" y="4724"/>
                  </a:lnTo>
                  <a:lnTo>
                    <a:pt x="5457190" y="3187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67087" y="3919537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0" y="526872"/>
                  </a:moveTo>
                  <a:lnTo>
                    <a:pt x="0" y="6527"/>
                  </a:lnTo>
                  <a:lnTo>
                    <a:pt x="0" y="4724"/>
                  </a:lnTo>
                  <a:lnTo>
                    <a:pt x="635" y="3187"/>
                  </a:lnTo>
                  <a:lnTo>
                    <a:pt x="1905" y="1905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05"/>
                  </a:lnTo>
                  <a:lnTo>
                    <a:pt x="5457190" y="3187"/>
                  </a:lnTo>
                  <a:lnTo>
                    <a:pt x="5457825" y="4724"/>
                  </a:lnTo>
                  <a:lnTo>
                    <a:pt x="5457825" y="6527"/>
                  </a:lnTo>
                  <a:lnTo>
                    <a:pt x="5457825" y="526872"/>
                  </a:lnTo>
                  <a:lnTo>
                    <a:pt x="5457825" y="528675"/>
                  </a:lnTo>
                  <a:lnTo>
                    <a:pt x="5457190" y="530212"/>
                  </a:lnTo>
                  <a:lnTo>
                    <a:pt x="5455920" y="531495"/>
                  </a:lnTo>
                  <a:lnTo>
                    <a:pt x="5454637" y="532765"/>
                  </a:lnTo>
                  <a:lnTo>
                    <a:pt x="5453100" y="533400"/>
                  </a:lnTo>
                  <a:lnTo>
                    <a:pt x="5451297" y="533400"/>
                  </a:lnTo>
                  <a:lnTo>
                    <a:pt x="6527" y="533400"/>
                  </a:lnTo>
                  <a:lnTo>
                    <a:pt x="4724" y="533400"/>
                  </a:lnTo>
                  <a:lnTo>
                    <a:pt x="3187" y="532765"/>
                  </a:lnTo>
                  <a:lnTo>
                    <a:pt x="1905" y="531495"/>
                  </a:lnTo>
                  <a:lnTo>
                    <a:pt x="635" y="530212"/>
                  </a:lnTo>
                  <a:lnTo>
                    <a:pt x="0" y="528675"/>
                  </a:lnTo>
                  <a:lnTo>
                    <a:pt x="0" y="526872"/>
                  </a:lnTo>
                  <a:close/>
                </a:path>
              </a:pathLst>
            </a:custGeom>
            <a:ln w="9525">
              <a:solidFill>
                <a:srgbClr val="2A2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71850" y="3924312"/>
              <a:ext cx="361950" cy="523240"/>
            </a:xfrm>
            <a:custGeom>
              <a:avLst/>
              <a:gdLst/>
              <a:ahLst/>
              <a:cxnLst/>
              <a:rect l="l" t="t" r="r" b="b"/>
              <a:pathLst>
                <a:path w="361950" h="523239">
                  <a:moveTo>
                    <a:pt x="361950" y="0"/>
                  </a:moveTo>
                  <a:lnTo>
                    <a:pt x="0" y="0"/>
                  </a:lnTo>
                  <a:lnTo>
                    <a:pt x="0" y="521970"/>
                  </a:lnTo>
                  <a:lnTo>
                    <a:pt x="0" y="523240"/>
                  </a:lnTo>
                  <a:lnTo>
                    <a:pt x="361950" y="523240"/>
                  </a:lnTo>
                  <a:lnTo>
                    <a:pt x="361950" y="5219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66934" y="3946998"/>
            <a:ext cx="1754505" cy="3282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70" dirty="0">
                <a:solidFill>
                  <a:srgbClr val="D8D5CE"/>
                </a:solidFill>
                <a:latin typeface="Calibri"/>
                <a:cs typeface="Calibri"/>
              </a:rPr>
              <a:t>Jakarta</a:t>
            </a:r>
            <a:r>
              <a:rPr sz="90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80" dirty="0">
                <a:solidFill>
                  <a:srgbClr val="D8D5CE"/>
                </a:solidFill>
                <a:latin typeface="Calibri"/>
                <a:cs typeface="Calibri"/>
              </a:rPr>
              <a:t>Mail</a:t>
            </a:r>
            <a:r>
              <a:rPr sz="900" spc="-1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110" dirty="0">
                <a:solidFill>
                  <a:srgbClr val="D8D5CE"/>
                </a:solidFill>
                <a:latin typeface="Calibri"/>
                <a:cs typeface="Calibri"/>
              </a:rPr>
              <a:t>API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Library</a:t>
            </a:r>
            <a:r>
              <a:rPr sz="5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used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5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send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5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emails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users</a:t>
            </a:r>
            <a:r>
              <a:rPr sz="5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20" dirty="0">
                <a:solidFill>
                  <a:srgbClr val="D8D5CE"/>
                </a:solidFill>
                <a:latin typeface="Verdana"/>
                <a:cs typeface="Verdana"/>
              </a:rPr>
              <a:t>automatically.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62325" y="4505325"/>
            <a:ext cx="5467350" cy="542925"/>
            <a:chOff x="3362325" y="4505325"/>
            <a:chExt cx="5467350" cy="542925"/>
          </a:xfrm>
        </p:grpSpPr>
        <p:sp>
          <p:nvSpPr>
            <p:cNvPr id="27" name="object 27"/>
            <p:cNvSpPr/>
            <p:nvPr/>
          </p:nvSpPr>
          <p:spPr>
            <a:xfrm>
              <a:off x="3367087" y="4510087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7"/>
                  </a:lnTo>
                  <a:lnTo>
                    <a:pt x="0" y="4711"/>
                  </a:lnTo>
                  <a:lnTo>
                    <a:pt x="0" y="526872"/>
                  </a:lnTo>
                  <a:lnTo>
                    <a:pt x="0" y="528675"/>
                  </a:lnTo>
                  <a:lnTo>
                    <a:pt x="635" y="530212"/>
                  </a:lnTo>
                  <a:lnTo>
                    <a:pt x="3187" y="532765"/>
                  </a:lnTo>
                  <a:lnTo>
                    <a:pt x="4724" y="533400"/>
                  </a:lnTo>
                  <a:lnTo>
                    <a:pt x="5453100" y="533400"/>
                  </a:lnTo>
                  <a:lnTo>
                    <a:pt x="5454637" y="532765"/>
                  </a:lnTo>
                  <a:lnTo>
                    <a:pt x="5457190" y="530212"/>
                  </a:lnTo>
                  <a:lnTo>
                    <a:pt x="5457825" y="528675"/>
                  </a:lnTo>
                  <a:lnTo>
                    <a:pt x="5457825" y="4711"/>
                  </a:lnTo>
                  <a:lnTo>
                    <a:pt x="5457190" y="3187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67087" y="4510087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0" y="526872"/>
                  </a:moveTo>
                  <a:lnTo>
                    <a:pt x="0" y="6527"/>
                  </a:lnTo>
                  <a:lnTo>
                    <a:pt x="0" y="4711"/>
                  </a:lnTo>
                  <a:lnTo>
                    <a:pt x="635" y="3187"/>
                  </a:lnTo>
                  <a:lnTo>
                    <a:pt x="1905" y="1905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05"/>
                  </a:lnTo>
                  <a:lnTo>
                    <a:pt x="5457190" y="3187"/>
                  </a:lnTo>
                  <a:lnTo>
                    <a:pt x="5457825" y="4711"/>
                  </a:lnTo>
                  <a:lnTo>
                    <a:pt x="5457825" y="6527"/>
                  </a:lnTo>
                  <a:lnTo>
                    <a:pt x="5457825" y="526872"/>
                  </a:lnTo>
                  <a:lnTo>
                    <a:pt x="5457825" y="528675"/>
                  </a:lnTo>
                  <a:lnTo>
                    <a:pt x="5457190" y="530212"/>
                  </a:lnTo>
                  <a:lnTo>
                    <a:pt x="5455920" y="531495"/>
                  </a:lnTo>
                  <a:lnTo>
                    <a:pt x="5454637" y="532765"/>
                  </a:lnTo>
                  <a:lnTo>
                    <a:pt x="5453100" y="533400"/>
                  </a:lnTo>
                  <a:lnTo>
                    <a:pt x="5451297" y="533400"/>
                  </a:lnTo>
                  <a:lnTo>
                    <a:pt x="6527" y="533400"/>
                  </a:lnTo>
                  <a:lnTo>
                    <a:pt x="4724" y="533400"/>
                  </a:lnTo>
                  <a:lnTo>
                    <a:pt x="3187" y="532765"/>
                  </a:lnTo>
                  <a:lnTo>
                    <a:pt x="1905" y="531495"/>
                  </a:lnTo>
                  <a:lnTo>
                    <a:pt x="635" y="530212"/>
                  </a:lnTo>
                  <a:lnTo>
                    <a:pt x="0" y="528675"/>
                  </a:lnTo>
                  <a:lnTo>
                    <a:pt x="0" y="526872"/>
                  </a:lnTo>
                  <a:close/>
                </a:path>
              </a:pathLst>
            </a:custGeom>
            <a:ln w="9525">
              <a:solidFill>
                <a:srgbClr val="8E89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71850" y="4514862"/>
              <a:ext cx="361950" cy="523240"/>
            </a:xfrm>
            <a:custGeom>
              <a:avLst/>
              <a:gdLst/>
              <a:ahLst/>
              <a:cxnLst/>
              <a:rect l="l" t="t" r="r" b="b"/>
              <a:pathLst>
                <a:path w="361950" h="523239">
                  <a:moveTo>
                    <a:pt x="361950" y="0"/>
                  </a:moveTo>
                  <a:lnTo>
                    <a:pt x="0" y="0"/>
                  </a:lnTo>
                  <a:lnTo>
                    <a:pt x="0" y="521970"/>
                  </a:lnTo>
                  <a:lnTo>
                    <a:pt x="0" y="523240"/>
                  </a:lnTo>
                  <a:lnTo>
                    <a:pt x="361950" y="523240"/>
                  </a:lnTo>
                  <a:lnTo>
                    <a:pt x="361950" y="5219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8E89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66934" y="4512353"/>
            <a:ext cx="1708150" cy="3536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95" dirty="0">
                <a:solidFill>
                  <a:srgbClr val="D8D5CE"/>
                </a:solidFill>
                <a:latin typeface="Calibri"/>
                <a:cs typeface="Calibri"/>
              </a:rPr>
              <a:t>BCrypt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Algorithm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used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securely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25" dirty="0">
                <a:solidFill>
                  <a:srgbClr val="D8D5CE"/>
                </a:solidFill>
                <a:latin typeface="Verdana"/>
                <a:cs typeface="Verdana"/>
              </a:rPr>
              <a:t>hash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store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20" dirty="0">
                <a:solidFill>
                  <a:srgbClr val="D8D5CE"/>
                </a:solidFill>
                <a:latin typeface="Verdana"/>
                <a:cs typeface="Verdana"/>
              </a:rPr>
              <a:t>passwords.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362325" y="5086350"/>
            <a:ext cx="5467350" cy="542925"/>
            <a:chOff x="3362325" y="5086350"/>
            <a:chExt cx="5467350" cy="542925"/>
          </a:xfrm>
        </p:grpSpPr>
        <p:sp>
          <p:nvSpPr>
            <p:cNvPr id="32" name="object 32"/>
            <p:cNvSpPr/>
            <p:nvPr/>
          </p:nvSpPr>
          <p:spPr>
            <a:xfrm>
              <a:off x="3367087" y="509111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7"/>
                  </a:lnTo>
                  <a:lnTo>
                    <a:pt x="0" y="4711"/>
                  </a:lnTo>
                  <a:lnTo>
                    <a:pt x="0" y="526876"/>
                  </a:lnTo>
                  <a:lnTo>
                    <a:pt x="0" y="528676"/>
                  </a:lnTo>
                  <a:lnTo>
                    <a:pt x="635" y="530214"/>
                  </a:lnTo>
                  <a:lnTo>
                    <a:pt x="3187" y="532759"/>
                  </a:lnTo>
                  <a:lnTo>
                    <a:pt x="4724" y="533400"/>
                  </a:lnTo>
                  <a:lnTo>
                    <a:pt x="5453100" y="533400"/>
                  </a:lnTo>
                  <a:lnTo>
                    <a:pt x="5454637" y="532759"/>
                  </a:lnTo>
                  <a:lnTo>
                    <a:pt x="5457190" y="530214"/>
                  </a:lnTo>
                  <a:lnTo>
                    <a:pt x="5457825" y="528676"/>
                  </a:lnTo>
                  <a:lnTo>
                    <a:pt x="5457825" y="4711"/>
                  </a:lnTo>
                  <a:lnTo>
                    <a:pt x="5457190" y="3187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67087" y="509111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0" y="526876"/>
                  </a:moveTo>
                  <a:lnTo>
                    <a:pt x="0" y="6527"/>
                  </a:lnTo>
                  <a:lnTo>
                    <a:pt x="0" y="4711"/>
                  </a:lnTo>
                  <a:lnTo>
                    <a:pt x="635" y="3187"/>
                  </a:lnTo>
                  <a:lnTo>
                    <a:pt x="1905" y="1905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05"/>
                  </a:lnTo>
                  <a:lnTo>
                    <a:pt x="5457190" y="3187"/>
                  </a:lnTo>
                  <a:lnTo>
                    <a:pt x="5457825" y="4711"/>
                  </a:lnTo>
                  <a:lnTo>
                    <a:pt x="5457825" y="6527"/>
                  </a:lnTo>
                  <a:lnTo>
                    <a:pt x="5457825" y="526876"/>
                  </a:lnTo>
                  <a:lnTo>
                    <a:pt x="5457825" y="528676"/>
                  </a:lnTo>
                  <a:lnTo>
                    <a:pt x="5457190" y="530214"/>
                  </a:lnTo>
                  <a:lnTo>
                    <a:pt x="5455920" y="531489"/>
                  </a:lnTo>
                  <a:lnTo>
                    <a:pt x="5454637" y="532759"/>
                  </a:lnTo>
                  <a:lnTo>
                    <a:pt x="5453100" y="533400"/>
                  </a:lnTo>
                  <a:lnTo>
                    <a:pt x="5451297" y="533400"/>
                  </a:lnTo>
                  <a:lnTo>
                    <a:pt x="6527" y="533400"/>
                  </a:lnTo>
                  <a:lnTo>
                    <a:pt x="4724" y="533400"/>
                  </a:lnTo>
                  <a:lnTo>
                    <a:pt x="3187" y="532759"/>
                  </a:lnTo>
                  <a:lnTo>
                    <a:pt x="1905" y="531489"/>
                  </a:lnTo>
                  <a:lnTo>
                    <a:pt x="635" y="530214"/>
                  </a:lnTo>
                  <a:lnTo>
                    <a:pt x="0" y="528676"/>
                  </a:lnTo>
                  <a:lnTo>
                    <a:pt x="0" y="526876"/>
                  </a:lnTo>
                  <a:close/>
                </a:path>
              </a:pathLst>
            </a:custGeom>
            <a:ln w="9525">
              <a:solidFill>
                <a:srgbClr val="09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850" y="5095252"/>
              <a:ext cx="361950" cy="524510"/>
            </a:xfrm>
            <a:custGeom>
              <a:avLst/>
              <a:gdLst/>
              <a:ahLst/>
              <a:cxnLst/>
              <a:rect l="l" t="t" r="r" b="b"/>
              <a:pathLst>
                <a:path w="361950" h="524510">
                  <a:moveTo>
                    <a:pt x="361950" y="0"/>
                  </a:moveTo>
                  <a:lnTo>
                    <a:pt x="584" y="0"/>
                  </a:lnTo>
                  <a:lnTo>
                    <a:pt x="584" y="1270"/>
                  </a:lnTo>
                  <a:lnTo>
                    <a:pt x="0" y="1270"/>
                  </a:lnTo>
                  <a:lnTo>
                    <a:pt x="0" y="523240"/>
                  </a:lnTo>
                  <a:lnTo>
                    <a:pt x="0" y="524510"/>
                  </a:lnTo>
                  <a:lnTo>
                    <a:pt x="361950" y="524510"/>
                  </a:lnTo>
                  <a:lnTo>
                    <a:pt x="361950" y="523240"/>
                  </a:lnTo>
                  <a:lnTo>
                    <a:pt x="361950" y="12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766934" y="5118573"/>
            <a:ext cx="1973580" cy="3282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70" dirty="0">
                <a:solidFill>
                  <a:srgbClr val="D8D5CE"/>
                </a:solidFill>
                <a:latin typeface="Calibri"/>
                <a:cs typeface="Calibri"/>
              </a:rPr>
              <a:t>Maven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Build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tool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that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25" dirty="0">
                <a:solidFill>
                  <a:srgbClr val="D8D5CE"/>
                </a:solidFill>
                <a:latin typeface="Verdana"/>
                <a:cs typeface="Verdana"/>
              </a:rPr>
              <a:t>manages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project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dependencies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packaging.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62325" y="5676900"/>
            <a:ext cx="5467350" cy="542925"/>
            <a:chOff x="3362325" y="5676900"/>
            <a:chExt cx="5467350" cy="542925"/>
          </a:xfrm>
        </p:grpSpPr>
        <p:sp>
          <p:nvSpPr>
            <p:cNvPr id="37" name="object 37"/>
            <p:cNvSpPr/>
            <p:nvPr/>
          </p:nvSpPr>
          <p:spPr>
            <a:xfrm>
              <a:off x="3367087" y="568166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5"/>
                  </a:lnTo>
                  <a:lnTo>
                    <a:pt x="0" y="4718"/>
                  </a:lnTo>
                  <a:lnTo>
                    <a:pt x="0" y="526876"/>
                  </a:lnTo>
                  <a:lnTo>
                    <a:pt x="0" y="528676"/>
                  </a:lnTo>
                  <a:lnTo>
                    <a:pt x="635" y="530214"/>
                  </a:lnTo>
                  <a:lnTo>
                    <a:pt x="3187" y="532759"/>
                  </a:lnTo>
                  <a:lnTo>
                    <a:pt x="4724" y="533400"/>
                  </a:lnTo>
                  <a:lnTo>
                    <a:pt x="5453100" y="533400"/>
                  </a:lnTo>
                  <a:lnTo>
                    <a:pt x="5454637" y="532759"/>
                  </a:lnTo>
                  <a:lnTo>
                    <a:pt x="5457190" y="530214"/>
                  </a:lnTo>
                  <a:lnTo>
                    <a:pt x="5457825" y="528676"/>
                  </a:lnTo>
                  <a:lnTo>
                    <a:pt x="5457825" y="4718"/>
                  </a:lnTo>
                  <a:lnTo>
                    <a:pt x="5457190" y="3185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67087" y="5681662"/>
              <a:ext cx="5457825" cy="533400"/>
            </a:xfrm>
            <a:custGeom>
              <a:avLst/>
              <a:gdLst/>
              <a:ahLst/>
              <a:cxnLst/>
              <a:rect l="l" t="t" r="r" b="b"/>
              <a:pathLst>
                <a:path w="5457825" h="533400">
                  <a:moveTo>
                    <a:pt x="0" y="526876"/>
                  </a:moveTo>
                  <a:lnTo>
                    <a:pt x="0" y="6523"/>
                  </a:lnTo>
                  <a:lnTo>
                    <a:pt x="0" y="4718"/>
                  </a:lnTo>
                  <a:lnTo>
                    <a:pt x="635" y="3185"/>
                  </a:lnTo>
                  <a:lnTo>
                    <a:pt x="1905" y="1910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10"/>
                  </a:lnTo>
                  <a:lnTo>
                    <a:pt x="5457190" y="3185"/>
                  </a:lnTo>
                  <a:lnTo>
                    <a:pt x="5457825" y="4718"/>
                  </a:lnTo>
                  <a:lnTo>
                    <a:pt x="5457825" y="6523"/>
                  </a:lnTo>
                  <a:lnTo>
                    <a:pt x="5457825" y="526876"/>
                  </a:lnTo>
                  <a:lnTo>
                    <a:pt x="5457825" y="528676"/>
                  </a:lnTo>
                  <a:lnTo>
                    <a:pt x="5457190" y="530214"/>
                  </a:lnTo>
                  <a:lnTo>
                    <a:pt x="5455920" y="531489"/>
                  </a:lnTo>
                  <a:lnTo>
                    <a:pt x="5454637" y="532759"/>
                  </a:lnTo>
                  <a:lnTo>
                    <a:pt x="5453100" y="533400"/>
                  </a:lnTo>
                  <a:lnTo>
                    <a:pt x="5451297" y="533400"/>
                  </a:lnTo>
                  <a:lnTo>
                    <a:pt x="6527" y="533400"/>
                  </a:lnTo>
                  <a:lnTo>
                    <a:pt x="4724" y="533400"/>
                  </a:lnTo>
                  <a:lnTo>
                    <a:pt x="3187" y="532759"/>
                  </a:lnTo>
                  <a:lnTo>
                    <a:pt x="1905" y="531489"/>
                  </a:lnTo>
                  <a:lnTo>
                    <a:pt x="635" y="530214"/>
                  </a:lnTo>
                  <a:lnTo>
                    <a:pt x="0" y="528676"/>
                  </a:lnTo>
                  <a:lnTo>
                    <a:pt x="0" y="526876"/>
                  </a:lnTo>
                  <a:close/>
                </a:path>
              </a:pathLst>
            </a:custGeom>
            <a:ln w="9525">
              <a:solidFill>
                <a:srgbClr val="2A2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850" y="5685802"/>
              <a:ext cx="361950" cy="524510"/>
            </a:xfrm>
            <a:custGeom>
              <a:avLst/>
              <a:gdLst/>
              <a:ahLst/>
              <a:cxnLst/>
              <a:rect l="l" t="t" r="r" b="b"/>
              <a:pathLst>
                <a:path w="361950" h="524510">
                  <a:moveTo>
                    <a:pt x="361950" y="0"/>
                  </a:moveTo>
                  <a:lnTo>
                    <a:pt x="584" y="0"/>
                  </a:lnTo>
                  <a:lnTo>
                    <a:pt x="584" y="1270"/>
                  </a:lnTo>
                  <a:lnTo>
                    <a:pt x="0" y="1270"/>
                  </a:lnTo>
                  <a:lnTo>
                    <a:pt x="0" y="523240"/>
                  </a:lnTo>
                  <a:lnTo>
                    <a:pt x="0" y="524510"/>
                  </a:lnTo>
                  <a:lnTo>
                    <a:pt x="361950" y="524510"/>
                  </a:lnTo>
                  <a:lnTo>
                    <a:pt x="361950" y="523240"/>
                  </a:lnTo>
                  <a:lnTo>
                    <a:pt x="361950" y="12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766934" y="5683928"/>
            <a:ext cx="1739264" cy="3536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204" dirty="0">
                <a:solidFill>
                  <a:srgbClr val="D8D5CE"/>
                </a:solidFill>
                <a:latin typeface="Calibri"/>
                <a:cs typeface="Calibri"/>
              </a:rPr>
              <a:t>HTML</a:t>
            </a:r>
            <a:r>
              <a:rPr sz="900" spc="-2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55" dirty="0">
                <a:solidFill>
                  <a:srgbClr val="D8D5CE"/>
                </a:solidFill>
                <a:latin typeface="Calibri"/>
                <a:cs typeface="Calibri"/>
              </a:rPr>
              <a:t>/</a:t>
            </a:r>
            <a:r>
              <a:rPr sz="90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195" dirty="0">
                <a:solidFill>
                  <a:srgbClr val="D8D5CE"/>
                </a:solidFill>
                <a:latin typeface="Calibri"/>
                <a:cs typeface="Calibri"/>
              </a:rPr>
              <a:t>CSS</a:t>
            </a:r>
            <a:r>
              <a:rPr sz="90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55" dirty="0">
                <a:solidFill>
                  <a:srgbClr val="D8D5CE"/>
                </a:solidFill>
                <a:latin typeface="Calibri"/>
                <a:cs typeface="Calibri"/>
              </a:rPr>
              <a:t>/</a:t>
            </a:r>
            <a:r>
              <a:rPr sz="900" spc="-1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130" dirty="0">
                <a:solidFill>
                  <a:srgbClr val="D8D5CE"/>
                </a:solidFill>
                <a:latin typeface="Calibri"/>
                <a:cs typeface="Calibri"/>
              </a:rPr>
              <a:t>JS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Frontend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technologies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used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create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50" dirty="0">
                <a:solidFill>
                  <a:srgbClr val="D8D5CE"/>
                </a:solidFill>
                <a:latin typeface="Verdana"/>
                <a:cs typeface="Verdana"/>
              </a:rPr>
              <a:t>web</a:t>
            </a: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20" dirty="0">
                <a:solidFill>
                  <a:srgbClr val="D8D5CE"/>
                </a:solidFill>
                <a:latin typeface="Verdana"/>
                <a:cs typeface="Verdana"/>
              </a:rPr>
              <a:t>interface.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362325" y="6267450"/>
            <a:ext cx="5467350" cy="533400"/>
            <a:chOff x="3362325" y="6267450"/>
            <a:chExt cx="5467350" cy="533400"/>
          </a:xfrm>
        </p:grpSpPr>
        <p:sp>
          <p:nvSpPr>
            <p:cNvPr id="42" name="object 42"/>
            <p:cNvSpPr/>
            <p:nvPr/>
          </p:nvSpPr>
          <p:spPr>
            <a:xfrm>
              <a:off x="3367087" y="6272212"/>
              <a:ext cx="5457825" cy="523875"/>
            </a:xfrm>
            <a:custGeom>
              <a:avLst/>
              <a:gdLst/>
              <a:ahLst/>
              <a:cxnLst/>
              <a:rect l="l" t="t" r="r" b="b"/>
              <a:pathLst>
                <a:path w="5457825" h="523875">
                  <a:moveTo>
                    <a:pt x="5453100" y="0"/>
                  </a:moveTo>
                  <a:lnTo>
                    <a:pt x="4724" y="0"/>
                  </a:lnTo>
                  <a:lnTo>
                    <a:pt x="3187" y="635"/>
                  </a:lnTo>
                  <a:lnTo>
                    <a:pt x="635" y="3185"/>
                  </a:lnTo>
                  <a:lnTo>
                    <a:pt x="0" y="4718"/>
                  </a:lnTo>
                  <a:lnTo>
                    <a:pt x="0" y="517351"/>
                  </a:lnTo>
                  <a:lnTo>
                    <a:pt x="0" y="519152"/>
                  </a:lnTo>
                  <a:lnTo>
                    <a:pt x="635" y="520690"/>
                  </a:lnTo>
                  <a:lnTo>
                    <a:pt x="3187" y="523240"/>
                  </a:lnTo>
                  <a:lnTo>
                    <a:pt x="4724" y="523875"/>
                  </a:lnTo>
                  <a:lnTo>
                    <a:pt x="5453100" y="523875"/>
                  </a:lnTo>
                  <a:lnTo>
                    <a:pt x="5454637" y="523240"/>
                  </a:lnTo>
                  <a:lnTo>
                    <a:pt x="5457190" y="520690"/>
                  </a:lnTo>
                  <a:lnTo>
                    <a:pt x="5457825" y="519152"/>
                  </a:lnTo>
                  <a:lnTo>
                    <a:pt x="5457825" y="4718"/>
                  </a:lnTo>
                  <a:lnTo>
                    <a:pt x="5457190" y="3185"/>
                  </a:lnTo>
                  <a:lnTo>
                    <a:pt x="5454637" y="635"/>
                  </a:lnTo>
                  <a:lnTo>
                    <a:pt x="545310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67087" y="6272212"/>
              <a:ext cx="5457825" cy="523875"/>
            </a:xfrm>
            <a:custGeom>
              <a:avLst/>
              <a:gdLst/>
              <a:ahLst/>
              <a:cxnLst/>
              <a:rect l="l" t="t" r="r" b="b"/>
              <a:pathLst>
                <a:path w="5457825" h="523875">
                  <a:moveTo>
                    <a:pt x="0" y="517351"/>
                  </a:moveTo>
                  <a:lnTo>
                    <a:pt x="0" y="6523"/>
                  </a:lnTo>
                  <a:lnTo>
                    <a:pt x="0" y="4718"/>
                  </a:lnTo>
                  <a:lnTo>
                    <a:pt x="635" y="3185"/>
                  </a:lnTo>
                  <a:lnTo>
                    <a:pt x="1905" y="1910"/>
                  </a:lnTo>
                  <a:lnTo>
                    <a:pt x="3187" y="635"/>
                  </a:lnTo>
                  <a:lnTo>
                    <a:pt x="4724" y="0"/>
                  </a:lnTo>
                  <a:lnTo>
                    <a:pt x="6527" y="0"/>
                  </a:lnTo>
                  <a:lnTo>
                    <a:pt x="5451297" y="0"/>
                  </a:lnTo>
                  <a:lnTo>
                    <a:pt x="5453100" y="0"/>
                  </a:lnTo>
                  <a:lnTo>
                    <a:pt x="5454637" y="635"/>
                  </a:lnTo>
                  <a:lnTo>
                    <a:pt x="5455920" y="1910"/>
                  </a:lnTo>
                  <a:lnTo>
                    <a:pt x="5457190" y="3185"/>
                  </a:lnTo>
                  <a:lnTo>
                    <a:pt x="5457825" y="4718"/>
                  </a:lnTo>
                  <a:lnTo>
                    <a:pt x="5457825" y="6523"/>
                  </a:lnTo>
                  <a:lnTo>
                    <a:pt x="5457825" y="517351"/>
                  </a:lnTo>
                  <a:lnTo>
                    <a:pt x="5457825" y="519152"/>
                  </a:lnTo>
                  <a:lnTo>
                    <a:pt x="5457190" y="520690"/>
                  </a:lnTo>
                  <a:lnTo>
                    <a:pt x="5455920" y="521965"/>
                  </a:lnTo>
                  <a:lnTo>
                    <a:pt x="5454637" y="523240"/>
                  </a:lnTo>
                  <a:lnTo>
                    <a:pt x="5453100" y="523875"/>
                  </a:lnTo>
                  <a:lnTo>
                    <a:pt x="5451297" y="523875"/>
                  </a:lnTo>
                  <a:lnTo>
                    <a:pt x="6527" y="523875"/>
                  </a:lnTo>
                  <a:lnTo>
                    <a:pt x="4724" y="523875"/>
                  </a:lnTo>
                  <a:lnTo>
                    <a:pt x="3187" y="523240"/>
                  </a:lnTo>
                  <a:lnTo>
                    <a:pt x="1905" y="521965"/>
                  </a:lnTo>
                  <a:lnTo>
                    <a:pt x="635" y="520690"/>
                  </a:lnTo>
                  <a:lnTo>
                    <a:pt x="0" y="519152"/>
                  </a:lnTo>
                  <a:lnTo>
                    <a:pt x="0" y="517351"/>
                  </a:lnTo>
                  <a:close/>
                </a:path>
              </a:pathLst>
            </a:custGeom>
            <a:ln w="9525">
              <a:solidFill>
                <a:srgbClr val="C9B7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71850" y="6276352"/>
              <a:ext cx="361950" cy="514350"/>
            </a:xfrm>
            <a:custGeom>
              <a:avLst/>
              <a:gdLst/>
              <a:ahLst/>
              <a:cxnLst/>
              <a:rect l="l" t="t" r="r" b="b"/>
              <a:pathLst>
                <a:path w="361950" h="514350">
                  <a:moveTo>
                    <a:pt x="361950" y="0"/>
                  </a:moveTo>
                  <a:lnTo>
                    <a:pt x="584" y="0"/>
                  </a:lnTo>
                  <a:lnTo>
                    <a:pt x="584" y="1270"/>
                  </a:lnTo>
                  <a:lnTo>
                    <a:pt x="0" y="1270"/>
                  </a:lnTo>
                  <a:lnTo>
                    <a:pt x="0" y="513080"/>
                  </a:lnTo>
                  <a:lnTo>
                    <a:pt x="0" y="514350"/>
                  </a:lnTo>
                  <a:lnTo>
                    <a:pt x="361950" y="514350"/>
                  </a:lnTo>
                  <a:lnTo>
                    <a:pt x="361950" y="513080"/>
                  </a:lnTo>
                  <a:lnTo>
                    <a:pt x="361950" y="127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C9B7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766934" y="6290148"/>
            <a:ext cx="2193925" cy="3282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80" dirty="0">
                <a:solidFill>
                  <a:srgbClr val="D8D5CE"/>
                </a:solidFill>
                <a:latin typeface="Calibri"/>
                <a:cs typeface="Calibri"/>
              </a:rPr>
              <a:t>JUnit</a:t>
            </a:r>
            <a:r>
              <a:rPr sz="90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150" dirty="0">
                <a:solidFill>
                  <a:srgbClr val="D8D5CE"/>
                </a:solidFill>
                <a:latin typeface="Calibri"/>
                <a:cs typeface="Calibri"/>
              </a:rPr>
              <a:t>&amp;</a:t>
            </a:r>
            <a:r>
              <a:rPr sz="90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900" spc="60" dirty="0">
                <a:solidFill>
                  <a:srgbClr val="D8D5CE"/>
                </a:solidFill>
                <a:latin typeface="Calibri"/>
                <a:cs typeface="Calibri"/>
              </a:rPr>
              <a:t>Mockito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550" spc="-45" dirty="0">
                <a:solidFill>
                  <a:srgbClr val="D8D5CE"/>
                </a:solidFill>
                <a:latin typeface="Verdana"/>
                <a:cs typeface="Verdana"/>
              </a:rPr>
              <a:t>Testing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frameworks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used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write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run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unit</a:t>
            </a:r>
            <a:r>
              <a:rPr sz="5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tests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40" dirty="0">
                <a:solidFill>
                  <a:srgbClr val="D8D5CE"/>
                </a:solidFill>
                <a:latin typeface="Verdana"/>
                <a:cs typeface="Verdana"/>
              </a:rPr>
              <a:t>for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3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5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550" spc="-10" dirty="0">
                <a:solidFill>
                  <a:srgbClr val="D8D5CE"/>
                </a:solidFill>
                <a:latin typeface="Verdana"/>
                <a:cs typeface="Verdana"/>
              </a:rPr>
              <a:t>application.</a:t>
            </a:r>
            <a:endParaRPr sz="550">
              <a:latin typeface="Verdana"/>
              <a:cs typeface="Verdana"/>
            </a:endParaRPr>
          </a:p>
        </p:txBody>
      </p:sp>
      <p:pic>
        <p:nvPicPr>
          <p:cNvPr id="46" name="object 4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20200" y="6371716"/>
            <a:ext cx="2971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33637" y="519112"/>
            <a:ext cx="485775" cy="190500"/>
          </a:xfrm>
          <a:custGeom>
            <a:avLst/>
            <a:gdLst/>
            <a:ahLst/>
            <a:cxnLst/>
            <a:rect l="l" t="t" r="r" b="b"/>
            <a:pathLst>
              <a:path w="485775" h="190500">
                <a:moveTo>
                  <a:pt x="0" y="183134"/>
                </a:moveTo>
                <a:lnTo>
                  <a:pt x="0" y="7366"/>
                </a:lnTo>
                <a:lnTo>
                  <a:pt x="0" y="5334"/>
                </a:lnTo>
                <a:lnTo>
                  <a:pt x="723" y="3594"/>
                </a:lnTo>
                <a:lnTo>
                  <a:pt x="2159" y="2159"/>
                </a:lnTo>
                <a:lnTo>
                  <a:pt x="3594" y="723"/>
                </a:lnTo>
                <a:lnTo>
                  <a:pt x="5334" y="0"/>
                </a:lnTo>
                <a:lnTo>
                  <a:pt x="7366" y="0"/>
                </a:lnTo>
                <a:lnTo>
                  <a:pt x="478409" y="0"/>
                </a:lnTo>
                <a:lnTo>
                  <a:pt x="480441" y="0"/>
                </a:lnTo>
                <a:lnTo>
                  <a:pt x="482180" y="723"/>
                </a:lnTo>
                <a:lnTo>
                  <a:pt x="483616" y="2159"/>
                </a:lnTo>
                <a:lnTo>
                  <a:pt x="485051" y="3594"/>
                </a:lnTo>
                <a:lnTo>
                  <a:pt x="485775" y="5334"/>
                </a:lnTo>
                <a:lnTo>
                  <a:pt x="485775" y="7366"/>
                </a:lnTo>
                <a:lnTo>
                  <a:pt x="485775" y="183134"/>
                </a:lnTo>
                <a:lnTo>
                  <a:pt x="485775" y="185166"/>
                </a:lnTo>
                <a:lnTo>
                  <a:pt x="485051" y="186905"/>
                </a:lnTo>
                <a:lnTo>
                  <a:pt x="483616" y="188341"/>
                </a:lnTo>
                <a:lnTo>
                  <a:pt x="482180" y="189776"/>
                </a:lnTo>
                <a:lnTo>
                  <a:pt x="480441" y="190500"/>
                </a:lnTo>
                <a:lnTo>
                  <a:pt x="478409" y="190500"/>
                </a:lnTo>
                <a:lnTo>
                  <a:pt x="7366" y="190500"/>
                </a:lnTo>
                <a:lnTo>
                  <a:pt x="5334" y="190500"/>
                </a:lnTo>
                <a:lnTo>
                  <a:pt x="3594" y="189776"/>
                </a:lnTo>
                <a:lnTo>
                  <a:pt x="2159" y="188341"/>
                </a:lnTo>
                <a:lnTo>
                  <a:pt x="723" y="186905"/>
                </a:lnTo>
                <a:lnTo>
                  <a:pt x="0" y="185166"/>
                </a:lnTo>
                <a:lnTo>
                  <a:pt x="0" y="183134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94457" y="528510"/>
            <a:ext cx="362585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55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750" spc="-100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FFFFF0"/>
                </a:solidFill>
                <a:latin typeface="Verdana"/>
                <a:cs typeface="Verdana"/>
              </a:rPr>
              <a:t>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12161" y="715867"/>
            <a:ext cx="3006725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165" dirty="0"/>
              <a:t>System</a:t>
            </a:r>
            <a:r>
              <a:rPr sz="2500" spc="-60" dirty="0"/>
              <a:t> </a:t>
            </a:r>
            <a:r>
              <a:rPr sz="2500" spc="135" dirty="0"/>
              <a:t>Architecture</a:t>
            </a:r>
            <a:endParaRPr sz="2500"/>
          </a:p>
        </p:txBody>
      </p:sp>
      <p:sp>
        <p:nvSpPr>
          <p:cNvPr id="5" name="object 5"/>
          <p:cNvSpPr txBox="1"/>
          <p:nvPr/>
        </p:nvSpPr>
        <p:spPr>
          <a:xfrm>
            <a:off x="2412161" y="1247171"/>
            <a:ext cx="385445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6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9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75" dirty="0">
                <a:solidFill>
                  <a:srgbClr val="D8D5CE"/>
                </a:solidFill>
                <a:latin typeface="Verdana"/>
                <a:cs typeface="Verdana"/>
              </a:rPr>
              <a:t>system</a:t>
            </a:r>
            <a:r>
              <a:rPr sz="9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55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9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D8D5CE"/>
                </a:solidFill>
                <a:latin typeface="Verdana"/>
                <a:cs typeface="Verdana"/>
              </a:rPr>
              <a:t>divided</a:t>
            </a:r>
            <a:r>
              <a:rPr sz="9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D8D5CE"/>
                </a:solidFill>
                <a:latin typeface="Verdana"/>
                <a:cs typeface="Verdana"/>
              </a:rPr>
              <a:t>into</a:t>
            </a:r>
            <a:r>
              <a:rPr sz="9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D8D5CE"/>
                </a:solidFill>
                <a:latin typeface="Verdana"/>
                <a:cs typeface="Verdana"/>
              </a:rPr>
              <a:t>clean</a:t>
            </a:r>
            <a:r>
              <a:rPr sz="9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95" dirty="0">
                <a:solidFill>
                  <a:srgbClr val="D8D5CE"/>
                </a:solidFill>
                <a:latin typeface="Verdana"/>
                <a:cs typeface="Verdana"/>
              </a:rPr>
              <a:t>layers,</a:t>
            </a:r>
            <a:r>
              <a:rPr sz="9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40" dirty="0">
                <a:solidFill>
                  <a:srgbClr val="D8D5CE"/>
                </a:solidFill>
                <a:latin typeface="Verdana"/>
                <a:cs typeface="Verdana"/>
              </a:rPr>
              <a:t>each</a:t>
            </a:r>
            <a:r>
              <a:rPr sz="9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90" dirty="0">
                <a:solidFill>
                  <a:srgbClr val="D8D5CE"/>
                </a:solidFill>
                <a:latin typeface="Verdana"/>
                <a:cs typeface="Verdana"/>
              </a:rPr>
              <a:t>with</a:t>
            </a:r>
            <a:r>
              <a:rPr sz="9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9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45" dirty="0">
                <a:solidFill>
                  <a:srgbClr val="D8D5CE"/>
                </a:solidFill>
                <a:latin typeface="Verdana"/>
                <a:cs typeface="Verdana"/>
              </a:rPr>
              <a:t>specific</a:t>
            </a:r>
            <a:r>
              <a:rPr sz="9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950" spc="-65" dirty="0">
                <a:solidFill>
                  <a:srgbClr val="D8D5CE"/>
                </a:solidFill>
                <a:latin typeface="Verdana"/>
                <a:cs typeface="Verdana"/>
              </a:rPr>
              <a:t>responsibility: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87595" y="1967687"/>
            <a:ext cx="265430" cy="104775"/>
          </a:xfrm>
          <a:custGeom>
            <a:avLst/>
            <a:gdLst/>
            <a:ahLst/>
            <a:cxnLst/>
            <a:rect l="l" t="t" r="r" b="b"/>
            <a:pathLst>
              <a:path w="265429" h="104775">
                <a:moveTo>
                  <a:pt x="43751" y="0"/>
                </a:moveTo>
                <a:lnTo>
                  <a:pt x="40182" y="0"/>
                </a:lnTo>
                <a:lnTo>
                  <a:pt x="0" y="49872"/>
                </a:lnTo>
                <a:lnTo>
                  <a:pt x="0" y="54292"/>
                </a:lnTo>
                <a:lnTo>
                  <a:pt x="40182" y="104152"/>
                </a:lnTo>
                <a:lnTo>
                  <a:pt x="43751" y="104152"/>
                </a:lnTo>
                <a:lnTo>
                  <a:pt x="48133" y="98704"/>
                </a:lnTo>
                <a:lnTo>
                  <a:pt x="48133" y="94284"/>
                </a:lnTo>
                <a:lnTo>
                  <a:pt x="19748" y="59055"/>
                </a:lnTo>
                <a:lnTo>
                  <a:pt x="264858" y="59055"/>
                </a:lnTo>
                <a:lnTo>
                  <a:pt x="264858" y="45097"/>
                </a:lnTo>
                <a:lnTo>
                  <a:pt x="19748" y="45097"/>
                </a:lnTo>
                <a:lnTo>
                  <a:pt x="48133" y="9867"/>
                </a:lnTo>
                <a:lnTo>
                  <a:pt x="48133" y="5448"/>
                </a:lnTo>
                <a:lnTo>
                  <a:pt x="45935" y="2730"/>
                </a:lnTo>
                <a:lnTo>
                  <a:pt x="43751" y="0"/>
                </a:ln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59815" y="2518333"/>
            <a:ext cx="265430" cy="104775"/>
          </a:xfrm>
          <a:custGeom>
            <a:avLst/>
            <a:gdLst/>
            <a:ahLst/>
            <a:cxnLst/>
            <a:rect l="l" t="t" r="r" b="b"/>
            <a:pathLst>
              <a:path w="265429" h="104775">
                <a:moveTo>
                  <a:pt x="224675" y="0"/>
                </a:moveTo>
                <a:lnTo>
                  <a:pt x="221107" y="0"/>
                </a:lnTo>
                <a:lnTo>
                  <a:pt x="218922" y="2730"/>
                </a:lnTo>
                <a:lnTo>
                  <a:pt x="216725" y="5448"/>
                </a:lnTo>
                <a:lnTo>
                  <a:pt x="216725" y="9867"/>
                </a:lnTo>
                <a:lnTo>
                  <a:pt x="245110" y="45097"/>
                </a:lnTo>
                <a:lnTo>
                  <a:pt x="0" y="45097"/>
                </a:lnTo>
                <a:lnTo>
                  <a:pt x="0" y="59055"/>
                </a:lnTo>
                <a:lnTo>
                  <a:pt x="245110" y="59055"/>
                </a:lnTo>
                <a:lnTo>
                  <a:pt x="216725" y="94284"/>
                </a:lnTo>
                <a:lnTo>
                  <a:pt x="216725" y="98704"/>
                </a:lnTo>
                <a:lnTo>
                  <a:pt x="221107" y="104152"/>
                </a:lnTo>
                <a:lnTo>
                  <a:pt x="224675" y="104152"/>
                </a:lnTo>
                <a:lnTo>
                  <a:pt x="264858" y="54292"/>
                </a:lnTo>
                <a:lnTo>
                  <a:pt x="264858" y="49872"/>
                </a:lnTo>
                <a:lnTo>
                  <a:pt x="224675" y="0"/>
                </a:lnTo>
                <a:close/>
              </a:path>
            </a:pathLst>
          </a:custGeom>
          <a:solidFill>
            <a:srgbClr val="FAF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7595" y="3098342"/>
            <a:ext cx="265430" cy="104775"/>
          </a:xfrm>
          <a:custGeom>
            <a:avLst/>
            <a:gdLst/>
            <a:ahLst/>
            <a:cxnLst/>
            <a:rect l="l" t="t" r="r" b="b"/>
            <a:pathLst>
              <a:path w="265429" h="104775">
                <a:moveTo>
                  <a:pt x="43751" y="0"/>
                </a:moveTo>
                <a:lnTo>
                  <a:pt x="40182" y="0"/>
                </a:lnTo>
                <a:lnTo>
                  <a:pt x="0" y="49872"/>
                </a:lnTo>
                <a:lnTo>
                  <a:pt x="0" y="54292"/>
                </a:lnTo>
                <a:lnTo>
                  <a:pt x="40182" y="104152"/>
                </a:lnTo>
                <a:lnTo>
                  <a:pt x="43751" y="104165"/>
                </a:lnTo>
                <a:lnTo>
                  <a:pt x="45935" y="101422"/>
                </a:lnTo>
                <a:lnTo>
                  <a:pt x="48133" y="98704"/>
                </a:lnTo>
                <a:lnTo>
                  <a:pt x="48133" y="94297"/>
                </a:lnTo>
                <a:lnTo>
                  <a:pt x="19748" y="59055"/>
                </a:lnTo>
                <a:lnTo>
                  <a:pt x="264858" y="59055"/>
                </a:lnTo>
                <a:lnTo>
                  <a:pt x="264858" y="45097"/>
                </a:lnTo>
                <a:lnTo>
                  <a:pt x="19748" y="45097"/>
                </a:lnTo>
                <a:lnTo>
                  <a:pt x="48133" y="9867"/>
                </a:lnTo>
                <a:lnTo>
                  <a:pt x="48133" y="5448"/>
                </a:lnTo>
                <a:lnTo>
                  <a:pt x="45935" y="2730"/>
                </a:lnTo>
                <a:lnTo>
                  <a:pt x="43751" y="0"/>
                </a:lnTo>
                <a:close/>
              </a:path>
            </a:pathLst>
          </a:custGeom>
          <a:solidFill>
            <a:srgbClr val="FFFF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59815" y="3737102"/>
            <a:ext cx="265430" cy="104775"/>
          </a:xfrm>
          <a:custGeom>
            <a:avLst/>
            <a:gdLst/>
            <a:ahLst/>
            <a:cxnLst/>
            <a:rect l="l" t="t" r="r" b="b"/>
            <a:pathLst>
              <a:path w="265429" h="104775">
                <a:moveTo>
                  <a:pt x="224675" y="0"/>
                </a:moveTo>
                <a:lnTo>
                  <a:pt x="221107" y="0"/>
                </a:lnTo>
                <a:lnTo>
                  <a:pt x="218922" y="2717"/>
                </a:lnTo>
                <a:lnTo>
                  <a:pt x="216725" y="5448"/>
                </a:lnTo>
                <a:lnTo>
                  <a:pt x="216725" y="9867"/>
                </a:lnTo>
                <a:lnTo>
                  <a:pt x="245110" y="45097"/>
                </a:lnTo>
                <a:lnTo>
                  <a:pt x="0" y="45097"/>
                </a:lnTo>
                <a:lnTo>
                  <a:pt x="0" y="59042"/>
                </a:lnTo>
                <a:lnTo>
                  <a:pt x="245110" y="59042"/>
                </a:lnTo>
                <a:lnTo>
                  <a:pt x="216725" y="94284"/>
                </a:lnTo>
                <a:lnTo>
                  <a:pt x="216725" y="98691"/>
                </a:lnTo>
                <a:lnTo>
                  <a:pt x="221107" y="104152"/>
                </a:lnTo>
                <a:lnTo>
                  <a:pt x="224675" y="104140"/>
                </a:lnTo>
                <a:lnTo>
                  <a:pt x="264858" y="54279"/>
                </a:lnTo>
                <a:lnTo>
                  <a:pt x="264858" y="49860"/>
                </a:lnTo>
                <a:lnTo>
                  <a:pt x="224675" y="0"/>
                </a:lnTo>
                <a:close/>
              </a:path>
            </a:pathLst>
          </a:custGeom>
          <a:solidFill>
            <a:srgbClr val="FFFF5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028666" y="1645335"/>
            <a:ext cx="2147570" cy="3641725"/>
            <a:chOff x="5028666" y="1645335"/>
            <a:chExt cx="2147570" cy="3641725"/>
          </a:xfrm>
        </p:grpSpPr>
        <p:sp>
          <p:nvSpPr>
            <p:cNvPr id="11" name="object 11"/>
            <p:cNvSpPr/>
            <p:nvPr/>
          </p:nvSpPr>
          <p:spPr>
            <a:xfrm>
              <a:off x="5036007" y="1949843"/>
              <a:ext cx="2121535" cy="354330"/>
            </a:xfrm>
            <a:custGeom>
              <a:avLst/>
              <a:gdLst/>
              <a:ahLst/>
              <a:cxnLst/>
              <a:rect l="l" t="t" r="r" b="b"/>
              <a:pathLst>
                <a:path w="2121534" h="354330">
                  <a:moveTo>
                    <a:pt x="1060513" y="0"/>
                  </a:moveTo>
                  <a:lnTo>
                    <a:pt x="0" y="259067"/>
                  </a:lnTo>
                  <a:lnTo>
                    <a:pt x="370293" y="354050"/>
                  </a:lnTo>
                  <a:lnTo>
                    <a:pt x="1069428" y="209816"/>
                  </a:lnTo>
                  <a:lnTo>
                    <a:pt x="1069428" y="208000"/>
                  </a:lnTo>
                  <a:lnTo>
                    <a:pt x="1073835" y="208902"/>
                  </a:lnTo>
                  <a:lnTo>
                    <a:pt x="1075664" y="208534"/>
                  </a:lnTo>
                  <a:lnTo>
                    <a:pt x="1075664" y="209270"/>
                  </a:lnTo>
                  <a:lnTo>
                    <a:pt x="1764550" y="350507"/>
                  </a:lnTo>
                  <a:lnTo>
                    <a:pt x="2121014" y="259067"/>
                  </a:lnTo>
                  <a:lnTo>
                    <a:pt x="1060513" y="0"/>
                  </a:lnTo>
                  <a:close/>
                </a:path>
              </a:pathLst>
            </a:custGeom>
            <a:solidFill>
              <a:srgbClr val="B1B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38382" y="1645335"/>
              <a:ext cx="1057910" cy="564515"/>
            </a:xfrm>
            <a:custGeom>
              <a:avLst/>
              <a:gdLst/>
              <a:ahLst/>
              <a:cxnLst/>
              <a:rect l="l" t="t" r="r" b="b"/>
              <a:pathLst>
                <a:path w="1057910" h="564514">
                  <a:moveTo>
                    <a:pt x="1057795" y="0"/>
                  </a:moveTo>
                  <a:lnTo>
                    <a:pt x="0" y="259791"/>
                  </a:lnTo>
                  <a:lnTo>
                    <a:pt x="12" y="564172"/>
                  </a:lnTo>
                  <a:lnTo>
                    <a:pt x="1057795" y="304380"/>
                  </a:lnTo>
                  <a:lnTo>
                    <a:pt x="1057795" y="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0" y="1645704"/>
              <a:ext cx="1056005" cy="564515"/>
            </a:xfrm>
            <a:custGeom>
              <a:avLst/>
              <a:gdLst/>
              <a:ahLst/>
              <a:cxnLst/>
              <a:rect l="l" t="t" r="r" b="b"/>
              <a:pathLst>
                <a:path w="1056004" h="564514">
                  <a:moveTo>
                    <a:pt x="25" y="0"/>
                  </a:moveTo>
                  <a:lnTo>
                    <a:pt x="0" y="304368"/>
                  </a:lnTo>
                  <a:lnTo>
                    <a:pt x="1055408" y="564121"/>
                  </a:lnTo>
                  <a:lnTo>
                    <a:pt x="1055420" y="25972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E5E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55578" y="2671279"/>
              <a:ext cx="2120900" cy="154305"/>
            </a:xfrm>
            <a:custGeom>
              <a:avLst/>
              <a:gdLst/>
              <a:ahLst/>
              <a:cxnLst/>
              <a:rect l="l" t="t" r="r" b="b"/>
              <a:pathLst>
                <a:path w="2120900" h="154305">
                  <a:moveTo>
                    <a:pt x="1785622" y="123558"/>
                  </a:moveTo>
                  <a:lnTo>
                    <a:pt x="1041196" y="123558"/>
                  </a:lnTo>
                  <a:lnTo>
                    <a:pt x="1457756" y="153695"/>
                  </a:lnTo>
                  <a:lnTo>
                    <a:pt x="1785622" y="123558"/>
                  </a:lnTo>
                  <a:close/>
                </a:path>
                <a:path w="2120900" h="154305">
                  <a:moveTo>
                    <a:pt x="1060183" y="0"/>
                  </a:moveTo>
                  <a:lnTo>
                    <a:pt x="0" y="92811"/>
                  </a:lnTo>
                  <a:lnTo>
                    <a:pt x="646671" y="152234"/>
                  </a:lnTo>
                  <a:lnTo>
                    <a:pt x="1041196" y="123558"/>
                  </a:lnTo>
                  <a:lnTo>
                    <a:pt x="1785622" y="123558"/>
                  </a:lnTo>
                  <a:lnTo>
                    <a:pt x="2120119" y="92811"/>
                  </a:lnTo>
                  <a:lnTo>
                    <a:pt x="2120656" y="92811"/>
                  </a:lnTo>
                  <a:lnTo>
                    <a:pt x="1060183" y="0"/>
                  </a:lnTo>
                  <a:close/>
                </a:path>
              </a:pathLst>
            </a:custGeom>
            <a:solidFill>
              <a:srgbClr val="E0E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44630" y="2158377"/>
              <a:ext cx="1068070" cy="603250"/>
            </a:xfrm>
            <a:custGeom>
              <a:avLst/>
              <a:gdLst/>
              <a:ahLst/>
              <a:cxnLst/>
              <a:rect l="l" t="t" r="r" b="b"/>
              <a:pathLst>
                <a:path w="1068070" h="603250">
                  <a:moveTo>
                    <a:pt x="1067054" y="0"/>
                  </a:moveTo>
                  <a:lnTo>
                    <a:pt x="12" y="220141"/>
                  </a:lnTo>
                  <a:lnTo>
                    <a:pt x="0" y="599541"/>
                  </a:lnTo>
                  <a:lnTo>
                    <a:pt x="33502" y="602767"/>
                  </a:lnTo>
                  <a:lnTo>
                    <a:pt x="1066126" y="512826"/>
                  </a:lnTo>
                  <a:lnTo>
                    <a:pt x="1067739" y="512965"/>
                  </a:lnTo>
                  <a:lnTo>
                    <a:pt x="1067054" y="0"/>
                  </a:lnTo>
                  <a:close/>
                </a:path>
              </a:pathLst>
            </a:custGeom>
            <a:solidFill>
              <a:srgbClr val="FAF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2281" y="2157996"/>
              <a:ext cx="1049020" cy="602615"/>
            </a:xfrm>
            <a:custGeom>
              <a:avLst/>
              <a:gdLst/>
              <a:ahLst/>
              <a:cxnLst/>
              <a:rect l="l" t="t" r="r" b="b"/>
              <a:pathLst>
                <a:path w="1049020" h="602614">
                  <a:moveTo>
                    <a:pt x="698" y="0"/>
                  </a:moveTo>
                  <a:lnTo>
                    <a:pt x="0" y="513003"/>
                  </a:lnTo>
                  <a:lnTo>
                    <a:pt x="1612" y="512864"/>
                  </a:lnTo>
                  <a:lnTo>
                    <a:pt x="1025563" y="602043"/>
                  </a:lnTo>
                  <a:lnTo>
                    <a:pt x="1048689" y="599821"/>
                  </a:lnTo>
                  <a:lnTo>
                    <a:pt x="1048702" y="21621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FFF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36007" y="2794825"/>
              <a:ext cx="1061085" cy="633095"/>
            </a:xfrm>
            <a:custGeom>
              <a:avLst/>
              <a:gdLst/>
              <a:ahLst/>
              <a:cxnLst/>
              <a:rect l="l" t="t" r="r" b="b"/>
              <a:pathLst>
                <a:path w="1061085" h="633095">
                  <a:moveTo>
                    <a:pt x="1060742" y="0"/>
                  </a:moveTo>
                  <a:lnTo>
                    <a:pt x="0" y="77114"/>
                  </a:lnTo>
                  <a:lnTo>
                    <a:pt x="0" y="580174"/>
                  </a:lnTo>
                  <a:lnTo>
                    <a:pt x="1060742" y="633056"/>
                  </a:lnTo>
                  <a:lnTo>
                    <a:pt x="1060742" y="0"/>
                  </a:lnTo>
                  <a:close/>
                </a:path>
              </a:pathLst>
            </a:custGeom>
            <a:solidFill>
              <a:srgbClr val="FFFF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736" y="2794825"/>
              <a:ext cx="1065530" cy="633095"/>
            </a:xfrm>
            <a:custGeom>
              <a:avLst/>
              <a:gdLst/>
              <a:ahLst/>
              <a:cxnLst/>
              <a:rect l="l" t="t" r="r" b="b"/>
              <a:pathLst>
                <a:path w="1065529" h="633095">
                  <a:moveTo>
                    <a:pt x="0" y="0"/>
                  </a:moveTo>
                  <a:lnTo>
                    <a:pt x="0" y="632828"/>
                  </a:lnTo>
                  <a:lnTo>
                    <a:pt x="1065504" y="585520"/>
                  </a:lnTo>
                  <a:lnTo>
                    <a:pt x="1065504" y="77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36007" y="3416134"/>
              <a:ext cx="2131060" cy="168910"/>
            </a:xfrm>
            <a:custGeom>
              <a:avLst/>
              <a:gdLst/>
              <a:ahLst/>
              <a:cxnLst/>
              <a:rect l="l" t="t" r="r" b="b"/>
              <a:pathLst>
                <a:path w="2131059" h="168910">
                  <a:moveTo>
                    <a:pt x="825461" y="0"/>
                  </a:moveTo>
                  <a:lnTo>
                    <a:pt x="0" y="75501"/>
                  </a:lnTo>
                  <a:lnTo>
                    <a:pt x="1065504" y="168325"/>
                  </a:lnTo>
                  <a:lnTo>
                    <a:pt x="2131009" y="75501"/>
                  </a:lnTo>
                  <a:lnTo>
                    <a:pt x="1310144" y="431"/>
                  </a:lnTo>
                  <a:lnTo>
                    <a:pt x="1060742" y="11506"/>
                  </a:lnTo>
                  <a:lnTo>
                    <a:pt x="1060742" y="11747"/>
                  </a:lnTo>
                  <a:lnTo>
                    <a:pt x="825461" y="0"/>
                  </a:lnTo>
                  <a:close/>
                </a:path>
              </a:pathLst>
            </a:custGeom>
            <a:solidFill>
              <a:srgbClr val="FFFF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36007" y="3488639"/>
              <a:ext cx="1065530" cy="732790"/>
            </a:xfrm>
            <a:custGeom>
              <a:avLst/>
              <a:gdLst/>
              <a:ahLst/>
              <a:cxnLst/>
              <a:rect l="l" t="t" r="r" b="b"/>
              <a:pathLst>
                <a:path w="1065529" h="732789">
                  <a:moveTo>
                    <a:pt x="0" y="0"/>
                  </a:moveTo>
                  <a:lnTo>
                    <a:pt x="0" y="580288"/>
                  </a:lnTo>
                  <a:lnTo>
                    <a:pt x="1065504" y="732421"/>
                  </a:lnTo>
                  <a:lnTo>
                    <a:pt x="1065504" y="92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01486" y="3490912"/>
              <a:ext cx="1065530" cy="730250"/>
            </a:xfrm>
            <a:custGeom>
              <a:avLst/>
              <a:gdLst/>
              <a:ahLst/>
              <a:cxnLst/>
              <a:rect l="l" t="t" r="r" b="b"/>
              <a:pathLst>
                <a:path w="1065529" h="730250">
                  <a:moveTo>
                    <a:pt x="1065504" y="0"/>
                  </a:moveTo>
                  <a:lnTo>
                    <a:pt x="0" y="93192"/>
                  </a:lnTo>
                  <a:lnTo>
                    <a:pt x="0" y="730135"/>
                  </a:lnTo>
                  <a:lnTo>
                    <a:pt x="1065504" y="578002"/>
                  </a:lnTo>
                  <a:lnTo>
                    <a:pt x="1065504" y="0"/>
                  </a:lnTo>
                  <a:close/>
                </a:path>
              </a:pathLst>
            </a:custGeom>
            <a:solidFill>
              <a:srgbClr val="FFFF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28666" y="4115714"/>
              <a:ext cx="2131060" cy="224154"/>
            </a:xfrm>
            <a:custGeom>
              <a:avLst/>
              <a:gdLst/>
              <a:ahLst/>
              <a:cxnLst/>
              <a:rect l="l" t="t" r="r" b="b"/>
              <a:pathLst>
                <a:path w="2131059" h="224154">
                  <a:moveTo>
                    <a:pt x="334899" y="0"/>
                  </a:moveTo>
                  <a:lnTo>
                    <a:pt x="0" y="51638"/>
                  </a:lnTo>
                  <a:lnTo>
                    <a:pt x="1065491" y="224116"/>
                  </a:lnTo>
                  <a:lnTo>
                    <a:pt x="2130996" y="51638"/>
                  </a:lnTo>
                  <a:lnTo>
                    <a:pt x="1803069" y="1079"/>
                  </a:lnTo>
                  <a:lnTo>
                    <a:pt x="1072845" y="105359"/>
                  </a:lnTo>
                  <a:lnTo>
                    <a:pt x="334899" y="0"/>
                  </a:lnTo>
                  <a:close/>
                </a:path>
              </a:pathLst>
            </a:custGeom>
            <a:solidFill>
              <a:srgbClr val="FF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82474" y="4163441"/>
              <a:ext cx="1084580" cy="1122045"/>
            </a:xfrm>
            <a:custGeom>
              <a:avLst/>
              <a:gdLst/>
              <a:ahLst/>
              <a:cxnLst/>
              <a:rect l="l" t="t" r="r" b="b"/>
              <a:pathLst>
                <a:path w="1084579" h="1122045">
                  <a:moveTo>
                    <a:pt x="1084541" y="0"/>
                  </a:moveTo>
                  <a:lnTo>
                    <a:pt x="0" y="175831"/>
                  </a:lnTo>
                  <a:lnTo>
                    <a:pt x="0" y="1121943"/>
                  </a:lnTo>
                  <a:lnTo>
                    <a:pt x="1084541" y="819975"/>
                  </a:lnTo>
                  <a:lnTo>
                    <a:pt x="1084541" y="0"/>
                  </a:lnTo>
                  <a:close/>
                </a:path>
              </a:pathLst>
            </a:custGeom>
            <a:solidFill>
              <a:srgbClr val="FFFF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36007" y="4164787"/>
              <a:ext cx="1046480" cy="1122680"/>
            </a:xfrm>
            <a:custGeom>
              <a:avLst/>
              <a:gdLst/>
              <a:ahLst/>
              <a:cxnLst/>
              <a:rect l="l" t="t" r="r" b="b"/>
              <a:pathLst>
                <a:path w="1046479" h="1122679">
                  <a:moveTo>
                    <a:pt x="0" y="0"/>
                  </a:moveTo>
                  <a:lnTo>
                    <a:pt x="0" y="820077"/>
                  </a:lnTo>
                  <a:lnTo>
                    <a:pt x="1046467" y="1122146"/>
                  </a:lnTo>
                  <a:lnTo>
                    <a:pt x="1046467" y="1702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4587595" y="4346486"/>
            <a:ext cx="265430" cy="104139"/>
          </a:xfrm>
          <a:custGeom>
            <a:avLst/>
            <a:gdLst/>
            <a:ahLst/>
            <a:cxnLst/>
            <a:rect l="l" t="t" r="r" b="b"/>
            <a:pathLst>
              <a:path w="265429" h="104139">
                <a:moveTo>
                  <a:pt x="43751" y="0"/>
                </a:moveTo>
                <a:lnTo>
                  <a:pt x="40182" y="0"/>
                </a:lnTo>
                <a:lnTo>
                  <a:pt x="0" y="49860"/>
                </a:lnTo>
                <a:lnTo>
                  <a:pt x="0" y="54279"/>
                </a:lnTo>
                <a:lnTo>
                  <a:pt x="40182" y="104140"/>
                </a:lnTo>
                <a:lnTo>
                  <a:pt x="43751" y="104140"/>
                </a:lnTo>
                <a:lnTo>
                  <a:pt x="48133" y="98691"/>
                </a:lnTo>
                <a:lnTo>
                  <a:pt x="48133" y="94272"/>
                </a:lnTo>
                <a:lnTo>
                  <a:pt x="19748" y="59042"/>
                </a:lnTo>
                <a:lnTo>
                  <a:pt x="264858" y="59042"/>
                </a:lnTo>
                <a:lnTo>
                  <a:pt x="264858" y="45085"/>
                </a:lnTo>
                <a:lnTo>
                  <a:pt x="19748" y="45085"/>
                </a:lnTo>
                <a:lnTo>
                  <a:pt x="48133" y="9867"/>
                </a:lnTo>
                <a:lnTo>
                  <a:pt x="48133" y="5435"/>
                </a:lnTo>
                <a:lnTo>
                  <a:pt x="45935" y="2717"/>
                </a:lnTo>
                <a:lnTo>
                  <a:pt x="43751" y="0"/>
                </a:lnTo>
                <a:close/>
              </a:path>
            </a:pathLst>
          </a:custGeom>
          <a:solidFill>
            <a:srgbClr val="FFF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066530" y="1816147"/>
            <a:ext cx="1318895" cy="6826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19"/>
              </a:spcBef>
            </a:pPr>
            <a:r>
              <a:rPr sz="1350" spc="95" dirty="0">
                <a:solidFill>
                  <a:srgbClr val="D8D5CE"/>
                </a:solidFill>
                <a:latin typeface="Calibri"/>
                <a:cs typeface="Calibri"/>
              </a:rPr>
              <a:t>User</a:t>
            </a:r>
            <a:endParaRPr sz="1350">
              <a:latin typeface="Calibri"/>
              <a:cs typeface="Calibri"/>
            </a:endParaRPr>
          </a:p>
          <a:p>
            <a:pPr marL="181610" marR="6350" indent="-169545">
              <a:lnSpc>
                <a:spcPts val="1040"/>
              </a:lnSpc>
              <a:spcBef>
                <a:spcPts val="750"/>
              </a:spcBef>
            </a:pPr>
            <a:r>
              <a:rPr sz="1050" spc="-65" dirty="0">
                <a:solidFill>
                  <a:srgbClr val="D8D5CE"/>
                </a:solidFill>
                <a:latin typeface="Verdana"/>
                <a:cs typeface="Verdana"/>
              </a:rPr>
              <a:t>Person</a:t>
            </a:r>
            <a:r>
              <a:rPr sz="1050" spc="-13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90" dirty="0">
                <a:solidFill>
                  <a:srgbClr val="D8D5CE"/>
                </a:solidFill>
                <a:latin typeface="Verdana"/>
                <a:cs typeface="Verdana"/>
              </a:rPr>
              <a:t>who</a:t>
            </a:r>
            <a:r>
              <a:rPr sz="1050" spc="-13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55" dirty="0">
                <a:solidFill>
                  <a:srgbClr val="D8D5CE"/>
                </a:solidFill>
                <a:latin typeface="Verdana"/>
                <a:cs typeface="Verdana"/>
              </a:rPr>
              <a:t>logs</a:t>
            </a:r>
            <a:r>
              <a:rPr sz="1050" spc="-13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70" dirty="0">
                <a:solidFill>
                  <a:srgbClr val="D8D5CE"/>
                </a:solidFill>
                <a:latin typeface="Verdana"/>
                <a:cs typeface="Verdana"/>
              </a:rPr>
              <a:t>in</a:t>
            </a:r>
            <a:r>
              <a:rPr sz="1050" spc="-13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55" dirty="0">
                <a:solidFill>
                  <a:srgbClr val="D8D5CE"/>
                </a:solidFill>
                <a:latin typeface="Verdana"/>
                <a:cs typeface="Verdana"/>
              </a:rPr>
              <a:t>via </a:t>
            </a:r>
            <a:r>
              <a:rPr sz="1050" spc="-95" dirty="0">
                <a:solidFill>
                  <a:srgbClr val="D8D5CE"/>
                </a:solidFill>
                <a:latin typeface="Verdana"/>
                <a:cs typeface="Verdana"/>
              </a:rPr>
              <a:t>browser</a:t>
            </a:r>
            <a:r>
              <a:rPr sz="1050" spc="-13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70" dirty="0">
                <a:solidFill>
                  <a:srgbClr val="D8D5CE"/>
                </a:solidFill>
                <a:latin typeface="Verdana"/>
                <a:cs typeface="Verdana"/>
              </a:rPr>
              <a:t>or</a:t>
            </a:r>
            <a:r>
              <a:rPr sz="1050" spc="-13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75" dirty="0">
                <a:solidFill>
                  <a:srgbClr val="D8D5CE"/>
                </a:solidFill>
                <a:latin typeface="Verdana"/>
                <a:cs typeface="Verdana"/>
              </a:rPr>
              <a:t>console.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13771" y="2451982"/>
            <a:ext cx="1706880" cy="824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81025" indent="-635">
              <a:lnSpc>
                <a:spcPct val="107100"/>
              </a:lnSpc>
              <a:spcBef>
                <a:spcPts val="95"/>
              </a:spcBef>
            </a:pPr>
            <a:r>
              <a:rPr sz="1350" spc="95" dirty="0">
                <a:solidFill>
                  <a:srgbClr val="D8D5CE"/>
                </a:solidFill>
                <a:latin typeface="Calibri"/>
                <a:cs typeface="Calibri"/>
              </a:rPr>
              <a:t>Web/Console </a:t>
            </a:r>
            <a:r>
              <a:rPr sz="1350" spc="70" dirty="0">
                <a:solidFill>
                  <a:srgbClr val="D8D5CE"/>
                </a:solidFill>
                <a:latin typeface="Calibri"/>
                <a:cs typeface="Calibri"/>
              </a:rPr>
              <a:t>Interface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ts val="1100"/>
              </a:lnSpc>
              <a:spcBef>
                <a:spcPts val="640"/>
              </a:spcBef>
            </a:pPr>
            <a:r>
              <a:rPr sz="1050" spc="-95" dirty="0">
                <a:solidFill>
                  <a:srgbClr val="D8D5CE"/>
                </a:solidFill>
                <a:latin typeface="Verdana"/>
                <a:cs typeface="Verdana"/>
              </a:rPr>
              <a:t>Where</a:t>
            </a:r>
            <a:r>
              <a:rPr sz="10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80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10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8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10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75" dirty="0">
                <a:solidFill>
                  <a:srgbClr val="D8D5CE"/>
                </a:solidFill>
                <a:latin typeface="Verdana"/>
                <a:cs typeface="Verdana"/>
              </a:rPr>
              <a:t>interacts</a:t>
            </a:r>
            <a:r>
              <a:rPr sz="10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D8D5CE"/>
                </a:solidFill>
                <a:latin typeface="Verdana"/>
                <a:cs typeface="Verdana"/>
              </a:rPr>
              <a:t>and </a:t>
            </a:r>
            <a:r>
              <a:rPr sz="1050" spc="-60" dirty="0">
                <a:solidFill>
                  <a:srgbClr val="D8D5CE"/>
                </a:solidFill>
                <a:latin typeface="Verdana"/>
                <a:cs typeface="Verdana"/>
              </a:rPr>
              <a:t>submits</a:t>
            </a:r>
            <a:r>
              <a:rPr sz="10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D8D5CE"/>
                </a:solidFill>
                <a:latin typeface="Verdana"/>
                <a:cs typeface="Verdana"/>
              </a:rPr>
              <a:t>credentials.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95645" y="3024653"/>
            <a:ext cx="1689735" cy="824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265" marR="5080" indent="-138430">
              <a:lnSpc>
                <a:spcPct val="107100"/>
              </a:lnSpc>
              <a:spcBef>
                <a:spcPts val="95"/>
              </a:spcBef>
            </a:pPr>
            <a:r>
              <a:rPr sz="1350" spc="125" dirty="0">
                <a:solidFill>
                  <a:srgbClr val="D8D5CE"/>
                </a:solidFill>
                <a:latin typeface="Calibri"/>
                <a:cs typeface="Calibri"/>
              </a:rPr>
              <a:t>Spring</a:t>
            </a:r>
            <a:r>
              <a:rPr sz="1350" spc="-3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D8D5CE"/>
                </a:solidFill>
                <a:latin typeface="Calibri"/>
                <a:cs typeface="Calibri"/>
              </a:rPr>
              <a:t>Boot </a:t>
            </a:r>
            <a:r>
              <a:rPr sz="1350" spc="75" dirty="0">
                <a:solidFill>
                  <a:srgbClr val="D8D5CE"/>
                </a:solidFill>
                <a:latin typeface="Calibri"/>
                <a:cs typeface="Calibri"/>
              </a:rPr>
              <a:t>Controller</a:t>
            </a:r>
            <a:endParaRPr sz="1350">
              <a:latin typeface="Calibri"/>
              <a:cs typeface="Calibri"/>
            </a:endParaRPr>
          </a:p>
          <a:p>
            <a:pPr marL="492125" marR="6350" indent="-480059">
              <a:lnSpc>
                <a:spcPts val="1100"/>
              </a:lnSpc>
              <a:spcBef>
                <a:spcPts val="640"/>
              </a:spcBef>
            </a:pPr>
            <a:r>
              <a:rPr sz="1050" spc="-55" dirty="0">
                <a:solidFill>
                  <a:srgbClr val="D8D5CE"/>
                </a:solidFill>
                <a:latin typeface="Verdana"/>
                <a:cs typeface="Verdana"/>
              </a:rPr>
              <a:t>Handles</a:t>
            </a:r>
            <a:r>
              <a:rPr sz="10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D8D5CE"/>
                </a:solidFill>
                <a:latin typeface="Verdana"/>
                <a:cs typeface="Verdana"/>
              </a:rPr>
              <a:t>HTTP</a:t>
            </a:r>
            <a:r>
              <a:rPr sz="1050" spc="-11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80" dirty="0">
                <a:solidFill>
                  <a:srgbClr val="D8D5CE"/>
                </a:solidFill>
                <a:latin typeface="Verdana"/>
                <a:cs typeface="Verdana"/>
              </a:rPr>
              <a:t>requests</a:t>
            </a:r>
            <a:r>
              <a:rPr sz="10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D8D5CE"/>
                </a:solidFill>
                <a:latin typeface="Verdana"/>
                <a:cs typeface="Verdana"/>
              </a:rPr>
              <a:t>and </a:t>
            </a:r>
            <a:r>
              <a:rPr sz="1050" spc="-85" dirty="0">
                <a:solidFill>
                  <a:srgbClr val="D8D5CE"/>
                </a:solidFill>
                <a:latin typeface="Verdana"/>
                <a:cs typeface="Verdana"/>
              </a:rPr>
              <a:t>forwards</a:t>
            </a:r>
            <a:r>
              <a:rPr sz="1050" spc="-12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65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1050" spc="-12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85" dirty="0">
                <a:solidFill>
                  <a:srgbClr val="D8D5CE"/>
                </a:solidFill>
                <a:latin typeface="Verdana"/>
                <a:cs typeface="Verdana"/>
              </a:rPr>
              <a:t>services.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14119" y="3585563"/>
            <a:ext cx="1186180" cy="8223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350" spc="105" dirty="0">
                <a:solidFill>
                  <a:srgbClr val="D8D5CE"/>
                </a:solidFill>
                <a:latin typeface="Calibri"/>
                <a:cs typeface="Calibri"/>
              </a:rPr>
              <a:t>Service</a:t>
            </a:r>
            <a:r>
              <a:rPr sz="1350" spc="-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50" spc="114" dirty="0">
                <a:solidFill>
                  <a:srgbClr val="D8D5CE"/>
                </a:solidFill>
                <a:latin typeface="Calibri"/>
                <a:cs typeface="Calibri"/>
              </a:rPr>
              <a:t>Layer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84900"/>
              </a:lnSpc>
              <a:spcBef>
                <a:spcPts val="720"/>
              </a:spcBef>
            </a:pPr>
            <a:r>
              <a:rPr sz="1050" spc="-60" dirty="0">
                <a:solidFill>
                  <a:srgbClr val="D8D5CE"/>
                </a:solidFill>
                <a:latin typeface="Verdana"/>
                <a:cs typeface="Verdana"/>
              </a:rPr>
              <a:t>Business</a:t>
            </a:r>
            <a:r>
              <a:rPr sz="1050" spc="-11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80" dirty="0">
                <a:solidFill>
                  <a:srgbClr val="D8D5CE"/>
                </a:solidFill>
                <a:latin typeface="Verdana"/>
                <a:cs typeface="Verdana"/>
              </a:rPr>
              <a:t>logic,</a:t>
            </a:r>
            <a:r>
              <a:rPr sz="105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D8D5CE"/>
                </a:solidFill>
                <a:latin typeface="Verdana"/>
                <a:cs typeface="Verdana"/>
              </a:rPr>
              <a:t>OTP </a:t>
            </a:r>
            <a:r>
              <a:rPr sz="1050" spc="-90" dirty="0">
                <a:solidFill>
                  <a:srgbClr val="D8D5CE"/>
                </a:solidFill>
                <a:latin typeface="Verdana"/>
                <a:cs typeface="Verdana"/>
              </a:rPr>
              <a:t>generation,</a:t>
            </a:r>
            <a:r>
              <a:rPr sz="10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D8D5CE"/>
                </a:solidFill>
                <a:latin typeface="Verdana"/>
                <a:cs typeface="Verdana"/>
              </a:rPr>
              <a:t>and </a:t>
            </a:r>
            <a:r>
              <a:rPr sz="1050" spc="-10" dirty="0">
                <a:solidFill>
                  <a:srgbClr val="D8D5CE"/>
                </a:solidFill>
                <a:latin typeface="Verdana"/>
                <a:cs typeface="Verdana"/>
              </a:rPr>
              <a:t>orchestration.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94650" y="4187608"/>
            <a:ext cx="1590675" cy="6826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819"/>
              </a:spcBef>
            </a:pPr>
            <a:r>
              <a:rPr sz="1350" spc="225" dirty="0">
                <a:solidFill>
                  <a:srgbClr val="D8D5CE"/>
                </a:solidFill>
                <a:latin typeface="Calibri"/>
                <a:cs typeface="Calibri"/>
              </a:rPr>
              <a:t>MySQL</a:t>
            </a:r>
            <a:r>
              <a:rPr sz="135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50" spc="100" dirty="0">
                <a:solidFill>
                  <a:srgbClr val="D8D5CE"/>
                </a:solidFill>
                <a:latin typeface="Calibri"/>
                <a:cs typeface="Calibri"/>
              </a:rPr>
              <a:t>Database</a:t>
            </a:r>
            <a:endParaRPr sz="1350">
              <a:latin typeface="Calibri"/>
              <a:cs typeface="Calibri"/>
            </a:endParaRPr>
          </a:p>
          <a:p>
            <a:pPr marL="403860" marR="6350" indent="-391795">
              <a:lnSpc>
                <a:spcPts val="1040"/>
              </a:lnSpc>
              <a:spcBef>
                <a:spcPts val="750"/>
              </a:spcBef>
            </a:pPr>
            <a:r>
              <a:rPr sz="1050" spc="-80" dirty="0">
                <a:solidFill>
                  <a:srgbClr val="D8D5CE"/>
                </a:solidFill>
                <a:latin typeface="Verdana"/>
                <a:cs typeface="Verdana"/>
              </a:rPr>
              <a:t>Persistent</a:t>
            </a:r>
            <a:r>
              <a:rPr sz="1050" spc="-11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75" dirty="0">
                <a:solidFill>
                  <a:srgbClr val="D8D5CE"/>
                </a:solidFill>
                <a:latin typeface="Verdana"/>
                <a:cs typeface="Verdana"/>
              </a:rPr>
              <a:t>storage</a:t>
            </a:r>
            <a:r>
              <a:rPr sz="105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60" dirty="0">
                <a:solidFill>
                  <a:srgbClr val="D8D5CE"/>
                </a:solidFill>
                <a:latin typeface="Verdana"/>
                <a:cs typeface="Verdana"/>
              </a:rPr>
              <a:t>of</a:t>
            </a:r>
            <a:r>
              <a:rPr sz="105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90" dirty="0">
                <a:solidFill>
                  <a:srgbClr val="D8D5CE"/>
                </a:solidFill>
                <a:latin typeface="Verdana"/>
                <a:cs typeface="Verdana"/>
              </a:rPr>
              <a:t>users, </a:t>
            </a:r>
            <a:r>
              <a:rPr sz="1050" spc="-80" dirty="0">
                <a:solidFill>
                  <a:srgbClr val="D8D5CE"/>
                </a:solidFill>
                <a:latin typeface="Verdana"/>
                <a:cs typeface="Verdana"/>
              </a:rPr>
              <a:t>sessions,</a:t>
            </a:r>
            <a:r>
              <a:rPr sz="1050" spc="-12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4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1050" spc="-114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050" spc="-60" dirty="0">
                <a:solidFill>
                  <a:srgbClr val="D8D5CE"/>
                </a:solidFill>
                <a:latin typeface="Verdana"/>
                <a:cs typeface="Verdana"/>
              </a:rPr>
              <a:t>OTPs.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428875" y="5514975"/>
            <a:ext cx="7334250" cy="828675"/>
          </a:xfrm>
          <a:custGeom>
            <a:avLst/>
            <a:gdLst/>
            <a:ahLst/>
            <a:cxnLst/>
            <a:rect l="l" t="t" r="r" b="b"/>
            <a:pathLst>
              <a:path w="7334250" h="828675">
                <a:moveTo>
                  <a:pt x="7334250" y="13157"/>
                </a:moveTo>
                <a:lnTo>
                  <a:pt x="7321093" y="0"/>
                </a:lnTo>
                <a:lnTo>
                  <a:pt x="1828800" y="0"/>
                </a:lnTo>
                <a:lnTo>
                  <a:pt x="13157" y="0"/>
                </a:lnTo>
                <a:lnTo>
                  <a:pt x="0" y="13157"/>
                </a:lnTo>
                <a:lnTo>
                  <a:pt x="0" y="813511"/>
                </a:lnTo>
                <a:lnTo>
                  <a:pt x="0" y="815530"/>
                </a:lnTo>
                <a:lnTo>
                  <a:pt x="13157" y="828675"/>
                </a:lnTo>
                <a:lnTo>
                  <a:pt x="1828800" y="828675"/>
                </a:lnTo>
                <a:lnTo>
                  <a:pt x="7321093" y="828675"/>
                </a:lnTo>
                <a:lnTo>
                  <a:pt x="7334250" y="815530"/>
                </a:lnTo>
                <a:lnTo>
                  <a:pt x="7334250" y="13157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533446" y="5508031"/>
            <a:ext cx="1508760" cy="6108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50" spc="65" dirty="0">
                <a:solidFill>
                  <a:srgbClr val="D8D5CE"/>
                </a:solidFill>
                <a:latin typeface="Calibri"/>
                <a:cs typeface="Calibri"/>
              </a:rPr>
              <a:t>Interface</a:t>
            </a:r>
            <a:r>
              <a:rPr sz="12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250" spc="85" dirty="0">
                <a:solidFill>
                  <a:srgbClr val="D8D5CE"/>
                </a:solidFill>
                <a:latin typeface="Calibri"/>
                <a:cs typeface="Calibri"/>
              </a:rPr>
              <a:t>Layer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sz="750" spc="-65" dirty="0">
                <a:solidFill>
                  <a:srgbClr val="D8D5CE"/>
                </a:solidFill>
                <a:latin typeface="Verdana"/>
                <a:cs typeface="Verdana"/>
              </a:rPr>
              <a:t>Where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60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6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types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45" dirty="0">
                <a:solidFill>
                  <a:srgbClr val="D8D5CE"/>
                </a:solidFill>
                <a:latin typeface="Verdana"/>
                <a:cs typeface="Verdana"/>
              </a:rPr>
              <a:t>login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details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4 </a:t>
            </a:r>
            <a:r>
              <a:rPr sz="750" spc="-70" dirty="0">
                <a:solidFill>
                  <a:srgbClr val="D8D5CE"/>
                </a:solidFill>
                <a:latin typeface="Verdana"/>
                <a:cs typeface="Verdana"/>
              </a:rPr>
              <a:t>browser</a:t>
            </a:r>
            <a:r>
              <a:rPr sz="7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45" dirty="0">
                <a:solidFill>
                  <a:srgbClr val="D8D5CE"/>
                </a:solidFill>
                <a:latin typeface="Verdana"/>
                <a:cs typeface="Verdana"/>
              </a:rPr>
              <a:t>or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10" dirty="0">
                <a:solidFill>
                  <a:srgbClr val="D8D5CE"/>
                </a:solidFill>
                <a:latin typeface="Verdana"/>
                <a:cs typeface="Verdana"/>
              </a:rPr>
              <a:t>console.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257675" y="5514975"/>
            <a:ext cx="1838325" cy="828675"/>
            <a:chOff x="4257675" y="5514975"/>
            <a:chExt cx="1838325" cy="828675"/>
          </a:xfrm>
        </p:grpSpPr>
        <p:sp>
          <p:nvSpPr>
            <p:cNvPr id="34" name="object 34"/>
            <p:cNvSpPr/>
            <p:nvPr/>
          </p:nvSpPr>
          <p:spPr>
            <a:xfrm>
              <a:off x="4257675" y="5514975"/>
              <a:ext cx="1838325" cy="828675"/>
            </a:xfrm>
            <a:custGeom>
              <a:avLst/>
              <a:gdLst/>
              <a:ahLst/>
              <a:cxnLst/>
              <a:rect l="l" t="t" r="r" b="b"/>
              <a:pathLst>
                <a:path w="1838325" h="828675">
                  <a:moveTo>
                    <a:pt x="1838325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1838325" y="828675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57675" y="5514975"/>
              <a:ext cx="19050" cy="828675"/>
            </a:xfrm>
            <a:custGeom>
              <a:avLst/>
              <a:gdLst/>
              <a:ahLst/>
              <a:cxnLst/>
              <a:rect l="l" t="t" r="r" b="b"/>
              <a:pathLst>
                <a:path w="19050" h="8286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819150"/>
                  </a:lnTo>
                  <a:lnTo>
                    <a:pt x="0" y="821778"/>
                  </a:lnTo>
                  <a:lnTo>
                    <a:pt x="927" y="824021"/>
                  </a:lnTo>
                  <a:lnTo>
                    <a:pt x="4648" y="827742"/>
                  </a:lnTo>
                  <a:lnTo>
                    <a:pt x="6896" y="828675"/>
                  </a:lnTo>
                  <a:lnTo>
                    <a:pt x="12153" y="828675"/>
                  </a:lnTo>
                  <a:lnTo>
                    <a:pt x="14401" y="827742"/>
                  </a:lnTo>
                  <a:lnTo>
                    <a:pt x="18122" y="824021"/>
                  </a:lnTo>
                  <a:lnTo>
                    <a:pt x="19050" y="82177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AE9D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368952" y="5508031"/>
            <a:ext cx="1496695" cy="6108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50" spc="75" dirty="0">
                <a:solidFill>
                  <a:srgbClr val="D8D5CE"/>
                </a:solidFill>
                <a:latin typeface="Calibri"/>
                <a:cs typeface="Calibri"/>
              </a:rPr>
              <a:t>Controller</a:t>
            </a:r>
            <a:r>
              <a:rPr sz="1250" spc="-2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250" spc="85" dirty="0">
                <a:solidFill>
                  <a:srgbClr val="D8D5CE"/>
                </a:solidFill>
                <a:latin typeface="Calibri"/>
                <a:cs typeface="Calibri"/>
              </a:rPr>
              <a:t>Layer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Receives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6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7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60" dirty="0">
                <a:solidFill>
                  <a:srgbClr val="D8D5CE"/>
                </a:solidFill>
                <a:latin typeface="Verdana"/>
                <a:cs typeface="Verdana"/>
              </a:rPr>
              <a:t>requests</a:t>
            </a:r>
            <a:r>
              <a:rPr sz="7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3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10" dirty="0">
                <a:solidFill>
                  <a:srgbClr val="D8D5CE"/>
                </a:solidFill>
                <a:latin typeface="Verdana"/>
                <a:cs typeface="Verdana"/>
              </a:rPr>
              <a:t>passes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them</a:t>
            </a:r>
            <a:r>
              <a:rPr sz="75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45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75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60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75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5" dirty="0">
                <a:solidFill>
                  <a:srgbClr val="D8D5CE"/>
                </a:solidFill>
                <a:latin typeface="Verdana"/>
                <a:cs typeface="Verdana"/>
              </a:rPr>
              <a:t>service</a:t>
            </a:r>
            <a:r>
              <a:rPr sz="75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10" dirty="0">
                <a:solidFill>
                  <a:srgbClr val="D8D5CE"/>
                </a:solidFill>
                <a:latin typeface="Verdana"/>
                <a:cs typeface="Verdana"/>
              </a:rPr>
              <a:t>layer.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096000" y="5514975"/>
            <a:ext cx="1838325" cy="828675"/>
            <a:chOff x="6096000" y="5514975"/>
            <a:chExt cx="1838325" cy="828675"/>
          </a:xfrm>
        </p:grpSpPr>
        <p:sp>
          <p:nvSpPr>
            <p:cNvPr id="38" name="object 38"/>
            <p:cNvSpPr/>
            <p:nvPr/>
          </p:nvSpPr>
          <p:spPr>
            <a:xfrm>
              <a:off x="6096000" y="5514975"/>
              <a:ext cx="1838325" cy="828675"/>
            </a:xfrm>
            <a:custGeom>
              <a:avLst/>
              <a:gdLst/>
              <a:ahLst/>
              <a:cxnLst/>
              <a:rect l="l" t="t" r="r" b="b"/>
              <a:pathLst>
                <a:path w="1838325" h="828675">
                  <a:moveTo>
                    <a:pt x="1838325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1838325" y="828675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6000" y="5514975"/>
              <a:ext cx="19050" cy="828675"/>
            </a:xfrm>
            <a:custGeom>
              <a:avLst/>
              <a:gdLst/>
              <a:ahLst/>
              <a:cxnLst/>
              <a:rect l="l" t="t" r="r" b="b"/>
              <a:pathLst>
                <a:path w="19050" h="8286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819150"/>
                  </a:lnTo>
                  <a:lnTo>
                    <a:pt x="0" y="821778"/>
                  </a:lnTo>
                  <a:lnTo>
                    <a:pt x="927" y="824021"/>
                  </a:lnTo>
                  <a:lnTo>
                    <a:pt x="4648" y="827742"/>
                  </a:lnTo>
                  <a:lnTo>
                    <a:pt x="6896" y="828675"/>
                  </a:lnTo>
                  <a:lnTo>
                    <a:pt x="12153" y="828675"/>
                  </a:lnTo>
                  <a:lnTo>
                    <a:pt x="14401" y="827742"/>
                  </a:lnTo>
                  <a:lnTo>
                    <a:pt x="18122" y="824021"/>
                  </a:lnTo>
                  <a:lnTo>
                    <a:pt x="19050" y="82177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BDBA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204597" y="5508031"/>
            <a:ext cx="1430020" cy="7251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50" spc="95" dirty="0">
                <a:solidFill>
                  <a:srgbClr val="D8D5CE"/>
                </a:solidFill>
                <a:latin typeface="Calibri"/>
                <a:cs typeface="Calibri"/>
              </a:rPr>
              <a:t>Service</a:t>
            </a:r>
            <a:r>
              <a:rPr sz="12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250" spc="85" dirty="0">
                <a:solidFill>
                  <a:srgbClr val="D8D5CE"/>
                </a:solidFill>
                <a:latin typeface="Calibri"/>
                <a:cs typeface="Calibri"/>
              </a:rPr>
              <a:t>Layer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sz="750" spc="-35" dirty="0">
                <a:solidFill>
                  <a:srgbClr val="D8D5CE"/>
                </a:solidFill>
                <a:latin typeface="Verdana"/>
                <a:cs typeface="Verdana"/>
              </a:rPr>
              <a:t>Handles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40" dirty="0">
                <a:solidFill>
                  <a:srgbClr val="D8D5CE"/>
                </a:solidFill>
                <a:latin typeface="Verdana"/>
                <a:cs typeface="Verdana"/>
              </a:rPr>
              <a:t>all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45" dirty="0">
                <a:solidFill>
                  <a:srgbClr val="D8D5CE"/>
                </a:solidFill>
                <a:latin typeface="Verdana"/>
                <a:cs typeface="Verdana"/>
              </a:rPr>
              <a:t>business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30" dirty="0">
                <a:solidFill>
                  <a:srgbClr val="D8D5CE"/>
                </a:solidFill>
                <a:latin typeface="Verdana"/>
                <a:cs typeface="Verdana"/>
              </a:rPr>
              <a:t>logic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4 password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check,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60" dirty="0">
                <a:solidFill>
                  <a:srgbClr val="D8D5CE"/>
                </a:solidFill>
                <a:latin typeface="Verdana"/>
                <a:cs typeface="Verdana"/>
              </a:rPr>
              <a:t>generation, </a:t>
            </a:r>
            <a:r>
              <a:rPr sz="750" spc="-45" dirty="0">
                <a:solidFill>
                  <a:srgbClr val="D8D5CE"/>
                </a:solidFill>
                <a:latin typeface="Verdana"/>
                <a:cs typeface="Verdana"/>
              </a:rPr>
              <a:t>email</a:t>
            </a:r>
            <a:r>
              <a:rPr sz="7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10" dirty="0">
                <a:solidFill>
                  <a:srgbClr val="D8D5CE"/>
                </a:solidFill>
                <a:latin typeface="Verdana"/>
                <a:cs typeface="Verdana"/>
              </a:rPr>
              <a:t>sending.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934325" y="5514975"/>
            <a:ext cx="1828800" cy="828675"/>
            <a:chOff x="7934325" y="5514975"/>
            <a:chExt cx="1828800" cy="828675"/>
          </a:xfrm>
        </p:grpSpPr>
        <p:sp>
          <p:nvSpPr>
            <p:cNvPr id="42" name="object 42"/>
            <p:cNvSpPr/>
            <p:nvPr/>
          </p:nvSpPr>
          <p:spPr>
            <a:xfrm>
              <a:off x="7934325" y="5514975"/>
              <a:ext cx="1828800" cy="828675"/>
            </a:xfrm>
            <a:custGeom>
              <a:avLst/>
              <a:gdLst/>
              <a:ahLst/>
              <a:cxnLst/>
              <a:rect l="l" t="t" r="r" b="b"/>
              <a:pathLst>
                <a:path w="1828800" h="828675">
                  <a:moveTo>
                    <a:pt x="1815642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1815642" y="828675"/>
                  </a:lnTo>
                  <a:lnTo>
                    <a:pt x="1817573" y="828287"/>
                  </a:lnTo>
                  <a:lnTo>
                    <a:pt x="1828800" y="815519"/>
                  </a:lnTo>
                  <a:lnTo>
                    <a:pt x="1828800" y="13157"/>
                  </a:lnTo>
                  <a:lnTo>
                    <a:pt x="1815642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934325" y="5514975"/>
              <a:ext cx="19050" cy="828675"/>
            </a:xfrm>
            <a:custGeom>
              <a:avLst/>
              <a:gdLst/>
              <a:ahLst/>
              <a:cxnLst/>
              <a:rect l="l" t="t" r="r" b="b"/>
              <a:pathLst>
                <a:path w="19050" h="8286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819150"/>
                  </a:lnTo>
                  <a:lnTo>
                    <a:pt x="0" y="821778"/>
                  </a:lnTo>
                  <a:lnTo>
                    <a:pt x="927" y="824021"/>
                  </a:lnTo>
                  <a:lnTo>
                    <a:pt x="4648" y="827742"/>
                  </a:lnTo>
                  <a:lnTo>
                    <a:pt x="6896" y="828675"/>
                  </a:lnTo>
                  <a:lnTo>
                    <a:pt x="12153" y="828675"/>
                  </a:lnTo>
                  <a:lnTo>
                    <a:pt x="14401" y="827742"/>
                  </a:lnTo>
                  <a:lnTo>
                    <a:pt x="18122" y="824021"/>
                  </a:lnTo>
                  <a:lnTo>
                    <a:pt x="19050" y="82177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040090" y="5508031"/>
            <a:ext cx="1579245" cy="6108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50" spc="90" dirty="0">
                <a:solidFill>
                  <a:srgbClr val="D8D5CE"/>
                </a:solidFill>
                <a:latin typeface="Calibri"/>
                <a:cs typeface="Calibri"/>
              </a:rPr>
              <a:t>Database</a:t>
            </a:r>
            <a:r>
              <a:rPr sz="1250" spc="-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250" spc="95" dirty="0">
                <a:solidFill>
                  <a:srgbClr val="D8D5CE"/>
                </a:solidFill>
                <a:latin typeface="Calibri"/>
                <a:cs typeface="Calibri"/>
              </a:rPr>
              <a:t>Layer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sz="750" spc="-60" dirty="0">
                <a:solidFill>
                  <a:srgbClr val="D8D5CE"/>
                </a:solidFill>
                <a:latin typeface="Verdana"/>
                <a:cs typeface="Verdana"/>
              </a:rPr>
              <a:t>Stores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75" dirty="0">
                <a:solidFill>
                  <a:srgbClr val="D8D5CE"/>
                </a:solidFill>
                <a:latin typeface="Verdana"/>
                <a:cs typeface="Verdana"/>
              </a:rPr>
              <a:t>users,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40" dirty="0">
                <a:solidFill>
                  <a:srgbClr val="D8D5CE"/>
                </a:solidFill>
                <a:latin typeface="Verdana"/>
                <a:cs typeface="Verdana"/>
              </a:rPr>
              <a:t>hashed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45" dirty="0">
                <a:solidFill>
                  <a:srgbClr val="D8D5CE"/>
                </a:solidFill>
                <a:latin typeface="Verdana"/>
                <a:cs typeface="Verdana"/>
              </a:rPr>
              <a:t>OTPs,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3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7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25" dirty="0">
                <a:solidFill>
                  <a:srgbClr val="D8D5CE"/>
                </a:solidFill>
                <a:latin typeface="Verdana"/>
                <a:cs typeface="Verdana"/>
              </a:rPr>
              <a:t>login </a:t>
            </a:r>
            <a:r>
              <a:rPr sz="750" spc="-45" dirty="0">
                <a:solidFill>
                  <a:srgbClr val="D8D5CE"/>
                </a:solidFill>
                <a:latin typeface="Verdana"/>
                <a:cs typeface="Verdana"/>
              </a:rPr>
              <a:t>audit</a:t>
            </a:r>
            <a:r>
              <a:rPr sz="7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records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50" dirty="0">
                <a:solidFill>
                  <a:srgbClr val="D8D5CE"/>
                </a:solidFill>
                <a:latin typeface="Verdana"/>
                <a:cs typeface="Verdana"/>
              </a:rPr>
              <a:t>in</a:t>
            </a:r>
            <a:r>
              <a:rPr sz="75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50" spc="-10" dirty="0">
                <a:solidFill>
                  <a:srgbClr val="D8D5CE"/>
                </a:solidFill>
                <a:latin typeface="Verdana"/>
                <a:cs typeface="Verdana"/>
              </a:rPr>
              <a:t>MySQL.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45" name="object 4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077200" y="6371716"/>
            <a:ext cx="4114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33412" y="652462"/>
            <a:ext cx="723900" cy="314325"/>
          </a:xfrm>
          <a:custGeom>
            <a:avLst/>
            <a:gdLst/>
            <a:ahLst/>
            <a:cxnLst/>
            <a:rect l="l" t="t" r="r" b="b"/>
            <a:pathLst>
              <a:path w="723900" h="314325">
                <a:moveTo>
                  <a:pt x="0" y="301028"/>
                </a:moveTo>
                <a:lnTo>
                  <a:pt x="0" y="13284"/>
                </a:lnTo>
                <a:lnTo>
                  <a:pt x="0" y="11531"/>
                </a:lnTo>
                <a:lnTo>
                  <a:pt x="337" y="9829"/>
                </a:lnTo>
                <a:lnTo>
                  <a:pt x="1012" y="8204"/>
                </a:lnTo>
                <a:lnTo>
                  <a:pt x="1686" y="6578"/>
                </a:lnTo>
                <a:lnTo>
                  <a:pt x="2649" y="5143"/>
                </a:lnTo>
                <a:lnTo>
                  <a:pt x="3893" y="3898"/>
                </a:lnTo>
                <a:lnTo>
                  <a:pt x="5139" y="2641"/>
                </a:lnTo>
                <a:lnTo>
                  <a:pt x="6578" y="1689"/>
                </a:lnTo>
                <a:lnTo>
                  <a:pt x="8205" y="1016"/>
                </a:lnTo>
                <a:lnTo>
                  <a:pt x="9832" y="342"/>
                </a:lnTo>
                <a:lnTo>
                  <a:pt x="11529" y="0"/>
                </a:lnTo>
                <a:lnTo>
                  <a:pt x="13290" y="0"/>
                </a:lnTo>
                <a:lnTo>
                  <a:pt x="710615" y="0"/>
                </a:lnTo>
                <a:lnTo>
                  <a:pt x="712368" y="0"/>
                </a:lnTo>
                <a:lnTo>
                  <a:pt x="714070" y="342"/>
                </a:lnTo>
                <a:lnTo>
                  <a:pt x="715695" y="1016"/>
                </a:lnTo>
                <a:lnTo>
                  <a:pt x="717321" y="1689"/>
                </a:lnTo>
                <a:lnTo>
                  <a:pt x="718756" y="2641"/>
                </a:lnTo>
                <a:lnTo>
                  <a:pt x="720001" y="3898"/>
                </a:lnTo>
                <a:lnTo>
                  <a:pt x="721245" y="5143"/>
                </a:lnTo>
                <a:lnTo>
                  <a:pt x="722210" y="6578"/>
                </a:lnTo>
                <a:lnTo>
                  <a:pt x="722884" y="8204"/>
                </a:lnTo>
                <a:lnTo>
                  <a:pt x="723557" y="9829"/>
                </a:lnTo>
                <a:lnTo>
                  <a:pt x="723900" y="11531"/>
                </a:lnTo>
                <a:lnTo>
                  <a:pt x="723900" y="13284"/>
                </a:lnTo>
                <a:lnTo>
                  <a:pt x="723900" y="301028"/>
                </a:lnTo>
                <a:lnTo>
                  <a:pt x="723900" y="302793"/>
                </a:lnTo>
                <a:lnTo>
                  <a:pt x="723557" y="304495"/>
                </a:lnTo>
                <a:lnTo>
                  <a:pt x="722884" y="306120"/>
                </a:lnTo>
                <a:lnTo>
                  <a:pt x="722210" y="307746"/>
                </a:lnTo>
                <a:lnTo>
                  <a:pt x="712368" y="314325"/>
                </a:lnTo>
                <a:lnTo>
                  <a:pt x="710615" y="314325"/>
                </a:lnTo>
                <a:lnTo>
                  <a:pt x="13290" y="314325"/>
                </a:lnTo>
                <a:lnTo>
                  <a:pt x="11529" y="314325"/>
                </a:lnTo>
                <a:lnTo>
                  <a:pt x="9832" y="313982"/>
                </a:lnTo>
                <a:lnTo>
                  <a:pt x="8205" y="313309"/>
                </a:lnTo>
                <a:lnTo>
                  <a:pt x="6578" y="312635"/>
                </a:lnTo>
                <a:lnTo>
                  <a:pt x="1012" y="306120"/>
                </a:lnTo>
                <a:lnTo>
                  <a:pt x="337" y="304495"/>
                </a:lnTo>
                <a:lnTo>
                  <a:pt x="0" y="302793"/>
                </a:lnTo>
                <a:lnTo>
                  <a:pt x="0" y="301028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6946" y="700151"/>
            <a:ext cx="51943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75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1100" spc="-140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FFFFF0"/>
                </a:solidFill>
                <a:latin typeface="Verdana"/>
                <a:cs typeface="Verdana"/>
              </a:rPr>
              <a:t>7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280" dirty="0"/>
              <a:t>Database</a:t>
            </a:r>
            <a:r>
              <a:rPr spc="-110" dirty="0"/>
              <a:t> </a:t>
            </a:r>
            <a:r>
              <a:rPr spc="300" dirty="0"/>
              <a:t>Design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9224" y="1911826"/>
            <a:ext cx="621474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80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1400" spc="-1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D8D5CE"/>
                </a:solidFill>
                <a:latin typeface="Verdana"/>
                <a:cs typeface="Verdana"/>
              </a:rPr>
              <a:t>MySQL</a:t>
            </a:r>
            <a:r>
              <a:rPr sz="1400" spc="-1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D8D5CE"/>
                </a:solidFill>
                <a:latin typeface="Verdana"/>
                <a:cs typeface="Verdana"/>
              </a:rPr>
              <a:t>database</a:t>
            </a:r>
            <a:r>
              <a:rPr sz="1400" spc="-1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D8D5CE"/>
                </a:solidFill>
                <a:latin typeface="Verdana"/>
                <a:cs typeface="Verdana"/>
              </a:rPr>
              <a:t>has</a:t>
            </a:r>
            <a:r>
              <a:rPr sz="1400" spc="-1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114" dirty="0">
                <a:solidFill>
                  <a:srgbClr val="D8D5CE"/>
                </a:solidFill>
                <a:latin typeface="Arial Black"/>
                <a:cs typeface="Arial Black"/>
              </a:rPr>
              <a:t>three</a:t>
            </a:r>
            <a:r>
              <a:rPr sz="1400" spc="-19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D8D5CE"/>
                </a:solidFill>
                <a:latin typeface="Arial Black"/>
                <a:cs typeface="Arial Black"/>
              </a:rPr>
              <a:t>main</a:t>
            </a:r>
            <a:r>
              <a:rPr sz="1400" spc="-19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D8D5CE"/>
                </a:solidFill>
                <a:latin typeface="Arial Black"/>
                <a:cs typeface="Arial Black"/>
              </a:rPr>
              <a:t>tables</a:t>
            </a:r>
            <a:r>
              <a:rPr sz="1400" spc="-130" dirty="0">
                <a:solidFill>
                  <a:srgbClr val="D8D5CE"/>
                </a:solidFill>
                <a:latin typeface="Verdana"/>
                <a:cs typeface="Verdana"/>
              </a:rPr>
              <a:t>,</a:t>
            </a:r>
            <a:r>
              <a:rPr sz="1400" spc="-1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D8D5CE"/>
                </a:solidFill>
                <a:latin typeface="Verdana"/>
                <a:cs typeface="Verdana"/>
              </a:rPr>
              <a:t>each</a:t>
            </a:r>
            <a:r>
              <a:rPr sz="1400" spc="-1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D8D5CE"/>
                </a:solidFill>
                <a:latin typeface="Verdana"/>
                <a:cs typeface="Verdana"/>
              </a:rPr>
              <a:t>serving</a:t>
            </a:r>
            <a:r>
              <a:rPr sz="1400" spc="-1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1400" spc="-1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D8D5CE"/>
                </a:solidFill>
                <a:latin typeface="Verdana"/>
                <a:cs typeface="Verdana"/>
              </a:rPr>
              <a:t>specific</a:t>
            </a:r>
            <a:r>
              <a:rPr sz="1400" spc="-1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D8D5CE"/>
                </a:solidFill>
                <a:latin typeface="Verdana"/>
                <a:cs typeface="Verdana"/>
              </a:rPr>
              <a:t>purpose: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8650" y="2362200"/>
            <a:ext cx="3095625" cy="1381125"/>
          </a:xfrm>
          <a:custGeom>
            <a:avLst/>
            <a:gdLst/>
            <a:ahLst/>
            <a:cxnLst/>
            <a:rect l="l" t="t" r="r" b="b"/>
            <a:pathLst>
              <a:path w="3095625" h="1381125">
                <a:moveTo>
                  <a:pt x="3076054" y="0"/>
                </a:moveTo>
                <a:lnTo>
                  <a:pt x="19575" y="0"/>
                </a:lnTo>
                <a:lnTo>
                  <a:pt x="16697" y="571"/>
                </a:lnTo>
                <a:lnTo>
                  <a:pt x="0" y="19570"/>
                </a:lnTo>
                <a:lnTo>
                  <a:pt x="0" y="1358557"/>
                </a:lnTo>
                <a:lnTo>
                  <a:pt x="0" y="1361554"/>
                </a:lnTo>
                <a:lnTo>
                  <a:pt x="19575" y="1381125"/>
                </a:lnTo>
                <a:lnTo>
                  <a:pt x="3076054" y="1381125"/>
                </a:lnTo>
                <a:lnTo>
                  <a:pt x="3095625" y="1361554"/>
                </a:lnTo>
                <a:lnTo>
                  <a:pt x="3095625" y="19570"/>
                </a:lnTo>
                <a:lnTo>
                  <a:pt x="3078924" y="571"/>
                </a:lnTo>
                <a:lnTo>
                  <a:pt x="3076054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9753" y="2511996"/>
            <a:ext cx="2713990" cy="1035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19300"/>
              </a:lnSpc>
              <a:spcBef>
                <a:spcPts val="975"/>
              </a:spcBef>
            </a:pPr>
            <a:r>
              <a:rPr sz="1100" spc="-75" dirty="0">
                <a:solidFill>
                  <a:srgbClr val="FFFFFF"/>
                </a:solidFill>
                <a:latin typeface="Verdana"/>
                <a:cs typeface="Verdana"/>
              </a:rPr>
              <a:t>Stores</a:t>
            </a:r>
            <a:r>
              <a:rPr sz="1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Verdana"/>
                <a:cs typeface="Verdana"/>
              </a:rPr>
              <a:t>user</a:t>
            </a:r>
            <a:r>
              <a:rPr sz="1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170" dirty="0">
                <a:solidFill>
                  <a:srgbClr val="FFFFFF"/>
                </a:solidFill>
                <a:latin typeface="Verdana"/>
                <a:cs typeface="Verdana"/>
              </a:rPr>
              <a:t>ID,</a:t>
            </a:r>
            <a:r>
              <a:rPr sz="1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Verdana"/>
                <a:cs typeface="Verdana"/>
              </a:rPr>
              <a:t>username,</a:t>
            </a:r>
            <a:r>
              <a:rPr sz="1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Verdana"/>
                <a:cs typeface="Verdana"/>
              </a:rPr>
              <a:t>email,</a:t>
            </a:r>
            <a:r>
              <a:rPr sz="1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100" spc="-70" dirty="0">
                <a:solidFill>
                  <a:srgbClr val="FFFFFF"/>
                </a:solidFill>
                <a:latin typeface="Arial Black"/>
                <a:cs typeface="Arial Black"/>
              </a:rPr>
              <a:t>hashed</a:t>
            </a:r>
            <a:r>
              <a:rPr sz="11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0" dirty="0">
                <a:solidFill>
                  <a:srgbClr val="FFFFFF"/>
                </a:solidFill>
                <a:latin typeface="Arial Black"/>
                <a:cs typeface="Arial Black"/>
              </a:rPr>
              <a:t>password</a:t>
            </a:r>
            <a:r>
              <a:rPr sz="1100" spc="-10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sz="1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Verdana"/>
                <a:cs typeface="Verdana"/>
              </a:rPr>
              <a:t>actual</a:t>
            </a:r>
            <a:r>
              <a:rPr sz="1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Verdana"/>
                <a:cs typeface="Verdana"/>
              </a:rPr>
              <a:t>password</a:t>
            </a:r>
            <a:r>
              <a:rPr sz="1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Verdana"/>
                <a:cs typeface="Verdana"/>
              </a:rPr>
              <a:t>is </a:t>
            </a:r>
            <a:r>
              <a:rPr sz="1100" spc="-90" dirty="0">
                <a:solidFill>
                  <a:srgbClr val="FFFFFF"/>
                </a:solidFill>
                <a:latin typeface="Verdana"/>
                <a:cs typeface="Verdana"/>
              </a:rPr>
              <a:t>never</a:t>
            </a:r>
            <a:r>
              <a:rPr sz="1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stored.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95725" y="2362200"/>
            <a:ext cx="3095625" cy="1381125"/>
          </a:xfrm>
          <a:custGeom>
            <a:avLst/>
            <a:gdLst/>
            <a:ahLst/>
            <a:cxnLst/>
            <a:rect l="l" t="t" r="r" b="b"/>
            <a:pathLst>
              <a:path w="3095625" h="1381125">
                <a:moveTo>
                  <a:pt x="3076054" y="0"/>
                </a:moveTo>
                <a:lnTo>
                  <a:pt x="19570" y="0"/>
                </a:lnTo>
                <a:lnTo>
                  <a:pt x="16700" y="571"/>
                </a:lnTo>
                <a:lnTo>
                  <a:pt x="0" y="19570"/>
                </a:lnTo>
                <a:lnTo>
                  <a:pt x="0" y="1358557"/>
                </a:lnTo>
                <a:lnTo>
                  <a:pt x="0" y="1361554"/>
                </a:lnTo>
                <a:lnTo>
                  <a:pt x="19570" y="1381125"/>
                </a:lnTo>
                <a:lnTo>
                  <a:pt x="3076054" y="1381125"/>
                </a:lnTo>
                <a:lnTo>
                  <a:pt x="3095625" y="1361554"/>
                </a:lnTo>
                <a:lnTo>
                  <a:pt x="3095625" y="19570"/>
                </a:lnTo>
                <a:lnTo>
                  <a:pt x="3078924" y="571"/>
                </a:lnTo>
                <a:lnTo>
                  <a:pt x="3076054" y="0"/>
                </a:lnTo>
                <a:close/>
              </a:path>
            </a:pathLst>
          </a:custGeom>
          <a:solidFill>
            <a:srgbClr val="C9B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68013" y="2511996"/>
            <a:ext cx="2555875" cy="835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90" dirty="0">
                <a:latin typeface="Calibri"/>
                <a:cs typeface="Calibri"/>
              </a:rPr>
              <a:t>otp_records</a:t>
            </a: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19300"/>
              </a:lnSpc>
              <a:spcBef>
                <a:spcPts val="975"/>
              </a:spcBef>
            </a:pPr>
            <a:r>
              <a:rPr sz="1100" spc="-75" dirty="0">
                <a:latin typeface="Verdana"/>
                <a:cs typeface="Verdana"/>
              </a:rPr>
              <a:t>Stores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hashed</a:t>
            </a:r>
            <a:r>
              <a:rPr sz="1100" spc="-150" dirty="0">
                <a:latin typeface="Arial Black"/>
                <a:cs typeface="Arial Black"/>
              </a:rPr>
              <a:t> </a:t>
            </a:r>
            <a:r>
              <a:rPr sz="1100" spc="-114" dirty="0">
                <a:latin typeface="Arial Black"/>
                <a:cs typeface="Arial Black"/>
              </a:rPr>
              <a:t>OTP</a:t>
            </a:r>
            <a:r>
              <a:rPr sz="1100" spc="-114" dirty="0">
                <a:latin typeface="Verdana"/>
                <a:cs typeface="Verdana"/>
              </a:rPr>
              <a:t>,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expiry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time,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and </a:t>
            </a:r>
            <a:r>
              <a:rPr sz="1100" spc="-90" dirty="0">
                <a:latin typeface="Verdana"/>
                <a:cs typeface="Verdana"/>
              </a:rPr>
              <a:t>whether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it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has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already</a:t>
            </a:r>
            <a:r>
              <a:rPr sz="1100" spc="-15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been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used.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8650" y="3914775"/>
            <a:ext cx="6362700" cy="971550"/>
          </a:xfrm>
          <a:custGeom>
            <a:avLst/>
            <a:gdLst/>
            <a:ahLst/>
            <a:cxnLst/>
            <a:rect l="l" t="t" r="r" b="b"/>
            <a:pathLst>
              <a:path w="6362700" h="971550">
                <a:moveTo>
                  <a:pt x="6343129" y="0"/>
                </a:moveTo>
                <a:lnTo>
                  <a:pt x="19575" y="0"/>
                </a:lnTo>
                <a:lnTo>
                  <a:pt x="16697" y="571"/>
                </a:lnTo>
                <a:lnTo>
                  <a:pt x="0" y="19570"/>
                </a:lnTo>
                <a:lnTo>
                  <a:pt x="0" y="948982"/>
                </a:lnTo>
                <a:lnTo>
                  <a:pt x="0" y="951979"/>
                </a:lnTo>
                <a:lnTo>
                  <a:pt x="19575" y="971550"/>
                </a:lnTo>
                <a:lnTo>
                  <a:pt x="6343129" y="971550"/>
                </a:lnTo>
                <a:lnTo>
                  <a:pt x="6362700" y="951979"/>
                </a:lnTo>
                <a:lnTo>
                  <a:pt x="6362700" y="19570"/>
                </a:lnTo>
                <a:lnTo>
                  <a:pt x="6345999" y="571"/>
                </a:lnTo>
                <a:lnTo>
                  <a:pt x="6343129" y="0"/>
                </a:lnTo>
                <a:close/>
              </a:path>
            </a:pathLst>
          </a:custGeom>
          <a:solidFill>
            <a:srgbClr val="D8D5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9753" y="4064571"/>
            <a:ext cx="5146040" cy="6350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75" dirty="0">
                <a:latin typeface="Calibri"/>
                <a:cs typeface="Calibri"/>
              </a:rPr>
              <a:t>login_audit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100" spc="-40" dirty="0">
                <a:latin typeface="Verdana"/>
                <a:cs typeface="Verdana"/>
              </a:rPr>
              <a:t>Logs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every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login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attempt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with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timestamp,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IP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address,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and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success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or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failure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status.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8650" y="5086350"/>
            <a:ext cx="6362700" cy="923925"/>
            <a:chOff x="628650" y="5086350"/>
            <a:chExt cx="6362700" cy="923925"/>
          </a:xfrm>
        </p:grpSpPr>
        <p:sp>
          <p:nvSpPr>
            <p:cNvPr id="14" name="object 14"/>
            <p:cNvSpPr/>
            <p:nvPr/>
          </p:nvSpPr>
          <p:spPr>
            <a:xfrm>
              <a:off x="628650" y="5086350"/>
              <a:ext cx="6362700" cy="923925"/>
            </a:xfrm>
            <a:custGeom>
              <a:avLst/>
              <a:gdLst/>
              <a:ahLst/>
              <a:cxnLst/>
              <a:rect l="l" t="t" r="r" b="b"/>
              <a:pathLst>
                <a:path w="6362700" h="923925">
                  <a:moveTo>
                    <a:pt x="6343129" y="0"/>
                  </a:moveTo>
                  <a:lnTo>
                    <a:pt x="19575" y="0"/>
                  </a:lnTo>
                  <a:lnTo>
                    <a:pt x="16697" y="571"/>
                  </a:lnTo>
                  <a:lnTo>
                    <a:pt x="0" y="19570"/>
                  </a:lnTo>
                  <a:lnTo>
                    <a:pt x="0" y="901357"/>
                  </a:lnTo>
                  <a:lnTo>
                    <a:pt x="0" y="904349"/>
                  </a:lnTo>
                  <a:lnTo>
                    <a:pt x="19575" y="923925"/>
                  </a:lnTo>
                  <a:lnTo>
                    <a:pt x="6343129" y="923925"/>
                  </a:lnTo>
                  <a:lnTo>
                    <a:pt x="6360972" y="909989"/>
                  </a:lnTo>
                  <a:lnTo>
                    <a:pt x="6362128" y="907227"/>
                  </a:lnTo>
                  <a:lnTo>
                    <a:pt x="6362700" y="904349"/>
                  </a:lnTo>
                  <a:lnTo>
                    <a:pt x="6362700" y="19570"/>
                  </a:lnTo>
                  <a:lnTo>
                    <a:pt x="6345999" y="571"/>
                  </a:lnTo>
                  <a:lnTo>
                    <a:pt x="6343129" y="0"/>
                  </a:lnTo>
                  <a:close/>
                </a:path>
              </a:pathLst>
            </a:custGeom>
            <a:solidFill>
              <a:srgbClr val="173A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172" y="5333999"/>
              <a:ext cx="180527" cy="18053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05904" y="5252624"/>
            <a:ext cx="5329555" cy="53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Passwords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/>
                <a:cs typeface="Verdana"/>
              </a:rPr>
              <a:t>OTPs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/>
                <a:cs typeface="Verdana"/>
              </a:rPr>
              <a:t>both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/>
                <a:cs typeface="Verdana"/>
              </a:rPr>
              <a:t>hashed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even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if</a:t>
            </a:r>
            <a:r>
              <a:rPr sz="1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someone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accesses 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database,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Verdana"/>
                <a:cs typeface="Verdana"/>
              </a:rPr>
              <a:t>they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Verdana"/>
                <a:cs typeface="Verdana"/>
              </a:rPr>
              <a:t>cannot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Verdana"/>
                <a:cs typeface="Verdana"/>
              </a:rPr>
              <a:t>read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/>
                <a:cs typeface="Verdana"/>
              </a:rPr>
              <a:t>them.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0" y="6331139"/>
            <a:ext cx="4876800" cy="498029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7020" y="600138"/>
            <a:ext cx="3771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5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800" spc="-90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FFFFF0"/>
                </a:solidFill>
                <a:latin typeface="Verdana"/>
                <a:cs typeface="Verdana"/>
              </a:rPr>
              <a:t>8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41448" y="777208"/>
            <a:ext cx="402590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150" dirty="0"/>
              <a:t>Registration</a:t>
            </a:r>
            <a:r>
              <a:rPr sz="2600" spc="-45" dirty="0"/>
              <a:t> </a:t>
            </a:r>
            <a:r>
              <a:rPr sz="2600" spc="370" dirty="0"/>
              <a:t>&amp;</a:t>
            </a:r>
            <a:r>
              <a:rPr sz="2600" spc="-40" dirty="0"/>
              <a:t> </a:t>
            </a:r>
            <a:r>
              <a:rPr sz="2600" spc="254" dirty="0"/>
              <a:t>Login</a:t>
            </a:r>
            <a:r>
              <a:rPr sz="2600" spc="-40" dirty="0"/>
              <a:t> </a:t>
            </a:r>
            <a:r>
              <a:rPr sz="2600" spc="225" dirty="0"/>
              <a:t>Flow</a:t>
            </a:r>
            <a:endParaRPr sz="2600"/>
          </a:p>
        </p:txBody>
      </p:sp>
      <p:sp>
        <p:nvSpPr>
          <p:cNvPr id="4" name="object 4"/>
          <p:cNvSpPr/>
          <p:nvPr/>
        </p:nvSpPr>
        <p:spPr>
          <a:xfrm>
            <a:off x="2257425" y="1971675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57425" y="2867025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C9B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57425" y="3771900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D8D5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57425" y="4667250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70" dirty="0"/>
              <a:t>Registration</a:t>
            </a:r>
            <a:r>
              <a:rPr spc="15" dirty="0"/>
              <a:t> </a:t>
            </a:r>
            <a:r>
              <a:rPr spc="100" dirty="0"/>
              <a:t>Flow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00" spc="-25" dirty="0">
                <a:solidFill>
                  <a:srgbClr val="D8D5CE"/>
                </a:solidFill>
              </a:rPr>
              <a:t>01</a:t>
            </a:r>
            <a:endParaRPr sz="1000"/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pc="105" dirty="0">
                <a:solidFill>
                  <a:srgbClr val="D8D5CE"/>
                </a:solidFill>
              </a:rPr>
              <a:t>User</a:t>
            </a:r>
            <a:r>
              <a:rPr spc="-15" dirty="0">
                <a:solidFill>
                  <a:srgbClr val="D8D5CE"/>
                </a:solidFill>
              </a:rPr>
              <a:t> </a:t>
            </a:r>
            <a:r>
              <a:rPr spc="105" dirty="0">
                <a:solidFill>
                  <a:srgbClr val="D8D5CE"/>
                </a:solidFill>
              </a:rPr>
              <a:t>Submits</a:t>
            </a:r>
            <a:r>
              <a:rPr spc="-15" dirty="0">
                <a:solidFill>
                  <a:srgbClr val="D8D5CE"/>
                </a:solidFill>
              </a:rPr>
              <a:t> </a:t>
            </a:r>
            <a:r>
              <a:rPr spc="135" dirty="0">
                <a:solidFill>
                  <a:srgbClr val="D8D5CE"/>
                </a:solidFill>
              </a:rPr>
              <a:t>Form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0" dirty="0">
                <a:solidFill>
                  <a:srgbClr val="D8D5CE"/>
                </a:solidFill>
                <a:latin typeface="Verdana"/>
                <a:cs typeface="Verdana"/>
              </a:rPr>
              <a:t>provides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5" dirty="0">
                <a:solidFill>
                  <a:srgbClr val="D8D5CE"/>
                </a:solidFill>
                <a:latin typeface="Verdana"/>
                <a:cs typeface="Verdana"/>
              </a:rPr>
              <a:t>username,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5" dirty="0">
                <a:solidFill>
                  <a:srgbClr val="D8D5CE"/>
                </a:solidFill>
                <a:latin typeface="Verdana"/>
                <a:cs typeface="Verdana"/>
              </a:rPr>
              <a:t>email,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D8D5CE"/>
                </a:solidFill>
                <a:latin typeface="Verdana"/>
                <a:cs typeface="Verdana"/>
              </a:rPr>
              <a:t>password.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100" dirty="0">
                <a:solidFill>
                  <a:srgbClr val="D8D5CE"/>
                </a:solidFill>
              </a:rPr>
              <a:t>02</a:t>
            </a:r>
            <a:endParaRPr sz="1000"/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pc="55" dirty="0">
                <a:solidFill>
                  <a:srgbClr val="D8D5CE"/>
                </a:solidFill>
              </a:rPr>
              <a:t>Validate</a:t>
            </a:r>
            <a:r>
              <a:rPr spc="-30" dirty="0">
                <a:solidFill>
                  <a:srgbClr val="D8D5CE"/>
                </a:solidFill>
              </a:rPr>
              <a:t> </a:t>
            </a:r>
            <a:r>
              <a:rPr spc="85" dirty="0">
                <a:solidFill>
                  <a:srgbClr val="D8D5CE"/>
                </a:solidFill>
              </a:rPr>
              <a:t>Input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800" spc="-35" dirty="0">
                <a:solidFill>
                  <a:srgbClr val="D8D5CE"/>
                </a:solidFill>
                <a:latin typeface="Verdana"/>
                <a:cs typeface="Verdana"/>
              </a:rPr>
              <a:t>Check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that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5" dirty="0">
                <a:solidFill>
                  <a:srgbClr val="D8D5CE"/>
                </a:solidFill>
                <a:latin typeface="Verdana"/>
                <a:cs typeface="Verdana"/>
              </a:rPr>
              <a:t>all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fields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are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5" dirty="0">
                <a:solidFill>
                  <a:srgbClr val="D8D5CE"/>
                </a:solidFill>
                <a:latin typeface="Verdana"/>
                <a:cs typeface="Verdana"/>
              </a:rPr>
              <a:t>correct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email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not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already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registered.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100" dirty="0">
                <a:solidFill>
                  <a:srgbClr val="D8D5CE"/>
                </a:solidFill>
              </a:rPr>
              <a:t>03</a:t>
            </a:r>
            <a:endParaRPr sz="1000"/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pc="145" dirty="0">
                <a:solidFill>
                  <a:srgbClr val="D8D5CE"/>
                </a:solidFill>
              </a:rPr>
              <a:t>Hash</a:t>
            </a:r>
            <a:r>
              <a:rPr spc="-20" dirty="0">
                <a:solidFill>
                  <a:srgbClr val="D8D5CE"/>
                </a:solidFill>
              </a:rPr>
              <a:t> </a:t>
            </a:r>
            <a:r>
              <a:rPr spc="55" dirty="0">
                <a:solidFill>
                  <a:srgbClr val="D8D5CE"/>
                </a:solidFill>
              </a:rPr>
              <a:t>the</a:t>
            </a:r>
            <a:r>
              <a:rPr spc="-20" dirty="0">
                <a:solidFill>
                  <a:srgbClr val="D8D5CE"/>
                </a:solidFill>
              </a:rPr>
              <a:t> </a:t>
            </a:r>
            <a:r>
              <a:rPr spc="90" dirty="0">
                <a:solidFill>
                  <a:srgbClr val="D8D5CE"/>
                </a:solidFill>
              </a:rPr>
              <a:t>Password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800" spc="-55" dirty="0">
                <a:solidFill>
                  <a:srgbClr val="D8D5CE"/>
                </a:solidFill>
                <a:latin typeface="Verdana"/>
                <a:cs typeface="Verdana"/>
              </a:rPr>
              <a:t>Password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encrypted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using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BCrypt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0" dirty="0">
                <a:solidFill>
                  <a:srgbClr val="D8D5CE"/>
                </a:solidFill>
                <a:latin typeface="Verdana"/>
                <a:cs typeface="Verdana"/>
              </a:rPr>
              <a:t>before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D8D5CE"/>
                </a:solidFill>
                <a:latin typeface="Verdana"/>
                <a:cs typeface="Verdana"/>
              </a:rPr>
              <a:t>saving.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85" dirty="0">
                <a:solidFill>
                  <a:srgbClr val="D8D5CE"/>
                </a:solidFill>
              </a:rPr>
              <a:t>04</a:t>
            </a:r>
            <a:endParaRPr sz="1000"/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pc="105" dirty="0">
                <a:solidFill>
                  <a:srgbClr val="D8D5CE"/>
                </a:solidFill>
              </a:rPr>
              <a:t>Save</a:t>
            </a:r>
            <a:r>
              <a:rPr spc="-10" dirty="0">
                <a:solidFill>
                  <a:srgbClr val="D8D5CE"/>
                </a:solidFill>
              </a:rPr>
              <a:t> </a:t>
            </a:r>
            <a:r>
              <a:rPr dirty="0">
                <a:solidFill>
                  <a:srgbClr val="D8D5CE"/>
                </a:solidFill>
              </a:rPr>
              <a:t>to</a:t>
            </a:r>
            <a:r>
              <a:rPr spc="-5" dirty="0">
                <a:solidFill>
                  <a:srgbClr val="D8D5CE"/>
                </a:solidFill>
              </a:rPr>
              <a:t> </a:t>
            </a:r>
            <a:r>
              <a:rPr spc="90" dirty="0">
                <a:solidFill>
                  <a:srgbClr val="D8D5CE"/>
                </a:solidFill>
              </a:rPr>
              <a:t>Database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record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stored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0" dirty="0">
                <a:solidFill>
                  <a:srgbClr val="D8D5CE"/>
                </a:solidFill>
                <a:latin typeface="Verdana"/>
                <a:cs typeface="Verdana"/>
              </a:rPr>
              <a:t>securely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in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users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D8D5CE"/>
                </a:solidFill>
                <a:latin typeface="Verdana"/>
                <a:cs typeface="Verdana"/>
              </a:rPr>
              <a:t>table.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7612" y="1439576"/>
            <a:ext cx="886460" cy="474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125" dirty="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00" spc="-25" dirty="0">
                <a:solidFill>
                  <a:srgbClr val="D8D5CE"/>
                </a:solidFill>
                <a:latin typeface="Calibri"/>
                <a:cs typeface="Calibri"/>
              </a:rPr>
              <a:t>01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57925" y="1971675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47612" y="2039651"/>
            <a:ext cx="2256790" cy="4603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100" dirty="0">
                <a:solidFill>
                  <a:srgbClr val="D8D5CE"/>
                </a:solidFill>
                <a:latin typeface="Calibri"/>
                <a:cs typeface="Calibri"/>
              </a:rPr>
              <a:t>Enter</a:t>
            </a:r>
            <a:r>
              <a:rPr sz="130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105" dirty="0">
                <a:solidFill>
                  <a:srgbClr val="D8D5CE"/>
                </a:solidFill>
                <a:latin typeface="Calibri"/>
                <a:cs typeface="Calibri"/>
              </a:rPr>
              <a:t>Username</a:t>
            </a:r>
            <a:r>
              <a:rPr sz="130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185" dirty="0">
                <a:solidFill>
                  <a:srgbClr val="D8D5CE"/>
                </a:solidFill>
                <a:latin typeface="Calibri"/>
                <a:cs typeface="Calibri"/>
              </a:rPr>
              <a:t>&amp;</a:t>
            </a:r>
            <a:r>
              <a:rPr sz="130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90" dirty="0">
                <a:solidFill>
                  <a:srgbClr val="D8D5CE"/>
                </a:solidFill>
                <a:latin typeface="Calibri"/>
                <a:cs typeface="Calibri"/>
              </a:rPr>
              <a:t>Password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5" dirty="0">
                <a:solidFill>
                  <a:srgbClr val="D8D5CE"/>
                </a:solidFill>
                <a:latin typeface="Verdana"/>
                <a:cs typeface="Verdana"/>
              </a:rPr>
              <a:t>submits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5" dirty="0">
                <a:solidFill>
                  <a:srgbClr val="D8D5CE"/>
                </a:solidFill>
                <a:latin typeface="Verdana"/>
                <a:cs typeface="Verdana"/>
              </a:rPr>
              <a:t>their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credentials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on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login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D8D5CE"/>
                </a:solidFill>
                <a:latin typeface="Verdana"/>
                <a:cs typeface="Verdana"/>
              </a:rPr>
              <a:t>page.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7612" y="2641726"/>
            <a:ext cx="1892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00" dirty="0">
                <a:solidFill>
                  <a:srgbClr val="D8D5CE"/>
                </a:solidFill>
                <a:latin typeface="Calibri"/>
                <a:cs typeface="Calibri"/>
              </a:rPr>
              <a:t>02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57925" y="2867025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C9B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47269" y="2944526"/>
            <a:ext cx="2509520" cy="4508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60" dirty="0">
                <a:solidFill>
                  <a:srgbClr val="D8D5CE"/>
                </a:solidFill>
                <a:latin typeface="Calibri"/>
                <a:cs typeface="Calibri"/>
              </a:rPr>
              <a:t>Verify</a:t>
            </a:r>
            <a:r>
              <a:rPr sz="1300" spc="-3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90" dirty="0">
                <a:solidFill>
                  <a:srgbClr val="D8D5CE"/>
                </a:solidFill>
                <a:latin typeface="Calibri"/>
                <a:cs typeface="Calibri"/>
              </a:rPr>
              <a:t>Password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800" spc="-70" dirty="0">
                <a:solidFill>
                  <a:srgbClr val="D8D5CE"/>
                </a:solidFill>
                <a:latin typeface="Verdana"/>
                <a:cs typeface="Verdana"/>
              </a:rPr>
              <a:t>System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5" dirty="0">
                <a:solidFill>
                  <a:srgbClr val="D8D5CE"/>
                </a:solidFill>
                <a:latin typeface="Verdana"/>
                <a:cs typeface="Verdana"/>
              </a:rPr>
              <a:t>compares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input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with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stored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BCrypt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D8D5CE"/>
                </a:solidFill>
                <a:latin typeface="Verdana"/>
                <a:cs typeface="Verdana"/>
              </a:rPr>
              <a:t>hash.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47600" y="3546602"/>
            <a:ext cx="1898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00" dirty="0">
                <a:solidFill>
                  <a:srgbClr val="D8D5CE"/>
                </a:solidFill>
                <a:latin typeface="Calibri"/>
                <a:cs typeface="Calibri"/>
              </a:rPr>
              <a:t>03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57925" y="3771900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D8D5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47612" y="3839876"/>
            <a:ext cx="2520950" cy="4603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75" dirty="0">
                <a:solidFill>
                  <a:srgbClr val="D8D5CE"/>
                </a:solidFill>
                <a:latin typeface="Calibri"/>
                <a:cs typeface="Calibri"/>
              </a:rPr>
              <a:t>Generate</a:t>
            </a:r>
            <a:r>
              <a:rPr sz="1300" spc="-2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185" dirty="0">
                <a:solidFill>
                  <a:srgbClr val="D8D5CE"/>
                </a:solidFill>
                <a:latin typeface="Calibri"/>
                <a:cs typeface="Calibri"/>
              </a:rPr>
              <a:t>&amp;</a:t>
            </a:r>
            <a:r>
              <a:rPr sz="130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140" dirty="0">
                <a:solidFill>
                  <a:srgbClr val="D8D5CE"/>
                </a:solidFill>
                <a:latin typeface="Calibri"/>
                <a:cs typeface="Calibri"/>
              </a:rPr>
              <a:t>Send</a:t>
            </a:r>
            <a:r>
              <a:rPr sz="130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210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80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6-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digit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5" dirty="0">
                <a:solidFill>
                  <a:srgbClr val="D8D5CE"/>
                </a:solidFill>
                <a:latin typeface="Verdana"/>
                <a:cs typeface="Verdana"/>
              </a:rPr>
              <a:t>created,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0" dirty="0">
                <a:solidFill>
                  <a:srgbClr val="D8D5CE"/>
                </a:solidFill>
                <a:latin typeface="Verdana"/>
                <a:cs typeface="Verdana"/>
              </a:rPr>
              <a:t>hashed,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emailed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user.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47612" y="4441952"/>
            <a:ext cx="1854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85" dirty="0">
                <a:solidFill>
                  <a:srgbClr val="D8D5CE"/>
                </a:solidFill>
                <a:latin typeface="Calibri"/>
                <a:cs typeface="Calibri"/>
              </a:rPr>
              <a:t>04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57925" y="4667250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47612" y="4744751"/>
            <a:ext cx="2127250" cy="4508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105" dirty="0">
                <a:solidFill>
                  <a:srgbClr val="D8D5CE"/>
                </a:solidFill>
                <a:latin typeface="Calibri"/>
                <a:cs typeface="Calibri"/>
              </a:rPr>
              <a:t>User</a:t>
            </a:r>
            <a:r>
              <a:rPr sz="1300" spc="-2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100" dirty="0">
                <a:solidFill>
                  <a:srgbClr val="D8D5CE"/>
                </a:solidFill>
                <a:latin typeface="Calibri"/>
                <a:cs typeface="Calibri"/>
              </a:rPr>
              <a:t>Enters</a:t>
            </a:r>
            <a:r>
              <a:rPr sz="1300" spc="-2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210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User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types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5" dirty="0">
                <a:solidFill>
                  <a:srgbClr val="D8D5CE"/>
                </a:solidFill>
                <a:latin typeface="Verdana"/>
                <a:cs typeface="Verdana"/>
              </a:rPr>
              <a:t>received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Verdana"/>
                <a:cs typeface="Verdana"/>
              </a:rPr>
              <a:t>in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5" dirty="0">
                <a:solidFill>
                  <a:srgbClr val="D8D5CE"/>
                </a:solidFill>
                <a:latin typeface="Verdana"/>
                <a:cs typeface="Verdana"/>
              </a:rPr>
              <a:t>their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email</a:t>
            </a:r>
            <a:r>
              <a:rPr sz="8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inbox.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47612" y="5346827"/>
            <a:ext cx="1885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95" dirty="0">
                <a:solidFill>
                  <a:srgbClr val="D8D5CE"/>
                </a:solidFill>
                <a:latin typeface="Calibri"/>
                <a:cs typeface="Calibri"/>
              </a:rPr>
              <a:t>05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57925" y="5572125"/>
            <a:ext cx="3686175" cy="19050"/>
          </a:xfrm>
          <a:custGeom>
            <a:avLst/>
            <a:gdLst/>
            <a:ahLst/>
            <a:cxnLst/>
            <a:rect l="l" t="t" r="r" b="b"/>
            <a:pathLst>
              <a:path w="3686175" h="19050">
                <a:moveTo>
                  <a:pt x="3686175" y="0"/>
                </a:moveTo>
                <a:lnTo>
                  <a:pt x="0" y="0"/>
                </a:lnTo>
                <a:lnTo>
                  <a:pt x="0" y="19050"/>
                </a:lnTo>
                <a:lnTo>
                  <a:pt x="3686175" y="19050"/>
                </a:lnTo>
                <a:lnTo>
                  <a:pt x="3686175" y="0"/>
                </a:lnTo>
                <a:close/>
              </a:path>
            </a:pathLst>
          </a:custGeom>
          <a:solidFill>
            <a:srgbClr val="8E89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247269" y="5649626"/>
            <a:ext cx="2360295" cy="4508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60" dirty="0">
                <a:solidFill>
                  <a:srgbClr val="D8D5CE"/>
                </a:solidFill>
                <a:latin typeface="Calibri"/>
                <a:cs typeface="Calibri"/>
              </a:rPr>
              <a:t>Verify</a:t>
            </a:r>
            <a:r>
              <a:rPr sz="1300" spc="-3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235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r>
              <a:rPr sz="130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185" dirty="0">
                <a:solidFill>
                  <a:srgbClr val="D8D5CE"/>
                </a:solidFill>
                <a:latin typeface="Calibri"/>
                <a:cs typeface="Calibri"/>
              </a:rPr>
              <a:t>&amp;</a:t>
            </a:r>
            <a:r>
              <a:rPr sz="130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105" dirty="0">
                <a:solidFill>
                  <a:srgbClr val="D8D5CE"/>
                </a:solidFill>
                <a:latin typeface="Calibri"/>
                <a:cs typeface="Calibri"/>
              </a:rPr>
              <a:t>Grant</a:t>
            </a:r>
            <a:r>
              <a:rPr sz="1300" spc="-3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300" spc="95" dirty="0">
                <a:solidFill>
                  <a:srgbClr val="D8D5CE"/>
                </a:solidFill>
                <a:latin typeface="Calibri"/>
                <a:cs typeface="Calibri"/>
              </a:rPr>
              <a:t>Access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800" spc="-114" dirty="0">
                <a:solidFill>
                  <a:srgbClr val="D8D5CE"/>
                </a:solidFill>
                <a:latin typeface="Verdana"/>
                <a:cs typeface="Verdana"/>
              </a:rPr>
              <a:t>If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5" dirty="0">
                <a:solidFill>
                  <a:srgbClr val="D8D5CE"/>
                </a:solidFill>
                <a:latin typeface="Verdana"/>
                <a:cs typeface="Verdana"/>
              </a:rPr>
              <a:t>matches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not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expired,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Verdana"/>
                <a:cs typeface="Verdana"/>
              </a:rPr>
              <a:t>login</a:t>
            </a:r>
            <a:r>
              <a:rPr sz="80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8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5" dirty="0">
                <a:solidFill>
                  <a:srgbClr val="D8D5CE"/>
                </a:solidFill>
                <a:latin typeface="Verdana"/>
                <a:cs typeface="Verdana"/>
              </a:rPr>
              <a:t>successful.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4" name="object 2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77200" y="6371716"/>
            <a:ext cx="4114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24462" y="833437"/>
            <a:ext cx="428625" cy="161925"/>
          </a:xfrm>
          <a:custGeom>
            <a:avLst/>
            <a:gdLst/>
            <a:ahLst/>
            <a:cxnLst/>
            <a:rect l="l" t="t" r="r" b="b"/>
            <a:pathLst>
              <a:path w="428625" h="161925">
                <a:moveTo>
                  <a:pt x="0" y="156248"/>
                </a:moveTo>
                <a:lnTo>
                  <a:pt x="0" y="5676"/>
                </a:lnTo>
                <a:lnTo>
                  <a:pt x="0" y="4102"/>
                </a:lnTo>
                <a:lnTo>
                  <a:pt x="558" y="2768"/>
                </a:lnTo>
                <a:lnTo>
                  <a:pt x="1663" y="1663"/>
                </a:lnTo>
                <a:lnTo>
                  <a:pt x="2768" y="558"/>
                </a:lnTo>
                <a:lnTo>
                  <a:pt x="4102" y="0"/>
                </a:lnTo>
                <a:lnTo>
                  <a:pt x="5676" y="0"/>
                </a:lnTo>
                <a:lnTo>
                  <a:pt x="422948" y="0"/>
                </a:lnTo>
                <a:lnTo>
                  <a:pt x="424522" y="0"/>
                </a:lnTo>
                <a:lnTo>
                  <a:pt x="425856" y="558"/>
                </a:lnTo>
                <a:lnTo>
                  <a:pt x="426961" y="1663"/>
                </a:lnTo>
                <a:lnTo>
                  <a:pt x="428066" y="2768"/>
                </a:lnTo>
                <a:lnTo>
                  <a:pt x="428625" y="4102"/>
                </a:lnTo>
                <a:lnTo>
                  <a:pt x="428625" y="5676"/>
                </a:lnTo>
                <a:lnTo>
                  <a:pt x="428625" y="156248"/>
                </a:lnTo>
                <a:lnTo>
                  <a:pt x="428625" y="157822"/>
                </a:lnTo>
                <a:lnTo>
                  <a:pt x="428066" y="159156"/>
                </a:lnTo>
                <a:lnTo>
                  <a:pt x="426961" y="160261"/>
                </a:lnTo>
                <a:lnTo>
                  <a:pt x="425856" y="161366"/>
                </a:lnTo>
                <a:lnTo>
                  <a:pt x="424522" y="161925"/>
                </a:lnTo>
                <a:lnTo>
                  <a:pt x="422948" y="161925"/>
                </a:lnTo>
                <a:lnTo>
                  <a:pt x="5676" y="161925"/>
                </a:lnTo>
                <a:lnTo>
                  <a:pt x="4102" y="161925"/>
                </a:lnTo>
                <a:lnTo>
                  <a:pt x="2768" y="161366"/>
                </a:lnTo>
                <a:lnTo>
                  <a:pt x="1663" y="160261"/>
                </a:lnTo>
                <a:lnTo>
                  <a:pt x="558" y="159156"/>
                </a:lnTo>
                <a:lnTo>
                  <a:pt x="0" y="157822"/>
                </a:lnTo>
                <a:lnTo>
                  <a:pt x="0" y="156248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82450" y="846836"/>
            <a:ext cx="315595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spc="-60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650" spc="-70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FFFFF0"/>
                </a:solidFill>
                <a:latin typeface="Verdana"/>
                <a:cs typeface="Verdana"/>
              </a:rPr>
              <a:t>9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10428" y="998569"/>
            <a:ext cx="22733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160" dirty="0"/>
              <a:t>Security</a:t>
            </a:r>
            <a:r>
              <a:rPr sz="2150" spc="-45" dirty="0"/>
              <a:t> </a:t>
            </a:r>
            <a:r>
              <a:rPr sz="2150" spc="140" dirty="0"/>
              <a:t>Features</a:t>
            </a:r>
            <a:endParaRPr sz="2150"/>
          </a:p>
        </p:txBody>
      </p:sp>
      <p:sp>
        <p:nvSpPr>
          <p:cNvPr id="6" name="object 6"/>
          <p:cNvSpPr/>
          <p:nvPr/>
        </p:nvSpPr>
        <p:spPr>
          <a:xfrm>
            <a:off x="5219700" y="1647825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69">
                <a:moveTo>
                  <a:pt x="521906" y="0"/>
                </a:moveTo>
                <a:lnTo>
                  <a:pt x="0" y="156578"/>
                </a:lnTo>
                <a:lnTo>
                  <a:pt x="0" y="521944"/>
                </a:lnTo>
                <a:lnTo>
                  <a:pt x="521906" y="365366"/>
                </a:lnTo>
                <a:lnTo>
                  <a:pt x="521906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45874" y="1783429"/>
            <a:ext cx="8001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-14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0428" y="1389253"/>
            <a:ext cx="3778250" cy="42290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800" spc="-45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0" dirty="0">
                <a:solidFill>
                  <a:srgbClr val="D8D5CE"/>
                </a:solidFill>
                <a:latin typeface="Verdana"/>
                <a:cs typeface="Verdana"/>
              </a:rPr>
              <a:t>system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4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5" dirty="0">
                <a:solidFill>
                  <a:srgbClr val="D8D5CE"/>
                </a:solidFill>
                <a:latin typeface="Verdana"/>
                <a:cs typeface="Verdana"/>
              </a:rPr>
              <a:t>built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0" dirty="0">
                <a:solidFill>
                  <a:srgbClr val="D8D5CE"/>
                </a:solidFill>
                <a:latin typeface="Verdana"/>
                <a:cs typeface="Verdana"/>
              </a:rPr>
              <a:t>with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55" dirty="0">
                <a:solidFill>
                  <a:srgbClr val="D8D5CE"/>
                </a:solidFill>
                <a:latin typeface="Arial Black"/>
                <a:cs typeface="Arial Black"/>
              </a:rPr>
              <a:t>multiple</a:t>
            </a:r>
            <a:r>
              <a:rPr sz="800" spc="-10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00" spc="-65" dirty="0">
                <a:solidFill>
                  <a:srgbClr val="D8D5CE"/>
                </a:solidFill>
                <a:latin typeface="Arial Black"/>
                <a:cs typeface="Arial Black"/>
              </a:rPr>
              <a:t>layers</a:t>
            </a:r>
            <a:r>
              <a:rPr sz="800" spc="-9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D8D5CE"/>
                </a:solidFill>
                <a:latin typeface="Arial Black"/>
                <a:cs typeface="Arial Black"/>
              </a:rPr>
              <a:t>of</a:t>
            </a:r>
            <a:r>
              <a:rPr sz="800" spc="-10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D8D5CE"/>
                </a:solidFill>
                <a:latin typeface="Arial Black"/>
                <a:cs typeface="Arial Black"/>
              </a:rPr>
              <a:t>protection</a:t>
            </a:r>
            <a:r>
              <a:rPr sz="800" spc="-75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00" spc="-4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8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70" dirty="0">
                <a:solidFill>
                  <a:srgbClr val="D8D5CE"/>
                </a:solidFill>
                <a:latin typeface="Verdana"/>
                <a:cs typeface="Verdana"/>
              </a:rPr>
              <a:t>prevent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D8D5CE"/>
                </a:solidFill>
                <a:latin typeface="Verdana"/>
                <a:cs typeface="Verdana"/>
              </a:rPr>
              <a:t>common</a:t>
            </a:r>
            <a:r>
              <a:rPr sz="8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D8D5CE"/>
                </a:solidFill>
                <a:latin typeface="Verdana"/>
                <a:cs typeface="Verdana"/>
              </a:rPr>
              <a:t>attacks:</a:t>
            </a:r>
            <a:endParaRPr sz="800">
              <a:latin typeface="Verdana"/>
              <a:cs typeface="Verdana"/>
            </a:endParaRPr>
          </a:p>
          <a:p>
            <a:pPr marL="594360">
              <a:lnSpc>
                <a:spcPct val="100000"/>
              </a:lnSpc>
              <a:spcBef>
                <a:spcPts val="515"/>
              </a:spcBef>
            </a:pPr>
            <a:r>
              <a:rPr sz="1050" spc="120" dirty="0">
                <a:solidFill>
                  <a:srgbClr val="D8D5CE"/>
                </a:solidFill>
                <a:latin typeface="Calibri"/>
                <a:cs typeface="Calibri"/>
              </a:rPr>
              <a:t>BCrypt</a:t>
            </a:r>
            <a:r>
              <a:rPr sz="10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95" dirty="0">
                <a:solidFill>
                  <a:srgbClr val="D8D5CE"/>
                </a:solidFill>
                <a:latin typeface="Calibri"/>
                <a:cs typeface="Calibri"/>
              </a:rPr>
              <a:t>Password</a:t>
            </a:r>
            <a:r>
              <a:rPr sz="10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95" dirty="0">
                <a:solidFill>
                  <a:srgbClr val="D8D5CE"/>
                </a:solidFill>
                <a:latin typeface="Calibri"/>
                <a:cs typeface="Calibri"/>
              </a:rPr>
              <a:t>Hashing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2495" y="1827910"/>
            <a:ext cx="3013710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Passwords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are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never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stored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in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plain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text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D8D5CE"/>
                </a:solidFill>
                <a:latin typeface="Verdana"/>
                <a:cs typeface="Verdana"/>
              </a:rPr>
              <a:t>4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they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are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strongly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encrypted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using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BCrypt.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19700" y="226695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69">
                <a:moveTo>
                  <a:pt x="521906" y="0"/>
                </a:moveTo>
                <a:lnTo>
                  <a:pt x="0" y="156578"/>
                </a:lnTo>
                <a:lnTo>
                  <a:pt x="0" y="521944"/>
                </a:lnTo>
                <a:lnTo>
                  <a:pt x="521906" y="365366"/>
                </a:lnTo>
                <a:lnTo>
                  <a:pt x="521906" y="0"/>
                </a:lnTo>
                <a:close/>
              </a:path>
            </a:pathLst>
          </a:custGeom>
          <a:solidFill>
            <a:srgbClr val="C9B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24881" y="2412079"/>
            <a:ext cx="12192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9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2495" y="2156868"/>
            <a:ext cx="2976245" cy="425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50" spc="204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r>
              <a:rPr sz="10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95" dirty="0">
                <a:solidFill>
                  <a:srgbClr val="D8D5CE"/>
                </a:solidFill>
                <a:latin typeface="Calibri"/>
                <a:cs typeface="Calibri"/>
              </a:rPr>
              <a:t>Hashing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650" spc="-20" dirty="0">
                <a:solidFill>
                  <a:srgbClr val="D8D5CE"/>
                </a:solidFill>
                <a:latin typeface="Verdana"/>
                <a:cs typeface="Verdana"/>
              </a:rPr>
              <a:t>OTPs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are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also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hashed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before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storing,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preventing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exposure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even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in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database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20" dirty="0">
                <a:solidFill>
                  <a:srgbClr val="D8D5CE"/>
                </a:solidFill>
                <a:latin typeface="Verdana"/>
                <a:cs typeface="Verdana"/>
              </a:rPr>
              <a:t>leak.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19700" y="289560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521906" y="0"/>
                </a:moveTo>
                <a:lnTo>
                  <a:pt x="0" y="156578"/>
                </a:lnTo>
                <a:lnTo>
                  <a:pt x="0" y="521944"/>
                </a:lnTo>
                <a:lnTo>
                  <a:pt x="521906" y="365366"/>
                </a:lnTo>
                <a:lnTo>
                  <a:pt x="521906" y="0"/>
                </a:lnTo>
                <a:close/>
              </a:path>
            </a:pathLst>
          </a:custGeom>
          <a:solidFill>
            <a:srgbClr val="D8D5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24284" y="3031204"/>
            <a:ext cx="12255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95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92495" y="2785518"/>
            <a:ext cx="2722245" cy="425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50" spc="204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r>
              <a:rPr sz="10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110" dirty="0">
                <a:solidFill>
                  <a:srgbClr val="D8D5CE"/>
                </a:solidFill>
                <a:latin typeface="Calibri"/>
                <a:cs typeface="Calibri"/>
              </a:rPr>
              <a:t>Expires</a:t>
            </a:r>
            <a:r>
              <a:rPr sz="10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90" dirty="0">
                <a:solidFill>
                  <a:srgbClr val="D8D5CE"/>
                </a:solidFill>
                <a:latin typeface="Calibri"/>
                <a:cs typeface="Calibri"/>
              </a:rPr>
              <a:t>in</a:t>
            </a:r>
            <a:r>
              <a:rPr sz="10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110" dirty="0">
                <a:solidFill>
                  <a:srgbClr val="D8D5CE"/>
                </a:solidFill>
                <a:latin typeface="Calibri"/>
                <a:cs typeface="Calibri"/>
              </a:rPr>
              <a:t>5</a:t>
            </a:r>
            <a:r>
              <a:rPr sz="10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65" dirty="0">
                <a:solidFill>
                  <a:srgbClr val="D8D5CE"/>
                </a:solidFill>
                <a:latin typeface="Calibri"/>
                <a:cs typeface="Calibri"/>
              </a:rPr>
              <a:t>Minutes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650" spc="-20" dirty="0">
                <a:solidFill>
                  <a:srgbClr val="D8D5CE"/>
                </a:solidFill>
                <a:latin typeface="Verdana"/>
                <a:cs typeface="Verdana"/>
              </a:rPr>
              <a:t>OTPs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are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time-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limited</a:t>
            </a:r>
            <a:r>
              <a:rPr sz="6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D8D5CE"/>
                </a:solidFill>
                <a:latin typeface="Verdana"/>
                <a:cs typeface="Verdana"/>
              </a:rPr>
              <a:t>4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they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automatically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become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invalid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after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5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minutes.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19700" y="352425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521906" y="0"/>
                </a:moveTo>
                <a:lnTo>
                  <a:pt x="0" y="156578"/>
                </a:lnTo>
                <a:lnTo>
                  <a:pt x="0" y="521944"/>
                </a:lnTo>
                <a:lnTo>
                  <a:pt x="521906" y="365366"/>
                </a:lnTo>
                <a:lnTo>
                  <a:pt x="521906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27116" y="3659854"/>
            <a:ext cx="11747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2495" y="3414168"/>
            <a:ext cx="2920365" cy="425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50" spc="125" dirty="0">
                <a:solidFill>
                  <a:srgbClr val="D8D5CE"/>
                </a:solidFill>
                <a:latin typeface="Calibri"/>
                <a:cs typeface="Calibri"/>
              </a:rPr>
              <a:t>Maximum</a:t>
            </a:r>
            <a:r>
              <a:rPr sz="10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125" dirty="0">
                <a:solidFill>
                  <a:srgbClr val="D8D5CE"/>
                </a:solidFill>
                <a:latin typeface="Calibri"/>
                <a:cs typeface="Calibri"/>
              </a:rPr>
              <a:t>3</a:t>
            </a:r>
            <a:r>
              <a:rPr sz="10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50" dirty="0">
                <a:solidFill>
                  <a:srgbClr val="D8D5CE"/>
                </a:solidFill>
                <a:latin typeface="Calibri"/>
                <a:cs typeface="Calibri"/>
              </a:rPr>
              <a:t>Attempts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After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3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failed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attempts,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session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blocked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prevent</a:t>
            </a:r>
            <a:r>
              <a:rPr sz="65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brute-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force</a:t>
            </a:r>
            <a:r>
              <a:rPr sz="65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attacks.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19700" y="415290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521906" y="0"/>
                </a:moveTo>
                <a:lnTo>
                  <a:pt x="0" y="156578"/>
                </a:lnTo>
                <a:lnTo>
                  <a:pt x="0" y="521944"/>
                </a:lnTo>
                <a:lnTo>
                  <a:pt x="521906" y="365366"/>
                </a:lnTo>
                <a:lnTo>
                  <a:pt x="521906" y="0"/>
                </a:lnTo>
                <a:close/>
              </a:path>
            </a:pathLst>
          </a:custGeom>
          <a:solidFill>
            <a:srgbClr val="8E89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25478" y="4288504"/>
            <a:ext cx="12065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75" dirty="0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92495" y="4058486"/>
            <a:ext cx="3029585" cy="40005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050" spc="225" dirty="0">
                <a:solidFill>
                  <a:srgbClr val="D8D5CE"/>
                </a:solidFill>
                <a:latin typeface="Calibri"/>
                <a:cs typeface="Calibri"/>
              </a:rPr>
              <a:t>SQL</a:t>
            </a:r>
            <a:r>
              <a:rPr sz="105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70" dirty="0">
                <a:solidFill>
                  <a:srgbClr val="D8D5CE"/>
                </a:solidFill>
                <a:latin typeface="Calibri"/>
                <a:cs typeface="Calibri"/>
              </a:rPr>
              <a:t>Injection</a:t>
            </a:r>
            <a:r>
              <a:rPr sz="105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65" dirty="0">
                <a:solidFill>
                  <a:srgbClr val="D8D5CE"/>
                </a:solidFill>
                <a:latin typeface="Calibri"/>
                <a:cs typeface="Calibri"/>
              </a:rPr>
              <a:t>Prevention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Prepared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statements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are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used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25" dirty="0">
                <a:solidFill>
                  <a:srgbClr val="D8D5CE"/>
                </a:solidFill>
                <a:latin typeface="Verdana"/>
                <a:cs typeface="Verdana"/>
              </a:rPr>
              <a:t>so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hackers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cannot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inject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malicious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20" dirty="0">
                <a:solidFill>
                  <a:srgbClr val="D8D5CE"/>
                </a:solidFill>
                <a:latin typeface="Verdana"/>
                <a:cs typeface="Verdana"/>
              </a:rPr>
              <a:t>SQL</a:t>
            </a:r>
            <a:r>
              <a:rPr sz="65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commands.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19700" y="4772025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521906" y="0"/>
                </a:moveTo>
                <a:lnTo>
                  <a:pt x="0" y="156578"/>
                </a:lnTo>
                <a:lnTo>
                  <a:pt x="0" y="521944"/>
                </a:lnTo>
                <a:lnTo>
                  <a:pt x="521906" y="365366"/>
                </a:lnTo>
                <a:lnTo>
                  <a:pt x="521906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22061" y="4917154"/>
            <a:ext cx="12700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13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2495" y="4661943"/>
            <a:ext cx="3046095" cy="425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50" spc="80" dirty="0">
                <a:solidFill>
                  <a:srgbClr val="D8D5CE"/>
                </a:solidFill>
                <a:latin typeface="Calibri"/>
                <a:cs typeface="Calibri"/>
              </a:rPr>
              <a:t>One-</a:t>
            </a:r>
            <a:r>
              <a:rPr sz="1050" spc="125" dirty="0">
                <a:solidFill>
                  <a:srgbClr val="D8D5CE"/>
                </a:solidFill>
                <a:latin typeface="Calibri"/>
                <a:cs typeface="Calibri"/>
              </a:rPr>
              <a:t>Time</a:t>
            </a:r>
            <a:r>
              <a:rPr sz="10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204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r>
              <a:rPr sz="1050" spc="-1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65" dirty="0">
                <a:solidFill>
                  <a:srgbClr val="D8D5CE"/>
                </a:solidFill>
                <a:latin typeface="Calibri"/>
                <a:cs typeface="Calibri"/>
              </a:rPr>
              <a:t>Usage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650" spc="-25" dirty="0">
                <a:solidFill>
                  <a:srgbClr val="D8D5CE"/>
                </a:solidFill>
                <a:latin typeface="Verdana"/>
                <a:cs typeface="Verdana"/>
              </a:rPr>
              <a:t>Once</a:t>
            </a:r>
            <a:r>
              <a:rPr sz="6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0" dirty="0">
                <a:solidFill>
                  <a:srgbClr val="D8D5CE"/>
                </a:solidFill>
                <a:latin typeface="Verdana"/>
                <a:cs typeface="Verdana"/>
              </a:rPr>
              <a:t>an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used,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it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immediately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marked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20" dirty="0">
                <a:solidFill>
                  <a:srgbClr val="D8D5CE"/>
                </a:solidFill>
                <a:latin typeface="Verdana"/>
                <a:cs typeface="Verdana"/>
              </a:rPr>
              <a:t>as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consumed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cannot</a:t>
            </a:r>
            <a:r>
              <a:rPr sz="65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5" dirty="0">
                <a:solidFill>
                  <a:srgbClr val="D8D5CE"/>
                </a:solidFill>
                <a:latin typeface="Verdana"/>
                <a:cs typeface="Verdana"/>
              </a:rPr>
              <a:t>be</a:t>
            </a:r>
            <a:r>
              <a:rPr sz="65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reused.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19700" y="5400675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521906" y="0"/>
                </a:moveTo>
                <a:lnTo>
                  <a:pt x="0" y="156578"/>
                </a:lnTo>
                <a:lnTo>
                  <a:pt x="0" y="521940"/>
                </a:lnTo>
                <a:lnTo>
                  <a:pt x="521906" y="365367"/>
                </a:lnTo>
                <a:lnTo>
                  <a:pt x="521906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33669" y="5536279"/>
            <a:ext cx="104139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92215" y="5290593"/>
            <a:ext cx="3293110" cy="425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50" spc="80" dirty="0">
                <a:solidFill>
                  <a:srgbClr val="D8D5CE"/>
                </a:solidFill>
                <a:latin typeface="Calibri"/>
                <a:cs typeface="Calibri"/>
              </a:rPr>
              <a:t>Audit</a:t>
            </a:r>
            <a:r>
              <a:rPr sz="1050" spc="-2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050" spc="85" dirty="0">
                <a:solidFill>
                  <a:srgbClr val="D8D5CE"/>
                </a:solidFill>
                <a:latin typeface="Calibri"/>
                <a:cs typeface="Calibri"/>
              </a:rPr>
              <a:t>Logging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All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login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activity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logged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25" dirty="0">
                <a:solidFill>
                  <a:srgbClr val="D8D5CE"/>
                </a:solidFill>
                <a:latin typeface="Verdana"/>
                <a:cs typeface="Verdana"/>
              </a:rPr>
              <a:t>so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D8D5CE"/>
                </a:solidFill>
                <a:latin typeface="Verdana"/>
                <a:cs typeface="Verdana"/>
              </a:rPr>
              <a:t>administrators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20" dirty="0">
                <a:solidFill>
                  <a:srgbClr val="D8D5CE"/>
                </a:solidFill>
                <a:latin typeface="Verdana"/>
                <a:cs typeface="Verdana"/>
              </a:rPr>
              <a:t>can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45" dirty="0">
                <a:solidFill>
                  <a:srgbClr val="D8D5CE"/>
                </a:solidFill>
                <a:latin typeface="Verdana"/>
                <a:cs typeface="Verdana"/>
              </a:rPr>
              <a:t>detect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3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55" dirty="0">
                <a:solidFill>
                  <a:srgbClr val="D8D5CE"/>
                </a:solidFill>
                <a:latin typeface="Verdana"/>
                <a:cs typeface="Verdana"/>
              </a:rPr>
              <a:t>investigate </a:t>
            </a:r>
            <a:r>
              <a:rPr sz="650" spc="-40" dirty="0">
                <a:solidFill>
                  <a:srgbClr val="D8D5CE"/>
                </a:solidFill>
                <a:latin typeface="Verdana"/>
                <a:cs typeface="Verdana"/>
              </a:rPr>
              <a:t>suspicious</a:t>
            </a:r>
            <a:r>
              <a:rPr sz="650" spc="-6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650" spc="-10" dirty="0">
                <a:solidFill>
                  <a:srgbClr val="D8D5CE"/>
                </a:solidFill>
                <a:latin typeface="Verdana"/>
                <a:cs typeface="Verdana"/>
              </a:rPr>
              <a:t>behavior.</a:t>
            </a:r>
            <a:endParaRPr sz="650">
              <a:latin typeface="Verdana"/>
              <a:cs typeface="Verdana"/>
            </a:endParaRPr>
          </a:p>
        </p:txBody>
      </p:sp>
      <p:pic>
        <p:nvPicPr>
          <p:cNvPr id="28" name="object 2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77200" y="6371716"/>
            <a:ext cx="4114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4097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681287" y="1966912"/>
            <a:ext cx="485775" cy="180975"/>
          </a:xfrm>
          <a:custGeom>
            <a:avLst/>
            <a:gdLst/>
            <a:ahLst/>
            <a:cxnLst/>
            <a:rect l="l" t="t" r="r" b="b"/>
            <a:pathLst>
              <a:path w="485775" h="180975">
                <a:moveTo>
                  <a:pt x="0" y="174447"/>
                </a:moveTo>
                <a:lnTo>
                  <a:pt x="0" y="6527"/>
                </a:lnTo>
                <a:lnTo>
                  <a:pt x="0" y="4724"/>
                </a:lnTo>
                <a:lnTo>
                  <a:pt x="635" y="3187"/>
                </a:lnTo>
                <a:lnTo>
                  <a:pt x="1905" y="1905"/>
                </a:lnTo>
                <a:lnTo>
                  <a:pt x="3187" y="635"/>
                </a:lnTo>
                <a:lnTo>
                  <a:pt x="4724" y="0"/>
                </a:lnTo>
                <a:lnTo>
                  <a:pt x="6527" y="0"/>
                </a:lnTo>
                <a:lnTo>
                  <a:pt x="479247" y="0"/>
                </a:lnTo>
                <a:lnTo>
                  <a:pt x="481050" y="0"/>
                </a:lnTo>
                <a:lnTo>
                  <a:pt x="482587" y="635"/>
                </a:lnTo>
                <a:lnTo>
                  <a:pt x="483870" y="1905"/>
                </a:lnTo>
                <a:lnTo>
                  <a:pt x="485140" y="3187"/>
                </a:lnTo>
                <a:lnTo>
                  <a:pt x="485775" y="4724"/>
                </a:lnTo>
                <a:lnTo>
                  <a:pt x="485775" y="6527"/>
                </a:lnTo>
                <a:lnTo>
                  <a:pt x="485775" y="174447"/>
                </a:lnTo>
                <a:lnTo>
                  <a:pt x="485775" y="176250"/>
                </a:lnTo>
                <a:lnTo>
                  <a:pt x="485140" y="177787"/>
                </a:lnTo>
                <a:lnTo>
                  <a:pt x="483870" y="179070"/>
                </a:lnTo>
                <a:lnTo>
                  <a:pt x="482587" y="180340"/>
                </a:lnTo>
                <a:lnTo>
                  <a:pt x="481050" y="180975"/>
                </a:lnTo>
                <a:lnTo>
                  <a:pt x="479247" y="180975"/>
                </a:lnTo>
                <a:lnTo>
                  <a:pt x="6527" y="180975"/>
                </a:lnTo>
                <a:lnTo>
                  <a:pt x="4724" y="180975"/>
                </a:lnTo>
                <a:lnTo>
                  <a:pt x="3187" y="180340"/>
                </a:lnTo>
                <a:lnTo>
                  <a:pt x="1905" y="179070"/>
                </a:lnTo>
                <a:lnTo>
                  <a:pt x="635" y="177787"/>
                </a:lnTo>
                <a:lnTo>
                  <a:pt x="0" y="176250"/>
                </a:lnTo>
                <a:lnTo>
                  <a:pt x="0" y="174447"/>
                </a:lnTo>
                <a:close/>
              </a:path>
            </a:pathLst>
          </a:custGeom>
          <a:ln w="9525">
            <a:solidFill>
              <a:srgbClr val="FFF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45384" y="1973548"/>
            <a:ext cx="368935" cy="1339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-55" dirty="0">
                <a:solidFill>
                  <a:srgbClr val="FFFFF0"/>
                </a:solidFill>
                <a:latin typeface="Verdana"/>
                <a:cs typeface="Verdana"/>
              </a:rPr>
              <a:t>SLIDE</a:t>
            </a:r>
            <a:r>
              <a:rPr sz="700" spc="-95" dirty="0">
                <a:solidFill>
                  <a:srgbClr val="FFFFF0"/>
                </a:solidFill>
                <a:latin typeface="Verdana"/>
                <a:cs typeface="Verdana"/>
              </a:rPr>
              <a:t> </a:t>
            </a:r>
            <a:r>
              <a:rPr sz="700" spc="-90" dirty="0">
                <a:solidFill>
                  <a:srgbClr val="FFFFF0"/>
                </a:solidFill>
                <a:latin typeface="Verdana"/>
                <a:cs typeface="Verdana"/>
              </a:rPr>
              <a:t>10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668295" y="2147855"/>
            <a:ext cx="4931410" cy="382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00" spc="105" dirty="0"/>
              <a:t>Testing,</a:t>
            </a:r>
            <a:r>
              <a:rPr sz="2300" spc="-50" dirty="0"/>
              <a:t> </a:t>
            </a:r>
            <a:r>
              <a:rPr sz="2300" spc="190" dirty="0"/>
              <a:t>Future</a:t>
            </a:r>
            <a:r>
              <a:rPr sz="2300" spc="-50" dirty="0"/>
              <a:t> </a:t>
            </a:r>
            <a:r>
              <a:rPr sz="2300" spc="245" dirty="0"/>
              <a:t>Scope</a:t>
            </a:r>
            <a:r>
              <a:rPr sz="2300" spc="-50" dirty="0"/>
              <a:t> </a:t>
            </a:r>
            <a:r>
              <a:rPr sz="2300" spc="330" dirty="0"/>
              <a:t>&amp;</a:t>
            </a:r>
            <a:r>
              <a:rPr sz="2300" spc="-50" dirty="0"/>
              <a:t> </a:t>
            </a:r>
            <a:r>
              <a:rPr sz="2300" spc="190" dirty="0"/>
              <a:t>Conclusion</a:t>
            </a:r>
            <a:endParaRPr sz="2300"/>
          </a:p>
        </p:txBody>
      </p:sp>
      <p:sp>
        <p:nvSpPr>
          <p:cNvPr id="6" name="object 6"/>
          <p:cNvSpPr/>
          <p:nvPr/>
        </p:nvSpPr>
        <p:spPr>
          <a:xfrm>
            <a:off x="2676525" y="2990850"/>
            <a:ext cx="1609725" cy="971550"/>
          </a:xfrm>
          <a:custGeom>
            <a:avLst/>
            <a:gdLst/>
            <a:ahLst/>
            <a:cxnLst/>
            <a:rect l="l" t="t" r="r" b="b"/>
            <a:pathLst>
              <a:path w="1609725" h="971550">
                <a:moveTo>
                  <a:pt x="1597494" y="0"/>
                </a:moveTo>
                <a:lnTo>
                  <a:pt x="12230" y="0"/>
                </a:lnTo>
                <a:lnTo>
                  <a:pt x="10439" y="355"/>
                </a:lnTo>
                <a:lnTo>
                  <a:pt x="0" y="12230"/>
                </a:lnTo>
                <a:lnTo>
                  <a:pt x="0" y="957440"/>
                </a:lnTo>
                <a:lnTo>
                  <a:pt x="0" y="959319"/>
                </a:lnTo>
                <a:lnTo>
                  <a:pt x="12230" y="971550"/>
                </a:lnTo>
                <a:lnTo>
                  <a:pt x="1597494" y="971550"/>
                </a:lnTo>
                <a:lnTo>
                  <a:pt x="1609725" y="959319"/>
                </a:lnTo>
                <a:lnTo>
                  <a:pt x="1609725" y="12230"/>
                </a:lnTo>
                <a:lnTo>
                  <a:pt x="1599285" y="355"/>
                </a:lnTo>
                <a:lnTo>
                  <a:pt x="1597494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80799" y="3077400"/>
            <a:ext cx="1122680" cy="7829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316865">
              <a:lnSpc>
                <a:spcPct val="103299"/>
              </a:lnSpc>
              <a:spcBef>
                <a:spcPts val="70"/>
              </a:spcBef>
            </a:pPr>
            <a:r>
              <a:rPr sz="1150" spc="85" dirty="0">
                <a:solidFill>
                  <a:srgbClr val="FFFFFF"/>
                </a:solidFill>
                <a:latin typeface="Calibri"/>
                <a:cs typeface="Calibri"/>
              </a:rPr>
              <a:t>Password </a:t>
            </a:r>
            <a:r>
              <a:rPr sz="1150" spc="50" dirty="0">
                <a:solidFill>
                  <a:srgbClr val="FFFFFF"/>
                </a:solidFill>
                <a:latin typeface="Calibri"/>
                <a:cs typeface="Calibri"/>
              </a:rPr>
              <a:t>Verification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ts val="830"/>
              </a:lnSpc>
              <a:spcBef>
                <a:spcPts val="680"/>
              </a:spcBef>
            </a:pPr>
            <a:r>
              <a:rPr sz="700" spc="-65" dirty="0">
                <a:solidFill>
                  <a:srgbClr val="FFFFFF"/>
                </a:solidFill>
                <a:latin typeface="Verdana"/>
                <a:cs typeface="Verdana"/>
              </a:rPr>
              <a:t>Tested</a:t>
            </a:r>
            <a:r>
              <a:rPr sz="7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7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700" spc="-35" dirty="0">
                <a:solidFill>
                  <a:srgbClr val="FFFFFF"/>
                </a:solidFill>
                <a:latin typeface="Verdana"/>
                <a:cs typeface="Verdana"/>
              </a:rPr>
              <a:t>BCrypt</a:t>
            </a:r>
            <a:r>
              <a:rPr sz="7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700" spc="-45" dirty="0">
                <a:solidFill>
                  <a:srgbClr val="FFFFFF"/>
                </a:solidFill>
                <a:latin typeface="Verdana"/>
                <a:cs typeface="Verdana"/>
              </a:rPr>
              <a:t>correctly </a:t>
            </a:r>
            <a:r>
              <a:rPr sz="700" spc="-50" dirty="0">
                <a:solidFill>
                  <a:srgbClr val="FFFFFF"/>
                </a:solidFill>
                <a:latin typeface="Verdana"/>
                <a:cs typeface="Verdana"/>
              </a:rPr>
              <a:t>validates</a:t>
            </a:r>
            <a:r>
              <a:rPr sz="7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700" spc="-60" dirty="0">
                <a:solidFill>
                  <a:srgbClr val="FFFFFF"/>
                </a:solidFill>
                <a:latin typeface="Verdana"/>
                <a:cs typeface="Verdana"/>
              </a:rPr>
              <a:t>right</a:t>
            </a:r>
            <a:r>
              <a:rPr sz="7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700" spc="-3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7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Verdana"/>
                <a:cs typeface="Verdana"/>
              </a:rPr>
              <a:t>wrong passwords.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52925" y="2990850"/>
            <a:ext cx="1609725" cy="971550"/>
          </a:xfrm>
          <a:custGeom>
            <a:avLst/>
            <a:gdLst/>
            <a:ahLst/>
            <a:cxnLst/>
            <a:rect l="l" t="t" r="r" b="b"/>
            <a:pathLst>
              <a:path w="1609725" h="971550">
                <a:moveTo>
                  <a:pt x="1597494" y="0"/>
                </a:moveTo>
                <a:lnTo>
                  <a:pt x="12230" y="0"/>
                </a:lnTo>
                <a:lnTo>
                  <a:pt x="10426" y="355"/>
                </a:lnTo>
                <a:lnTo>
                  <a:pt x="0" y="12230"/>
                </a:lnTo>
                <a:lnTo>
                  <a:pt x="0" y="957440"/>
                </a:lnTo>
                <a:lnTo>
                  <a:pt x="0" y="959319"/>
                </a:lnTo>
                <a:lnTo>
                  <a:pt x="12230" y="971550"/>
                </a:lnTo>
                <a:lnTo>
                  <a:pt x="1597494" y="971550"/>
                </a:lnTo>
                <a:lnTo>
                  <a:pt x="1609725" y="959319"/>
                </a:lnTo>
                <a:lnTo>
                  <a:pt x="1609725" y="12230"/>
                </a:lnTo>
                <a:lnTo>
                  <a:pt x="1599285" y="355"/>
                </a:lnTo>
                <a:lnTo>
                  <a:pt x="1597494" y="0"/>
                </a:lnTo>
                <a:close/>
              </a:path>
            </a:pathLst>
          </a:custGeom>
          <a:solidFill>
            <a:srgbClr val="C9B7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54969" y="3077400"/>
            <a:ext cx="1235075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215" dirty="0">
                <a:latin typeface="Calibri"/>
                <a:cs typeface="Calibri"/>
              </a:rPr>
              <a:t>OTP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spc="70" dirty="0">
                <a:latin typeface="Calibri"/>
                <a:cs typeface="Calibri"/>
              </a:rPr>
              <a:t>Generation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93800"/>
              </a:lnSpc>
              <a:spcBef>
                <a:spcPts val="700"/>
              </a:spcBef>
            </a:pPr>
            <a:r>
              <a:rPr sz="700" spc="-55" dirty="0">
                <a:latin typeface="Verdana"/>
                <a:cs typeface="Verdana"/>
              </a:rPr>
              <a:t>Verified</a:t>
            </a:r>
            <a:r>
              <a:rPr sz="700" spc="-90" dirty="0">
                <a:latin typeface="Verdana"/>
                <a:cs typeface="Verdana"/>
              </a:rPr>
              <a:t> </a:t>
            </a:r>
            <a:r>
              <a:rPr sz="700" spc="-40" dirty="0">
                <a:latin typeface="Verdana"/>
                <a:cs typeface="Verdana"/>
              </a:rPr>
              <a:t>that</a:t>
            </a:r>
            <a:r>
              <a:rPr sz="700" spc="-90" dirty="0">
                <a:latin typeface="Verdana"/>
                <a:cs typeface="Verdana"/>
              </a:rPr>
              <a:t> </a:t>
            </a:r>
            <a:r>
              <a:rPr sz="700" spc="-20" dirty="0">
                <a:latin typeface="Verdana"/>
                <a:cs typeface="Verdana"/>
              </a:rPr>
              <a:t>OTPs</a:t>
            </a:r>
            <a:r>
              <a:rPr sz="700" spc="-90" dirty="0">
                <a:latin typeface="Verdana"/>
                <a:cs typeface="Verdana"/>
              </a:rPr>
              <a:t> </a:t>
            </a:r>
            <a:r>
              <a:rPr sz="700" spc="-60" dirty="0">
                <a:latin typeface="Verdana"/>
                <a:cs typeface="Verdana"/>
              </a:rPr>
              <a:t>are</a:t>
            </a:r>
            <a:r>
              <a:rPr sz="700" spc="-8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unique, </a:t>
            </a:r>
            <a:r>
              <a:rPr sz="700" spc="-50" dirty="0">
                <a:latin typeface="Verdana"/>
                <a:cs typeface="Verdana"/>
              </a:rPr>
              <a:t>correctly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55" dirty="0">
                <a:latin typeface="Verdana"/>
                <a:cs typeface="Verdana"/>
              </a:rPr>
              <a:t>hashed,</a:t>
            </a:r>
            <a:r>
              <a:rPr sz="700" spc="-70" dirty="0">
                <a:latin typeface="Verdana"/>
                <a:cs typeface="Verdana"/>
              </a:rPr>
              <a:t> </a:t>
            </a:r>
            <a:r>
              <a:rPr sz="700" spc="-30" dirty="0">
                <a:latin typeface="Verdana"/>
                <a:cs typeface="Verdana"/>
              </a:rPr>
              <a:t>and</a:t>
            </a:r>
            <a:r>
              <a:rPr sz="700" spc="-70" dirty="0">
                <a:latin typeface="Verdana"/>
                <a:cs typeface="Verdana"/>
              </a:rPr>
              <a:t> </a:t>
            </a:r>
            <a:r>
              <a:rPr sz="700" spc="-65" dirty="0">
                <a:latin typeface="Verdana"/>
                <a:cs typeface="Verdana"/>
              </a:rPr>
              <a:t>expire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25" dirty="0">
                <a:latin typeface="Verdana"/>
                <a:cs typeface="Verdana"/>
              </a:rPr>
              <a:t>as </a:t>
            </a:r>
            <a:r>
              <a:rPr sz="700" spc="-10" dirty="0">
                <a:latin typeface="Verdana"/>
                <a:cs typeface="Verdana"/>
              </a:rPr>
              <a:t>expected.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76525" y="4038600"/>
            <a:ext cx="3286125" cy="581025"/>
          </a:xfrm>
          <a:custGeom>
            <a:avLst/>
            <a:gdLst/>
            <a:ahLst/>
            <a:cxnLst/>
            <a:rect l="l" t="t" r="r" b="b"/>
            <a:pathLst>
              <a:path w="3286125" h="581025">
                <a:moveTo>
                  <a:pt x="3273894" y="0"/>
                </a:moveTo>
                <a:lnTo>
                  <a:pt x="12230" y="0"/>
                </a:lnTo>
                <a:lnTo>
                  <a:pt x="10439" y="355"/>
                </a:lnTo>
                <a:lnTo>
                  <a:pt x="0" y="12230"/>
                </a:lnTo>
                <a:lnTo>
                  <a:pt x="0" y="566915"/>
                </a:lnTo>
                <a:lnTo>
                  <a:pt x="0" y="568794"/>
                </a:lnTo>
                <a:lnTo>
                  <a:pt x="12230" y="581025"/>
                </a:lnTo>
                <a:lnTo>
                  <a:pt x="3273894" y="581025"/>
                </a:lnTo>
                <a:lnTo>
                  <a:pt x="3286125" y="568794"/>
                </a:lnTo>
                <a:lnTo>
                  <a:pt x="3286125" y="12230"/>
                </a:lnTo>
                <a:lnTo>
                  <a:pt x="3275685" y="355"/>
                </a:lnTo>
                <a:lnTo>
                  <a:pt x="3273894" y="0"/>
                </a:lnTo>
                <a:close/>
              </a:path>
            </a:pathLst>
          </a:custGeom>
          <a:solidFill>
            <a:srgbClr val="D8D5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81096" y="4115625"/>
            <a:ext cx="2713990" cy="3924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95" dirty="0">
                <a:latin typeface="Calibri"/>
                <a:cs typeface="Calibri"/>
              </a:rPr>
              <a:t>Input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spc="55" dirty="0">
                <a:latin typeface="Calibri"/>
                <a:cs typeface="Calibri"/>
              </a:rPr>
              <a:t>Validation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700" spc="-35" dirty="0">
                <a:latin typeface="Verdana"/>
                <a:cs typeface="Verdana"/>
              </a:rPr>
              <a:t>Checked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40" dirty="0">
                <a:latin typeface="Verdana"/>
                <a:cs typeface="Verdana"/>
              </a:rPr>
              <a:t>that</a:t>
            </a:r>
            <a:r>
              <a:rPr sz="700" spc="-75" dirty="0">
                <a:latin typeface="Verdana"/>
                <a:cs typeface="Verdana"/>
              </a:rPr>
              <a:t> empty, </a:t>
            </a:r>
            <a:r>
              <a:rPr sz="700" spc="-65" dirty="0">
                <a:latin typeface="Verdana"/>
                <a:cs typeface="Verdana"/>
              </a:rPr>
              <a:t>invalid,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45" dirty="0">
                <a:latin typeface="Verdana"/>
                <a:cs typeface="Verdana"/>
              </a:rPr>
              <a:t>or</a:t>
            </a:r>
            <a:r>
              <a:rPr sz="700" spc="-70" dirty="0">
                <a:latin typeface="Verdana"/>
                <a:cs typeface="Verdana"/>
              </a:rPr>
              <a:t> </a:t>
            </a:r>
            <a:r>
              <a:rPr sz="700" spc="-35" dirty="0">
                <a:latin typeface="Verdana"/>
                <a:cs typeface="Verdana"/>
              </a:rPr>
              <a:t>malicious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45" dirty="0">
                <a:latin typeface="Verdana"/>
                <a:cs typeface="Verdana"/>
              </a:rPr>
              <a:t>inputs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60" dirty="0">
                <a:latin typeface="Verdana"/>
                <a:cs typeface="Verdana"/>
              </a:rPr>
              <a:t>are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60" dirty="0">
                <a:latin typeface="Verdana"/>
                <a:cs typeface="Verdana"/>
              </a:rPr>
              <a:t>properly</a:t>
            </a:r>
            <a:r>
              <a:rPr sz="700" spc="-75" dirty="0">
                <a:latin typeface="Verdana"/>
                <a:cs typeface="Verdana"/>
              </a:rPr>
              <a:t> </a:t>
            </a:r>
            <a:r>
              <a:rPr sz="700" spc="-40" dirty="0">
                <a:latin typeface="Verdana"/>
                <a:cs typeface="Verdana"/>
              </a:rPr>
              <a:t>rejected.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4150" y="4980444"/>
            <a:ext cx="169799" cy="14617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668295" y="4579454"/>
            <a:ext cx="1564640" cy="85216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150" spc="100" dirty="0">
                <a:solidFill>
                  <a:srgbClr val="FFFFFF"/>
                </a:solidFill>
                <a:latin typeface="Calibri"/>
                <a:cs typeface="Calibri"/>
              </a:rPr>
              <a:t>Future</a:t>
            </a:r>
            <a:r>
              <a:rPr sz="11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114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150">
              <a:latin typeface="Calibri"/>
              <a:cs typeface="Calibri"/>
            </a:endParaRPr>
          </a:p>
          <a:p>
            <a:pPr marL="379095">
              <a:lnSpc>
                <a:spcPct val="100000"/>
              </a:lnSpc>
              <a:spcBef>
                <a:spcPts val="720"/>
              </a:spcBef>
            </a:pPr>
            <a:r>
              <a:rPr sz="1150" spc="210" dirty="0">
                <a:solidFill>
                  <a:srgbClr val="D8D5CE"/>
                </a:solidFill>
                <a:latin typeface="Calibri"/>
                <a:cs typeface="Calibri"/>
              </a:rPr>
              <a:t>SMS</a:t>
            </a:r>
            <a:r>
              <a:rPr sz="1150" spc="-2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190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endParaRPr sz="1150">
              <a:latin typeface="Calibri"/>
              <a:cs typeface="Calibri"/>
            </a:endParaRPr>
          </a:p>
          <a:p>
            <a:pPr marL="379095" marR="5080">
              <a:lnSpc>
                <a:spcPts val="830"/>
              </a:lnSpc>
              <a:spcBef>
                <a:spcPts val="680"/>
              </a:spcBef>
            </a:pPr>
            <a:r>
              <a:rPr sz="700" spc="-45" dirty="0">
                <a:solidFill>
                  <a:srgbClr val="D8D5CE"/>
                </a:solidFill>
                <a:latin typeface="Verdana"/>
                <a:cs typeface="Verdana"/>
              </a:rPr>
              <a:t>Send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1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via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0" dirty="0">
                <a:solidFill>
                  <a:srgbClr val="D8D5CE"/>
                </a:solidFill>
                <a:latin typeface="Verdana"/>
                <a:cs typeface="Verdana"/>
              </a:rPr>
              <a:t>text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message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25" dirty="0">
                <a:solidFill>
                  <a:srgbClr val="D8D5CE"/>
                </a:solidFill>
                <a:latin typeface="Verdana"/>
                <a:cs typeface="Verdana"/>
              </a:rPr>
              <a:t>in </a:t>
            </a:r>
            <a:r>
              <a:rPr sz="700" spc="-45" dirty="0">
                <a:solidFill>
                  <a:srgbClr val="D8D5CE"/>
                </a:solidFill>
                <a:latin typeface="Verdana"/>
                <a:cs typeface="Verdana"/>
              </a:rPr>
              <a:t>addition</a:t>
            </a:r>
            <a:r>
              <a:rPr sz="70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70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10" dirty="0">
                <a:solidFill>
                  <a:srgbClr val="D8D5CE"/>
                </a:solidFill>
                <a:latin typeface="Verdana"/>
                <a:cs typeface="Verdana"/>
              </a:rPr>
              <a:t>email.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0075" y="4980444"/>
            <a:ext cx="169799" cy="1461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717656" y="4934775"/>
            <a:ext cx="1209675" cy="497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95" dirty="0">
                <a:solidFill>
                  <a:srgbClr val="D8D5CE"/>
                </a:solidFill>
                <a:latin typeface="Calibri"/>
                <a:cs typeface="Calibri"/>
              </a:rPr>
              <a:t>Password</a:t>
            </a:r>
            <a:r>
              <a:rPr sz="115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55" dirty="0">
                <a:solidFill>
                  <a:srgbClr val="D8D5CE"/>
                </a:solidFill>
                <a:latin typeface="Calibri"/>
                <a:cs typeface="Calibri"/>
              </a:rPr>
              <a:t>Reset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ts val="830"/>
              </a:lnSpc>
              <a:spcBef>
                <a:spcPts val="685"/>
              </a:spcBef>
            </a:pPr>
            <a:r>
              <a:rPr sz="700" spc="-55" dirty="0">
                <a:solidFill>
                  <a:srgbClr val="D8D5CE"/>
                </a:solidFill>
                <a:latin typeface="Verdana"/>
                <a:cs typeface="Verdana"/>
              </a:rPr>
              <a:t>Allow</a:t>
            </a: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users</a:t>
            </a:r>
            <a:r>
              <a:rPr sz="70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to</a:t>
            </a: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5" dirty="0">
                <a:solidFill>
                  <a:srgbClr val="D8D5CE"/>
                </a:solidFill>
                <a:latin typeface="Verdana"/>
                <a:cs typeface="Verdana"/>
              </a:rPr>
              <a:t>safely</a:t>
            </a:r>
            <a:r>
              <a:rPr sz="700" spc="-8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20" dirty="0">
                <a:solidFill>
                  <a:srgbClr val="D8D5CE"/>
                </a:solidFill>
                <a:latin typeface="Verdana"/>
                <a:cs typeface="Verdana"/>
              </a:rPr>
              <a:t>reset </a:t>
            </a:r>
            <a:r>
              <a:rPr sz="700" spc="-60" dirty="0">
                <a:solidFill>
                  <a:srgbClr val="D8D5CE"/>
                </a:solidFill>
                <a:latin typeface="Verdana"/>
                <a:cs typeface="Verdana"/>
              </a:rPr>
              <a:t>forgotten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5" dirty="0">
                <a:solidFill>
                  <a:srgbClr val="D8D5CE"/>
                </a:solidFill>
                <a:latin typeface="Verdana"/>
                <a:cs typeface="Verdana"/>
              </a:rPr>
              <a:t>passwords</a:t>
            </a:r>
            <a:r>
              <a:rPr sz="70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via</a:t>
            </a:r>
            <a:r>
              <a:rPr sz="700" spc="-6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email.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24150" y="5580519"/>
            <a:ext cx="169799" cy="14618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035007" y="5534850"/>
            <a:ext cx="2158365" cy="3924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114" dirty="0">
                <a:solidFill>
                  <a:srgbClr val="D8D5CE"/>
                </a:solidFill>
                <a:latin typeface="Calibri"/>
                <a:cs typeface="Calibri"/>
              </a:rPr>
              <a:t>Docker</a:t>
            </a:r>
            <a:r>
              <a:rPr sz="1150" spc="-2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85" dirty="0">
                <a:solidFill>
                  <a:srgbClr val="D8D5CE"/>
                </a:solidFill>
                <a:latin typeface="Calibri"/>
                <a:cs typeface="Calibri"/>
              </a:rPr>
              <a:t>Deployment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700" spc="-30" dirty="0">
                <a:solidFill>
                  <a:srgbClr val="D8D5CE"/>
                </a:solidFill>
                <a:latin typeface="Verdana"/>
                <a:cs typeface="Verdana"/>
              </a:rPr>
              <a:t>Package</a:t>
            </a:r>
            <a:r>
              <a:rPr sz="700" spc="-10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30" dirty="0">
                <a:solidFill>
                  <a:srgbClr val="D8D5CE"/>
                </a:solidFill>
                <a:latin typeface="Verdana"/>
                <a:cs typeface="Verdana"/>
              </a:rPr>
              <a:t>app</a:t>
            </a:r>
            <a:r>
              <a:rPr sz="7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5" dirty="0">
                <a:solidFill>
                  <a:srgbClr val="D8D5CE"/>
                </a:solidFill>
                <a:latin typeface="Verdana"/>
                <a:cs typeface="Verdana"/>
              </a:rPr>
              <a:t>in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Docker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5" dirty="0">
                <a:solidFill>
                  <a:srgbClr val="D8D5CE"/>
                </a:solidFill>
                <a:latin typeface="Verdana"/>
                <a:cs typeface="Verdana"/>
              </a:rPr>
              <a:t>for</a:t>
            </a:r>
            <a:r>
              <a:rPr sz="70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5" dirty="0">
                <a:solidFill>
                  <a:srgbClr val="D8D5CE"/>
                </a:solidFill>
                <a:latin typeface="Verdana"/>
                <a:cs typeface="Verdana"/>
              </a:rPr>
              <a:t>easy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30" dirty="0">
                <a:solidFill>
                  <a:srgbClr val="D8D5CE"/>
                </a:solidFill>
                <a:latin typeface="Verdana"/>
                <a:cs typeface="Verdana"/>
              </a:rPr>
              <a:t>cloud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deployment.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68295" y="2696400"/>
            <a:ext cx="436880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574415" algn="l"/>
              </a:tabLst>
            </a:pPr>
            <a:r>
              <a:rPr sz="1150" spc="65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sz="11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110" dirty="0">
                <a:solidFill>
                  <a:srgbClr val="FFFFFF"/>
                </a:solidFill>
                <a:latin typeface="Calibri"/>
                <a:cs typeface="Calibri"/>
              </a:rPr>
              <a:t>Done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150" spc="90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8875" y="2990850"/>
            <a:ext cx="3286125" cy="438150"/>
            <a:chOff x="6238875" y="2990850"/>
            <a:chExt cx="3286125" cy="438150"/>
          </a:xfrm>
        </p:grpSpPr>
        <p:sp>
          <p:nvSpPr>
            <p:cNvPr id="20" name="object 20"/>
            <p:cNvSpPr/>
            <p:nvPr/>
          </p:nvSpPr>
          <p:spPr>
            <a:xfrm>
              <a:off x="6238875" y="2990850"/>
              <a:ext cx="3286125" cy="438150"/>
            </a:xfrm>
            <a:custGeom>
              <a:avLst/>
              <a:gdLst/>
              <a:ahLst/>
              <a:cxnLst/>
              <a:rect l="l" t="t" r="r" b="b"/>
              <a:pathLst>
                <a:path w="3286125" h="438150">
                  <a:moveTo>
                    <a:pt x="3273894" y="0"/>
                  </a:moveTo>
                  <a:lnTo>
                    <a:pt x="12230" y="0"/>
                  </a:lnTo>
                  <a:lnTo>
                    <a:pt x="10426" y="355"/>
                  </a:lnTo>
                  <a:lnTo>
                    <a:pt x="0" y="12230"/>
                  </a:lnTo>
                  <a:lnTo>
                    <a:pt x="0" y="424040"/>
                  </a:lnTo>
                  <a:lnTo>
                    <a:pt x="0" y="425919"/>
                  </a:lnTo>
                  <a:lnTo>
                    <a:pt x="12230" y="438150"/>
                  </a:lnTo>
                  <a:lnTo>
                    <a:pt x="3273894" y="438150"/>
                  </a:lnTo>
                  <a:lnTo>
                    <a:pt x="3286125" y="425919"/>
                  </a:lnTo>
                  <a:lnTo>
                    <a:pt x="3286125" y="12230"/>
                  </a:lnTo>
                  <a:lnTo>
                    <a:pt x="3275685" y="355"/>
                  </a:lnTo>
                  <a:lnTo>
                    <a:pt x="3273894" y="0"/>
                  </a:lnTo>
                  <a:close/>
                </a:path>
              </a:pathLst>
            </a:custGeom>
            <a:solidFill>
              <a:srgbClr val="173A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7234" y="3133724"/>
              <a:ext cx="112814" cy="11281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597053" y="3055873"/>
            <a:ext cx="2651760" cy="294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105"/>
              </a:spcBef>
            </a:pPr>
            <a:r>
              <a:rPr sz="850" spc="-35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50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FFFFFF"/>
                </a:solidFill>
                <a:latin typeface="Verdana"/>
                <a:cs typeface="Verdana"/>
              </a:rPr>
              <a:t>successfully</a:t>
            </a:r>
            <a:r>
              <a:rPr sz="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FFFFFF"/>
                </a:solidFill>
                <a:latin typeface="Verdana"/>
                <a:cs typeface="Verdana"/>
              </a:rPr>
              <a:t>demonstrates</a:t>
            </a:r>
            <a:r>
              <a:rPr sz="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65" dirty="0">
                <a:solidFill>
                  <a:srgbClr val="FFFFFF"/>
                </a:solidFill>
                <a:latin typeface="Verdana"/>
                <a:cs typeface="Verdana"/>
              </a:rPr>
              <a:t>secure,</a:t>
            </a:r>
            <a:r>
              <a:rPr sz="8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FFFFFF"/>
                </a:solidFill>
                <a:latin typeface="Verdana"/>
                <a:cs typeface="Verdana"/>
              </a:rPr>
              <a:t>real-</a:t>
            </a:r>
            <a:r>
              <a:rPr sz="850" spc="-60" dirty="0">
                <a:solidFill>
                  <a:srgbClr val="FFFFFF"/>
                </a:solidFill>
                <a:latin typeface="Verdana"/>
                <a:cs typeface="Verdana"/>
              </a:rPr>
              <a:t>world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FFFFFF"/>
                </a:solidFill>
                <a:latin typeface="Verdana"/>
                <a:cs typeface="Verdana"/>
              </a:rPr>
              <a:t>login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FFFFFF"/>
                </a:solidFill>
                <a:latin typeface="Verdana"/>
                <a:cs typeface="Verdana"/>
              </a:rPr>
              <a:t>Java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FFFFFF"/>
                </a:solidFill>
                <a:latin typeface="Verdana"/>
                <a:cs typeface="Verdana"/>
              </a:rPr>
              <a:t>Spring</a:t>
            </a:r>
            <a:r>
              <a:rPr sz="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FFFFFF"/>
                </a:solidFill>
                <a:latin typeface="Verdana"/>
                <a:cs typeface="Verdana"/>
              </a:rPr>
              <a:t>Boot.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29350" y="3505200"/>
            <a:ext cx="3295650" cy="704850"/>
            <a:chOff x="6229350" y="3505200"/>
            <a:chExt cx="3295650" cy="704850"/>
          </a:xfrm>
        </p:grpSpPr>
        <p:sp>
          <p:nvSpPr>
            <p:cNvPr id="24" name="object 24"/>
            <p:cNvSpPr/>
            <p:nvPr/>
          </p:nvSpPr>
          <p:spPr>
            <a:xfrm>
              <a:off x="6238875" y="3509962"/>
              <a:ext cx="3281679" cy="695325"/>
            </a:xfrm>
            <a:custGeom>
              <a:avLst/>
              <a:gdLst/>
              <a:ahLst/>
              <a:cxnLst/>
              <a:rect l="l" t="t" r="r" b="b"/>
              <a:pathLst>
                <a:path w="3281679" h="695325">
                  <a:moveTo>
                    <a:pt x="3274606" y="0"/>
                  </a:moveTo>
                  <a:lnTo>
                    <a:pt x="33045" y="0"/>
                  </a:lnTo>
                  <a:lnTo>
                    <a:pt x="28194" y="838"/>
                  </a:lnTo>
                  <a:lnTo>
                    <a:pt x="0" y="28917"/>
                  </a:lnTo>
                  <a:lnTo>
                    <a:pt x="0" y="661987"/>
                  </a:lnTo>
                  <a:lnTo>
                    <a:pt x="0" y="666407"/>
                  </a:lnTo>
                  <a:lnTo>
                    <a:pt x="28194" y="694474"/>
                  </a:lnTo>
                  <a:lnTo>
                    <a:pt x="33045" y="695325"/>
                  </a:lnTo>
                  <a:lnTo>
                    <a:pt x="3274606" y="695325"/>
                  </a:lnTo>
                  <a:lnTo>
                    <a:pt x="3276803" y="694410"/>
                  </a:lnTo>
                  <a:lnTo>
                    <a:pt x="3280448" y="690765"/>
                  </a:lnTo>
                  <a:lnTo>
                    <a:pt x="3281362" y="688568"/>
                  </a:lnTo>
                  <a:lnTo>
                    <a:pt x="3281362" y="6756"/>
                  </a:lnTo>
                  <a:lnTo>
                    <a:pt x="3280448" y="4559"/>
                  </a:lnTo>
                  <a:lnTo>
                    <a:pt x="3276803" y="914"/>
                  </a:lnTo>
                  <a:lnTo>
                    <a:pt x="3274606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29350" y="3505199"/>
              <a:ext cx="3295650" cy="705485"/>
            </a:xfrm>
            <a:custGeom>
              <a:avLst/>
              <a:gdLst/>
              <a:ahLst/>
              <a:cxnLst/>
              <a:rect l="l" t="t" r="r" b="b"/>
              <a:pathLst>
                <a:path w="3295650" h="705485">
                  <a:moveTo>
                    <a:pt x="3295637" y="10299"/>
                  </a:moveTo>
                  <a:lnTo>
                    <a:pt x="3295358" y="9537"/>
                  </a:lnTo>
                  <a:lnTo>
                    <a:pt x="3294253" y="6896"/>
                  </a:lnTo>
                  <a:lnTo>
                    <a:pt x="3291979" y="4622"/>
                  </a:lnTo>
                  <a:lnTo>
                    <a:pt x="3291509" y="4140"/>
                  </a:lnTo>
                  <a:lnTo>
                    <a:pt x="3288754" y="1397"/>
                  </a:lnTo>
                  <a:lnTo>
                    <a:pt x="3286112" y="304"/>
                  </a:lnTo>
                  <a:lnTo>
                    <a:pt x="3286112" y="11061"/>
                  </a:lnTo>
                  <a:lnTo>
                    <a:pt x="3286112" y="693813"/>
                  </a:lnTo>
                  <a:lnTo>
                    <a:pt x="3285833" y="694093"/>
                  </a:lnTo>
                  <a:lnTo>
                    <a:pt x="3285274" y="694651"/>
                  </a:lnTo>
                  <a:lnTo>
                    <a:pt x="3284588" y="695337"/>
                  </a:lnTo>
                  <a:lnTo>
                    <a:pt x="47612" y="695337"/>
                  </a:lnTo>
                  <a:lnTo>
                    <a:pt x="40017" y="694804"/>
                  </a:lnTo>
                  <a:lnTo>
                    <a:pt x="38100" y="694385"/>
                  </a:lnTo>
                  <a:lnTo>
                    <a:pt x="38100" y="10490"/>
                  </a:lnTo>
                  <a:lnTo>
                    <a:pt x="40017" y="10058"/>
                  </a:lnTo>
                  <a:lnTo>
                    <a:pt x="47612" y="9537"/>
                  </a:lnTo>
                  <a:lnTo>
                    <a:pt x="3284588" y="9537"/>
                  </a:lnTo>
                  <a:lnTo>
                    <a:pt x="3285350" y="10299"/>
                  </a:lnTo>
                  <a:lnTo>
                    <a:pt x="3286112" y="11061"/>
                  </a:lnTo>
                  <a:lnTo>
                    <a:pt x="3286112" y="304"/>
                  </a:lnTo>
                  <a:lnTo>
                    <a:pt x="3285426" y="12"/>
                  </a:lnTo>
                  <a:lnTo>
                    <a:pt x="47612" y="12"/>
                  </a:lnTo>
                  <a:lnTo>
                    <a:pt x="40017" y="698"/>
                  </a:lnTo>
                  <a:lnTo>
                    <a:pt x="38100" y="1270"/>
                  </a:lnTo>
                  <a:lnTo>
                    <a:pt x="38100" y="0"/>
                  </a:lnTo>
                  <a:lnTo>
                    <a:pt x="12230" y="0"/>
                  </a:lnTo>
                  <a:lnTo>
                    <a:pt x="10426" y="355"/>
                  </a:lnTo>
                  <a:lnTo>
                    <a:pt x="0" y="12230"/>
                  </a:lnTo>
                  <a:lnTo>
                    <a:pt x="0" y="690740"/>
                  </a:lnTo>
                  <a:lnTo>
                    <a:pt x="0" y="692619"/>
                  </a:lnTo>
                  <a:lnTo>
                    <a:pt x="12230" y="704850"/>
                  </a:lnTo>
                  <a:lnTo>
                    <a:pt x="38100" y="704850"/>
                  </a:lnTo>
                  <a:lnTo>
                    <a:pt x="38100" y="703605"/>
                  </a:lnTo>
                  <a:lnTo>
                    <a:pt x="40017" y="704164"/>
                  </a:lnTo>
                  <a:lnTo>
                    <a:pt x="47612" y="704862"/>
                  </a:lnTo>
                  <a:lnTo>
                    <a:pt x="3285426" y="704862"/>
                  </a:lnTo>
                  <a:lnTo>
                    <a:pt x="3288754" y="703478"/>
                  </a:lnTo>
                  <a:lnTo>
                    <a:pt x="3291509" y="700722"/>
                  </a:lnTo>
                  <a:lnTo>
                    <a:pt x="3291979" y="700252"/>
                  </a:lnTo>
                  <a:lnTo>
                    <a:pt x="3294253" y="697979"/>
                  </a:lnTo>
                  <a:lnTo>
                    <a:pt x="3295637" y="694651"/>
                  </a:lnTo>
                  <a:lnTo>
                    <a:pt x="3295637" y="10299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67450" y="3601275"/>
            <a:ext cx="3247390" cy="497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14"/>
              </a:spcBef>
            </a:pPr>
            <a:r>
              <a:rPr sz="1150" spc="95" dirty="0">
                <a:solidFill>
                  <a:srgbClr val="D8D5CE"/>
                </a:solidFill>
                <a:latin typeface="Calibri"/>
                <a:cs typeface="Calibri"/>
              </a:rPr>
              <a:t>Password</a:t>
            </a:r>
            <a:r>
              <a:rPr sz="11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8D5CE"/>
                </a:solidFill>
                <a:latin typeface="Calibri"/>
                <a:cs typeface="Calibri"/>
              </a:rPr>
              <a:t>+</a:t>
            </a:r>
            <a:r>
              <a:rPr sz="11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215" dirty="0">
                <a:solidFill>
                  <a:srgbClr val="D8D5CE"/>
                </a:solidFill>
                <a:latin typeface="Calibri"/>
                <a:cs typeface="Calibri"/>
              </a:rPr>
              <a:t>OTP</a:t>
            </a:r>
            <a:r>
              <a:rPr sz="1150" spc="-1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80" dirty="0">
                <a:solidFill>
                  <a:srgbClr val="D8D5CE"/>
                </a:solidFill>
                <a:latin typeface="Calibri"/>
                <a:cs typeface="Calibri"/>
              </a:rPr>
              <a:t>Security</a:t>
            </a:r>
            <a:endParaRPr sz="1150">
              <a:latin typeface="Calibri"/>
              <a:cs typeface="Calibri"/>
            </a:endParaRPr>
          </a:p>
          <a:p>
            <a:pPr marL="126364" marR="149860">
              <a:lnSpc>
                <a:spcPts val="830"/>
              </a:lnSpc>
              <a:spcBef>
                <a:spcPts val="685"/>
              </a:spcBef>
            </a:pP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Two-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factor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5" dirty="0">
                <a:solidFill>
                  <a:srgbClr val="D8D5CE"/>
                </a:solidFill>
                <a:latin typeface="Verdana"/>
                <a:cs typeface="Verdana"/>
              </a:rPr>
              <a:t>authentication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5" dirty="0">
                <a:solidFill>
                  <a:srgbClr val="D8D5CE"/>
                </a:solidFill>
                <a:latin typeface="Verdana"/>
                <a:cs typeface="Verdana"/>
              </a:rPr>
              <a:t>ensures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users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0" dirty="0">
                <a:solidFill>
                  <a:srgbClr val="D8D5CE"/>
                </a:solidFill>
                <a:latin typeface="Verdana"/>
                <a:cs typeface="Verdana"/>
              </a:rPr>
              <a:t>are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protected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5" dirty="0">
                <a:solidFill>
                  <a:srgbClr val="D8D5CE"/>
                </a:solidFill>
                <a:latin typeface="Verdana"/>
                <a:cs typeface="Verdana"/>
              </a:rPr>
              <a:t>even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if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0" dirty="0">
                <a:solidFill>
                  <a:srgbClr val="D8D5CE"/>
                </a:solidFill>
                <a:latin typeface="Verdana"/>
                <a:cs typeface="Verdana"/>
              </a:rPr>
              <a:t>their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20" dirty="0">
                <a:solidFill>
                  <a:srgbClr val="D8D5CE"/>
                </a:solidFill>
                <a:latin typeface="Verdana"/>
                <a:cs typeface="Verdana"/>
              </a:rPr>
              <a:t>password </a:t>
            </a:r>
            <a:r>
              <a:rPr sz="700" spc="-35" dirty="0">
                <a:solidFill>
                  <a:srgbClr val="D8D5CE"/>
                </a:solidFill>
                <a:latin typeface="Verdana"/>
                <a:cs typeface="Verdana"/>
              </a:rPr>
              <a:t>is</a:t>
            </a:r>
            <a:r>
              <a:rPr sz="700" spc="-11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10" dirty="0">
                <a:solidFill>
                  <a:srgbClr val="D8D5CE"/>
                </a:solidFill>
                <a:latin typeface="Verdana"/>
                <a:cs typeface="Verdana"/>
              </a:rPr>
              <a:t>compromised.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29350" y="4286250"/>
            <a:ext cx="3295650" cy="704850"/>
            <a:chOff x="6229350" y="4286250"/>
            <a:chExt cx="3295650" cy="704850"/>
          </a:xfrm>
        </p:grpSpPr>
        <p:sp>
          <p:nvSpPr>
            <p:cNvPr id="28" name="object 28"/>
            <p:cNvSpPr/>
            <p:nvPr/>
          </p:nvSpPr>
          <p:spPr>
            <a:xfrm>
              <a:off x="6238875" y="4291012"/>
              <a:ext cx="3281679" cy="695325"/>
            </a:xfrm>
            <a:custGeom>
              <a:avLst/>
              <a:gdLst/>
              <a:ahLst/>
              <a:cxnLst/>
              <a:rect l="l" t="t" r="r" b="b"/>
              <a:pathLst>
                <a:path w="3281679" h="695325">
                  <a:moveTo>
                    <a:pt x="3274606" y="0"/>
                  </a:moveTo>
                  <a:lnTo>
                    <a:pt x="33045" y="0"/>
                  </a:lnTo>
                  <a:lnTo>
                    <a:pt x="28194" y="838"/>
                  </a:lnTo>
                  <a:lnTo>
                    <a:pt x="0" y="28917"/>
                  </a:lnTo>
                  <a:lnTo>
                    <a:pt x="0" y="661987"/>
                  </a:lnTo>
                  <a:lnTo>
                    <a:pt x="0" y="666407"/>
                  </a:lnTo>
                  <a:lnTo>
                    <a:pt x="28194" y="694474"/>
                  </a:lnTo>
                  <a:lnTo>
                    <a:pt x="33045" y="695325"/>
                  </a:lnTo>
                  <a:lnTo>
                    <a:pt x="3274606" y="695325"/>
                  </a:lnTo>
                  <a:lnTo>
                    <a:pt x="3276803" y="694410"/>
                  </a:lnTo>
                  <a:lnTo>
                    <a:pt x="3280448" y="690765"/>
                  </a:lnTo>
                  <a:lnTo>
                    <a:pt x="3281362" y="688568"/>
                  </a:lnTo>
                  <a:lnTo>
                    <a:pt x="3281362" y="6756"/>
                  </a:lnTo>
                  <a:lnTo>
                    <a:pt x="3280448" y="4559"/>
                  </a:lnTo>
                  <a:lnTo>
                    <a:pt x="3276803" y="914"/>
                  </a:lnTo>
                  <a:lnTo>
                    <a:pt x="3274606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29350" y="4286249"/>
              <a:ext cx="3295650" cy="705485"/>
            </a:xfrm>
            <a:custGeom>
              <a:avLst/>
              <a:gdLst/>
              <a:ahLst/>
              <a:cxnLst/>
              <a:rect l="l" t="t" r="r" b="b"/>
              <a:pathLst>
                <a:path w="3295650" h="705485">
                  <a:moveTo>
                    <a:pt x="3295637" y="10299"/>
                  </a:moveTo>
                  <a:lnTo>
                    <a:pt x="3295358" y="9537"/>
                  </a:lnTo>
                  <a:lnTo>
                    <a:pt x="3294253" y="6896"/>
                  </a:lnTo>
                  <a:lnTo>
                    <a:pt x="3291979" y="4622"/>
                  </a:lnTo>
                  <a:lnTo>
                    <a:pt x="3291509" y="4140"/>
                  </a:lnTo>
                  <a:lnTo>
                    <a:pt x="3288754" y="1384"/>
                  </a:lnTo>
                  <a:lnTo>
                    <a:pt x="3286112" y="304"/>
                  </a:lnTo>
                  <a:lnTo>
                    <a:pt x="3286112" y="11061"/>
                  </a:lnTo>
                  <a:lnTo>
                    <a:pt x="3286112" y="693813"/>
                  </a:lnTo>
                  <a:lnTo>
                    <a:pt x="3285833" y="694093"/>
                  </a:lnTo>
                  <a:lnTo>
                    <a:pt x="3285274" y="694651"/>
                  </a:lnTo>
                  <a:lnTo>
                    <a:pt x="3284588" y="695337"/>
                  </a:lnTo>
                  <a:lnTo>
                    <a:pt x="47612" y="695337"/>
                  </a:lnTo>
                  <a:lnTo>
                    <a:pt x="40017" y="694804"/>
                  </a:lnTo>
                  <a:lnTo>
                    <a:pt x="38100" y="694385"/>
                  </a:lnTo>
                  <a:lnTo>
                    <a:pt x="38100" y="10490"/>
                  </a:lnTo>
                  <a:lnTo>
                    <a:pt x="40017" y="10058"/>
                  </a:lnTo>
                  <a:lnTo>
                    <a:pt x="47612" y="9537"/>
                  </a:lnTo>
                  <a:lnTo>
                    <a:pt x="3284588" y="9537"/>
                  </a:lnTo>
                  <a:lnTo>
                    <a:pt x="3285350" y="10299"/>
                  </a:lnTo>
                  <a:lnTo>
                    <a:pt x="3286112" y="11061"/>
                  </a:lnTo>
                  <a:lnTo>
                    <a:pt x="3286112" y="304"/>
                  </a:lnTo>
                  <a:lnTo>
                    <a:pt x="3285426" y="12"/>
                  </a:lnTo>
                  <a:lnTo>
                    <a:pt x="47612" y="12"/>
                  </a:lnTo>
                  <a:lnTo>
                    <a:pt x="40017" y="698"/>
                  </a:lnTo>
                  <a:lnTo>
                    <a:pt x="38100" y="1270"/>
                  </a:lnTo>
                  <a:lnTo>
                    <a:pt x="38100" y="0"/>
                  </a:lnTo>
                  <a:lnTo>
                    <a:pt x="12230" y="0"/>
                  </a:lnTo>
                  <a:lnTo>
                    <a:pt x="10426" y="355"/>
                  </a:lnTo>
                  <a:lnTo>
                    <a:pt x="0" y="12230"/>
                  </a:lnTo>
                  <a:lnTo>
                    <a:pt x="0" y="690740"/>
                  </a:lnTo>
                  <a:lnTo>
                    <a:pt x="0" y="692619"/>
                  </a:lnTo>
                  <a:lnTo>
                    <a:pt x="12230" y="704850"/>
                  </a:lnTo>
                  <a:lnTo>
                    <a:pt x="38100" y="704850"/>
                  </a:lnTo>
                  <a:lnTo>
                    <a:pt x="38100" y="703605"/>
                  </a:lnTo>
                  <a:lnTo>
                    <a:pt x="40017" y="704164"/>
                  </a:lnTo>
                  <a:lnTo>
                    <a:pt x="47612" y="704862"/>
                  </a:lnTo>
                  <a:lnTo>
                    <a:pt x="3285426" y="704862"/>
                  </a:lnTo>
                  <a:lnTo>
                    <a:pt x="3288754" y="703478"/>
                  </a:lnTo>
                  <a:lnTo>
                    <a:pt x="3291509" y="700722"/>
                  </a:lnTo>
                  <a:lnTo>
                    <a:pt x="3291979" y="700252"/>
                  </a:lnTo>
                  <a:lnTo>
                    <a:pt x="3294253" y="697979"/>
                  </a:lnTo>
                  <a:lnTo>
                    <a:pt x="3295637" y="694651"/>
                  </a:lnTo>
                  <a:lnTo>
                    <a:pt x="3295637" y="10299"/>
                  </a:lnTo>
                  <a:close/>
                </a:path>
              </a:pathLst>
            </a:custGeom>
            <a:solidFill>
              <a:srgbClr val="C9B7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67450" y="4382325"/>
            <a:ext cx="3247390" cy="4876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14"/>
              </a:spcBef>
            </a:pPr>
            <a:r>
              <a:rPr sz="1150" spc="110" dirty="0">
                <a:solidFill>
                  <a:srgbClr val="D8D5CE"/>
                </a:solidFill>
                <a:latin typeface="Calibri"/>
                <a:cs typeface="Calibri"/>
              </a:rPr>
              <a:t>Web</a:t>
            </a:r>
            <a:r>
              <a:rPr sz="115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165" dirty="0">
                <a:solidFill>
                  <a:srgbClr val="D8D5CE"/>
                </a:solidFill>
                <a:latin typeface="Calibri"/>
                <a:cs typeface="Calibri"/>
              </a:rPr>
              <a:t>&amp;</a:t>
            </a:r>
            <a:r>
              <a:rPr sz="115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95" dirty="0">
                <a:solidFill>
                  <a:srgbClr val="D8D5CE"/>
                </a:solidFill>
                <a:latin typeface="Calibri"/>
                <a:cs typeface="Calibri"/>
              </a:rPr>
              <a:t>Console</a:t>
            </a:r>
            <a:r>
              <a:rPr sz="1150" spc="-30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85" dirty="0">
                <a:solidFill>
                  <a:srgbClr val="D8D5CE"/>
                </a:solidFill>
                <a:latin typeface="Calibri"/>
                <a:cs typeface="Calibri"/>
              </a:rPr>
              <a:t>Mode</a:t>
            </a:r>
            <a:endParaRPr sz="1150">
              <a:latin typeface="Calibri"/>
              <a:cs typeface="Calibri"/>
            </a:endParaRPr>
          </a:p>
          <a:p>
            <a:pPr marL="126364" marR="251460">
              <a:lnSpc>
                <a:spcPts val="750"/>
              </a:lnSpc>
              <a:spcBef>
                <a:spcPts val="745"/>
              </a:spcBef>
            </a:pP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The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0" dirty="0">
                <a:solidFill>
                  <a:srgbClr val="D8D5CE"/>
                </a:solidFill>
                <a:latin typeface="Verdana"/>
                <a:cs typeface="Verdana"/>
              </a:rPr>
              <a:t>system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5" dirty="0">
                <a:solidFill>
                  <a:srgbClr val="D8D5CE"/>
                </a:solidFill>
                <a:latin typeface="Verdana"/>
                <a:cs typeface="Verdana"/>
              </a:rPr>
              <a:t>works</a:t>
            </a: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both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20" dirty="0">
                <a:solidFill>
                  <a:srgbClr val="D8D5CE"/>
                </a:solidFill>
                <a:latin typeface="Verdana"/>
                <a:cs typeface="Verdana"/>
              </a:rPr>
              <a:t>as</a:t>
            </a: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web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30" dirty="0">
                <a:solidFill>
                  <a:srgbClr val="D8D5CE"/>
                </a:solidFill>
                <a:latin typeface="Verdana"/>
                <a:cs typeface="Verdana"/>
              </a:rPr>
              <a:t>app</a:t>
            </a: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3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dirty="0">
                <a:solidFill>
                  <a:srgbClr val="D8D5CE"/>
                </a:solidFill>
                <a:latin typeface="Verdana"/>
                <a:cs typeface="Verdana"/>
              </a:rPr>
              <a:t>a</a:t>
            </a: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35" dirty="0">
                <a:solidFill>
                  <a:srgbClr val="D8D5CE"/>
                </a:solidFill>
                <a:latin typeface="Verdana"/>
                <a:cs typeface="Verdana"/>
              </a:rPr>
              <a:t>command-</a:t>
            </a:r>
            <a:r>
              <a:rPr sz="700" spc="-55" dirty="0">
                <a:solidFill>
                  <a:srgbClr val="D8D5CE"/>
                </a:solidFill>
                <a:latin typeface="Verdana"/>
                <a:cs typeface="Verdana"/>
              </a:rPr>
              <a:t>line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0" dirty="0">
                <a:solidFill>
                  <a:srgbClr val="D8D5CE"/>
                </a:solidFill>
                <a:latin typeface="Verdana"/>
                <a:cs typeface="Verdana"/>
              </a:rPr>
              <a:t>tool,</a:t>
            </a:r>
            <a:r>
              <a:rPr sz="700" spc="-8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0" dirty="0">
                <a:solidFill>
                  <a:srgbClr val="D8D5CE"/>
                </a:solidFill>
                <a:latin typeface="Verdana"/>
                <a:cs typeface="Verdana"/>
              </a:rPr>
              <a:t>making</a:t>
            </a:r>
            <a:r>
              <a:rPr sz="700" spc="-9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25" dirty="0">
                <a:solidFill>
                  <a:srgbClr val="D8D5CE"/>
                </a:solidFill>
                <a:latin typeface="Verdana"/>
                <a:cs typeface="Verdana"/>
              </a:rPr>
              <a:t>it </a:t>
            </a:r>
            <a:r>
              <a:rPr sz="700" spc="-10" dirty="0">
                <a:solidFill>
                  <a:srgbClr val="D8D5CE"/>
                </a:solidFill>
                <a:latin typeface="Verdana"/>
                <a:cs typeface="Verdana"/>
              </a:rPr>
              <a:t>versatile.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29350" y="5057775"/>
            <a:ext cx="3295650" cy="704850"/>
            <a:chOff x="6229350" y="5057775"/>
            <a:chExt cx="3295650" cy="704850"/>
          </a:xfrm>
        </p:grpSpPr>
        <p:sp>
          <p:nvSpPr>
            <p:cNvPr id="32" name="object 32"/>
            <p:cNvSpPr/>
            <p:nvPr/>
          </p:nvSpPr>
          <p:spPr>
            <a:xfrm>
              <a:off x="6238875" y="5062537"/>
              <a:ext cx="3281679" cy="695325"/>
            </a:xfrm>
            <a:custGeom>
              <a:avLst/>
              <a:gdLst/>
              <a:ahLst/>
              <a:cxnLst/>
              <a:rect l="l" t="t" r="r" b="b"/>
              <a:pathLst>
                <a:path w="3281679" h="695325">
                  <a:moveTo>
                    <a:pt x="3274606" y="0"/>
                  </a:moveTo>
                  <a:lnTo>
                    <a:pt x="33045" y="0"/>
                  </a:lnTo>
                  <a:lnTo>
                    <a:pt x="28194" y="838"/>
                  </a:lnTo>
                  <a:lnTo>
                    <a:pt x="0" y="28917"/>
                  </a:lnTo>
                  <a:lnTo>
                    <a:pt x="0" y="661987"/>
                  </a:lnTo>
                  <a:lnTo>
                    <a:pt x="0" y="666407"/>
                  </a:lnTo>
                  <a:lnTo>
                    <a:pt x="28194" y="694476"/>
                  </a:lnTo>
                  <a:lnTo>
                    <a:pt x="33045" y="695325"/>
                  </a:lnTo>
                  <a:lnTo>
                    <a:pt x="3274606" y="695325"/>
                  </a:lnTo>
                  <a:lnTo>
                    <a:pt x="3276803" y="694411"/>
                  </a:lnTo>
                  <a:lnTo>
                    <a:pt x="3280448" y="690760"/>
                  </a:lnTo>
                  <a:lnTo>
                    <a:pt x="3281362" y="688563"/>
                  </a:lnTo>
                  <a:lnTo>
                    <a:pt x="3281362" y="6756"/>
                  </a:lnTo>
                  <a:lnTo>
                    <a:pt x="3280448" y="4559"/>
                  </a:lnTo>
                  <a:lnTo>
                    <a:pt x="3276803" y="914"/>
                  </a:lnTo>
                  <a:lnTo>
                    <a:pt x="3274606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29350" y="5057774"/>
              <a:ext cx="3295650" cy="705485"/>
            </a:xfrm>
            <a:custGeom>
              <a:avLst/>
              <a:gdLst/>
              <a:ahLst/>
              <a:cxnLst/>
              <a:rect l="l" t="t" r="r" b="b"/>
              <a:pathLst>
                <a:path w="3295650" h="705485">
                  <a:moveTo>
                    <a:pt x="3295637" y="10299"/>
                  </a:moveTo>
                  <a:lnTo>
                    <a:pt x="3295358" y="9537"/>
                  </a:lnTo>
                  <a:lnTo>
                    <a:pt x="3294253" y="6896"/>
                  </a:lnTo>
                  <a:lnTo>
                    <a:pt x="3291979" y="4622"/>
                  </a:lnTo>
                  <a:lnTo>
                    <a:pt x="3291509" y="4140"/>
                  </a:lnTo>
                  <a:lnTo>
                    <a:pt x="3288754" y="1384"/>
                  </a:lnTo>
                  <a:lnTo>
                    <a:pt x="3286112" y="304"/>
                  </a:lnTo>
                  <a:lnTo>
                    <a:pt x="3286112" y="11061"/>
                  </a:lnTo>
                  <a:lnTo>
                    <a:pt x="3286112" y="693801"/>
                  </a:lnTo>
                  <a:lnTo>
                    <a:pt x="3285833" y="694093"/>
                  </a:lnTo>
                  <a:lnTo>
                    <a:pt x="3285274" y="694651"/>
                  </a:lnTo>
                  <a:lnTo>
                    <a:pt x="3284588" y="695337"/>
                  </a:lnTo>
                  <a:lnTo>
                    <a:pt x="47612" y="695337"/>
                  </a:lnTo>
                  <a:lnTo>
                    <a:pt x="40017" y="694804"/>
                  </a:lnTo>
                  <a:lnTo>
                    <a:pt x="38100" y="694385"/>
                  </a:lnTo>
                  <a:lnTo>
                    <a:pt x="38100" y="10490"/>
                  </a:lnTo>
                  <a:lnTo>
                    <a:pt x="40017" y="10058"/>
                  </a:lnTo>
                  <a:lnTo>
                    <a:pt x="47612" y="9537"/>
                  </a:lnTo>
                  <a:lnTo>
                    <a:pt x="3284588" y="9537"/>
                  </a:lnTo>
                  <a:lnTo>
                    <a:pt x="3285350" y="10299"/>
                  </a:lnTo>
                  <a:lnTo>
                    <a:pt x="3286112" y="11061"/>
                  </a:lnTo>
                  <a:lnTo>
                    <a:pt x="3286112" y="304"/>
                  </a:lnTo>
                  <a:lnTo>
                    <a:pt x="3285426" y="12"/>
                  </a:lnTo>
                  <a:lnTo>
                    <a:pt x="47612" y="12"/>
                  </a:lnTo>
                  <a:lnTo>
                    <a:pt x="40017" y="698"/>
                  </a:lnTo>
                  <a:lnTo>
                    <a:pt x="38100" y="1270"/>
                  </a:lnTo>
                  <a:lnTo>
                    <a:pt x="38100" y="0"/>
                  </a:lnTo>
                  <a:lnTo>
                    <a:pt x="12230" y="0"/>
                  </a:lnTo>
                  <a:lnTo>
                    <a:pt x="10426" y="355"/>
                  </a:lnTo>
                  <a:lnTo>
                    <a:pt x="0" y="12230"/>
                  </a:lnTo>
                  <a:lnTo>
                    <a:pt x="0" y="690753"/>
                  </a:lnTo>
                  <a:lnTo>
                    <a:pt x="0" y="692619"/>
                  </a:lnTo>
                  <a:lnTo>
                    <a:pt x="12230" y="704850"/>
                  </a:lnTo>
                  <a:lnTo>
                    <a:pt x="38100" y="704850"/>
                  </a:lnTo>
                  <a:lnTo>
                    <a:pt x="38100" y="703605"/>
                  </a:lnTo>
                  <a:lnTo>
                    <a:pt x="40017" y="704164"/>
                  </a:lnTo>
                  <a:lnTo>
                    <a:pt x="47612" y="704862"/>
                  </a:lnTo>
                  <a:lnTo>
                    <a:pt x="3285426" y="704862"/>
                  </a:lnTo>
                  <a:lnTo>
                    <a:pt x="3288754" y="703478"/>
                  </a:lnTo>
                  <a:lnTo>
                    <a:pt x="3291509" y="700722"/>
                  </a:lnTo>
                  <a:lnTo>
                    <a:pt x="3291979" y="700252"/>
                  </a:lnTo>
                  <a:lnTo>
                    <a:pt x="3294253" y="697966"/>
                  </a:lnTo>
                  <a:lnTo>
                    <a:pt x="3295637" y="694651"/>
                  </a:lnTo>
                  <a:lnTo>
                    <a:pt x="3295637" y="10299"/>
                  </a:lnTo>
                  <a:close/>
                </a:path>
              </a:pathLst>
            </a:custGeom>
            <a:solidFill>
              <a:srgbClr val="D8D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67450" y="5153850"/>
            <a:ext cx="3247390" cy="497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14"/>
              </a:spcBef>
            </a:pPr>
            <a:r>
              <a:rPr sz="1150" spc="80" dirty="0">
                <a:solidFill>
                  <a:srgbClr val="D8D5CE"/>
                </a:solidFill>
                <a:latin typeface="Calibri"/>
                <a:cs typeface="Calibri"/>
              </a:rPr>
              <a:t>Industry-</a:t>
            </a:r>
            <a:r>
              <a:rPr sz="1150" spc="105" dirty="0">
                <a:solidFill>
                  <a:srgbClr val="D8D5CE"/>
                </a:solidFill>
                <a:latin typeface="Calibri"/>
                <a:cs typeface="Calibri"/>
              </a:rPr>
              <a:t>Standard</a:t>
            </a:r>
            <a:r>
              <a:rPr sz="1150" spc="-5" dirty="0">
                <a:solidFill>
                  <a:srgbClr val="D8D5CE"/>
                </a:solidFill>
                <a:latin typeface="Calibri"/>
                <a:cs typeface="Calibri"/>
              </a:rPr>
              <a:t> </a:t>
            </a:r>
            <a:r>
              <a:rPr sz="1150" spc="75" dirty="0">
                <a:solidFill>
                  <a:srgbClr val="D8D5CE"/>
                </a:solidFill>
                <a:latin typeface="Calibri"/>
                <a:cs typeface="Calibri"/>
              </a:rPr>
              <a:t>Practices</a:t>
            </a:r>
            <a:endParaRPr sz="1150">
              <a:latin typeface="Calibri"/>
              <a:cs typeface="Calibri"/>
            </a:endParaRPr>
          </a:p>
          <a:p>
            <a:pPr marL="126364" marR="340995">
              <a:lnSpc>
                <a:spcPts val="830"/>
              </a:lnSpc>
              <a:spcBef>
                <a:spcPts val="685"/>
              </a:spcBef>
            </a:pPr>
            <a:r>
              <a:rPr sz="700" spc="-35" dirty="0">
                <a:solidFill>
                  <a:srgbClr val="D8D5CE"/>
                </a:solidFill>
                <a:latin typeface="Verdana"/>
                <a:cs typeface="Verdana"/>
              </a:rPr>
              <a:t>BCrypt</a:t>
            </a:r>
            <a:r>
              <a:rPr sz="700" spc="-7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55" dirty="0">
                <a:solidFill>
                  <a:srgbClr val="D8D5CE"/>
                </a:solidFill>
                <a:latin typeface="Verdana"/>
                <a:cs typeface="Verdana"/>
              </a:rPr>
              <a:t>hashing,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45" dirty="0">
                <a:solidFill>
                  <a:srgbClr val="D8D5CE"/>
                </a:solidFill>
                <a:latin typeface="Verdana"/>
                <a:cs typeface="Verdana"/>
              </a:rPr>
              <a:t>audit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0" dirty="0">
                <a:solidFill>
                  <a:srgbClr val="D8D5CE"/>
                </a:solidFill>
                <a:latin typeface="Verdana"/>
                <a:cs typeface="Verdana"/>
              </a:rPr>
              <a:t>logging,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30" dirty="0">
                <a:solidFill>
                  <a:srgbClr val="D8D5CE"/>
                </a:solidFill>
                <a:latin typeface="Verdana"/>
                <a:cs typeface="Verdana"/>
              </a:rPr>
              <a:t>and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10" dirty="0">
                <a:solidFill>
                  <a:srgbClr val="D8D5CE"/>
                </a:solidFill>
                <a:latin typeface="Verdana"/>
                <a:cs typeface="Verdana"/>
              </a:rPr>
              <a:t>OTP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5" dirty="0">
                <a:solidFill>
                  <a:srgbClr val="D8D5CE"/>
                </a:solidFill>
                <a:latin typeface="Verdana"/>
                <a:cs typeface="Verdana"/>
              </a:rPr>
              <a:t>expiry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0" dirty="0">
                <a:solidFill>
                  <a:srgbClr val="D8D5CE"/>
                </a:solidFill>
                <a:latin typeface="Verdana"/>
                <a:cs typeface="Verdana"/>
              </a:rPr>
              <a:t>follow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65" dirty="0">
                <a:solidFill>
                  <a:srgbClr val="D8D5CE"/>
                </a:solidFill>
                <a:latin typeface="Verdana"/>
                <a:cs typeface="Verdana"/>
              </a:rPr>
              <a:t>real-world</a:t>
            </a:r>
            <a:r>
              <a:rPr sz="700" spc="-7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700" spc="-20" dirty="0">
                <a:solidFill>
                  <a:srgbClr val="D8D5CE"/>
                </a:solidFill>
                <a:latin typeface="Verdana"/>
                <a:cs typeface="Verdana"/>
              </a:rPr>
              <a:t>security </a:t>
            </a:r>
            <a:r>
              <a:rPr sz="700" spc="-10" dirty="0">
                <a:solidFill>
                  <a:srgbClr val="D8D5CE"/>
                </a:solidFill>
                <a:latin typeface="Verdana"/>
                <a:cs typeface="Verdana"/>
              </a:rPr>
              <a:t>standards.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238875" y="58483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6083" y="0"/>
                </a:moveTo>
                <a:lnTo>
                  <a:pt x="3441" y="0"/>
                </a:lnTo>
                <a:lnTo>
                  <a:pt x="2324" y="466"/>
                </a:lnTo>
                <a:lnTo>
                  <a:pt x="469" y="2321"/>
                </a:lnTo>
                <a:lnTo>
                  <a:pt x="0" y="3448"/>
                </a:lnTo>
                <a:lnTo>
                  <a:pt x="0" y="376237"/>
                </a:lnTo>
                <a:lnTo>
                  <a:pt x="0" y="377551"/>
                </a:lnTo>
                <a:lnTo>
                  <a:pt x="469" y="378673"/>
                </a:lnTo>
                <a:lnTo>
                  <a:pt x="2324" y="380533"/>
                </a:lnTo>
                <a:lnTo>
                  <a:pt x="3441" y="381000"/>
                </a:lnTo>
                <a:lnTo>
                  <a:pt x="6083" y="381000"/>
                </a:lnTo>
                <a:lnTo>
                  <a:pt x="7200" y="380533"/>
                </a:lnTo>
                <a:lnTo>
                  <a:pt x="9055" y="378673"/>
                </a:lnTo>
                <a:lnTo>
                  <a:pt x="9525" y="377551"/>
                </a:lnTo>
                <a:lnTo>
                  <a:pt x="9525" y="3448"/>
                </a:lnTo>
                <a:lnTo>
                  <a:pt x="9055" y="2321"/>
                </a:lnTo>
                <a:lnTo>
                  <a:pt x="7200" y="466"/>
                </a:lnTo>
                <a:lnTo>
                  <a:pt x="6083" y="0"/>
                </a:lnTo>
                <a:close/>
              </a:path>
            </a:pathLst>
          </a:custGeom>
          <a:solidFill>
            <a:srgbClr val="FFF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399707" y="5884798"/>
            <a:ext cx="2466975" cy="294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spc="-55" dirty="0">
                <a:solidFill>
                  <a:srgbClr val="D8D5CE"/>
                </a:solidFill>
                <a:latin typeface="Arial Black"/>
                <a:cs typeface="Arial Black"/>
              </a:rPr>
              <a:t>"Security</a:t>
            </a:r>
            <a:r>
              <a:rPr sz="850" spc="-114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spc="-65" dirty="0">
                <a:solidFill>
                  <a:srgbClr val="D8D5CE"/>
                </a:solidFill>
                <a:latin typeface="Arial Black"/>
                <a:cs typeface="Arial Black"/>
              </a:rPr>
              <a:t>is</a:t>
            </a:r>
            <a:r>
              <a:rPr sz="850" spc="-114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spc="-40" dirty="0">
                <a:solidFill>
                  <a:srgbClr val="D8D5CE"/>
                </a:solidFill>
                <a:latin typeface="Arial Black"/>
                <a:cs typeface="Arial Black"/>
              </a:rPr>
              <a:t>not</a:t>
            </a:r>
            <a:r>
              <a:rPr sz="850" spc="-11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dirty="0">
                <a:solidFill>
                  <a:srgbClr val="D8D5CE"/>
                </a:solidFill>
                <a:latin typeface="Arial Black"/>
                <a:cs typeface="Arial Black"/>
              </a:rPr>
              <a:t>a</a:t>
            </a:r>
            <a:r>
              <a:rPr sz="850" spc="-114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spc="-50" dirty="0">
                <a:solidFill>
                  <a:srgbClr val="D8D5CE"/>
                </a:solidFill>
                <a:latin typeface="Arial Black"/>
                <a:cs typeface="Arial Black"/>
              </a:rPr>
              <a:t>feature</a:t>
            </a:r>
            <a:r>
              <a:rPr sz="850" spc="-114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spc="70" dirty="0">
                <a:solidFill>
                  <a:srgbClr val="D8D5CE"/>
                </a:solidFill>
                <a:latin typeface="Arial Black"/>
                <a:cs typeface="Arial Black"/>
              </a:rPr>
              <a:t>4</a:t>
            </a:r>
            <a:r>
              <a:rPr sz="850" spc="-11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spc="-50" dirty="0">
                <a:solidFill>
                  <a:srgbClr val="D8D5CE"/>
                </a:solidFill>
                <a:latin typeface="Arial Black"/>
                <a:cs typeface="Arial Black"/>
              </a:rPr>
              <a:t>it</a:t>
            </a:r>
            <a:r>
              <a:rPr sz="850" spc="-114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spc="-65" dirty="0">
                <a:solidFill>
                  <a:srgbClr val="D8D5CE"/>
                </a:solidFill>
                <a:latin typeface="Arial Black"/>
                <a:cs typeface="Arial Black"/>
              </a:rPr>
              <a:t>is</a:t>
            </a:r>
            <a:r>
              <a:rPr sz="850" spc="-114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dirty="0">
                <a:solidFill>
                  <a:srgbClr val="D8D5CE"/>
                </a:solidFill>
                <a:latin typeface="Arial Black"/>
                <a:cs typeface="Arial Black"/>
              </a:rPr>
              <a:t>a</a:t>
            </a:r>
            <a:r>
              <a:rPr sz="850" spc="-110" dirty="0">
                <a:solidFill>
                  <a:srgbClr val="D8D5CE"/>
                </a:solidFill>
                <a:latin typeface="Arial Black"/>
                <a:cs typeface="Arial Black"/>
              </a:rPr>
              <a:t> </a:t>
            </a:r>
            <a:r>
              <a:rPr sz="850" spc="-10" dirty="0">
                <a:solidFill>
                  <a:srgbClr val="D8D5CE"/>
                </a:solidFill>
                <a:latin typeface="Arial Black"/>
                <a:cs typeface="Arial Black"/>
              </a:rPr>
              <a:t>foundation."</a:t>
            </a:r>
            <a:endParaRPr sz="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50" spc="-35" dirty="0">
                <a:solidFill>
                  <a:srgbClr val="D8D5CE"/>
                </a:solidFill>
                <a:latin typeface="Verdana"/>
                <a:cs typeface="Verdana"/>
              </a:rPr>
              <a:t>This</a:t>
            </a:r>
            <a:r>
              <a:rPr sz="85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50" dirty="0">
                <a:solidFill>
                  <a:srgbClr val="D8D5CE"/>
                </a:solidFill>
                <a:latin typeface="Verdana"/>
                <a:cs typeface="Verdana"/>
              </a:rPr>
              <a:t>project</a:t>
            </a:r>
            <a:r>
              <a:rPr sz="8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D8D5CE"/>
                </a:solidFill>
                <a:latin typeface="Verdana"/>
                <a:cs typeface="Verdana"/>
              </a:rPr>
              <a:t>was</a:t>
            </a:r>
            <a:r>
              <a:rPr sz="8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50" dirty="0">
                <a:solidFill>
                  <a:srgbClr val="D8D5CE"/>
                </a:solidFill>
                <a:latin typeface="Verdana"/>
                <a:cs typeface="Verdana"/>
              </a:rPr>
              <a:t>built</a:t>
            </a:r>
            <a:r>
              <a:rPr sz="8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70" dirty="0">
                <a:solidFill>
                  <a:srgbClr val="D8D5CE"/>
                </a:solidFill>
                <a:latin typeface="Verdana"/>
                <a:cs typeface="Verdana"/>
              </a:rPr>
              <a:t>with</a:t>
            </a:r>
            <a:r>
              <a:rPr sz="8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D8D5CE"/>
                </a:solidFill>
                <a:latin typeface="Verdana"/>
                <a:cs typeface="Verdana"/>
              </a:rPr>
              <a:t>that</a:t>
            </a:r>
            <a:r>
              <a:rPr sz="850" spc="-100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D8D5CE"/>
                </a:solidFill>
                <a:latin typeface="Verdana"/>
                <a:cs typeface="Verdana"/>
              </a:rPr>
              <a:t>principle</a:t>
            </a:r>
            <a:r>
              <a:rPr sz="8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D8D5CE"/>
                </a:solidFill>
                <a:latin typeface="Verdana"/>
                <a:cs typeface="Verdana"/>
              </a:rPr>
              <a:t>at</a:t>
            </a:r>
            <a:r>
              <a:rPr sz="8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D8D5CE"/>
                </a:solidFill>
                <a:latin typeface="Verdana"/>
                <a:cs typeface="Verdana"/>
              </a:rPr>
              <a:t>its</a:t>
            </a:r>
            <a:r>
              <a:rPr sz="850" spc="-95" dirty="0">
                <a:solidFill>
                  <a:srgbClr val="D8D5CE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D8D5CE"/>
                </a:solidFill>
                <a:latin typeface="Verdana"/>
                <a:cs typeface="Verdana"/>
              </a:rPr>
              <a:t>core.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7" name="object 37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77200" y="6371716"/>
            <a:ext cx="4114800" cy="391034"/>
          </a:xfrm>
          <a:prstGeom prst="rect">
            <a:avLst/>
          </a:prstGeom>
          <a:solidFill>
            <a:srgbClr val="09090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286000"/>
            <a:ext cx="6619775" cy="1231106"/>
          </a:xfrm>
        </p:spPr>
        <p:txBody>
          <a:bodyPr/>
          <a:lstStyle/>
          <a:p>
            <a:pPr algn="ctr"/>
            <a:r>
              <a:rPr lang="en-US" sz="8000" dirty="0" smtClean="0">
                <a:latin typeface="Bookman Old Style" panose="02050604050505020204" pitchFamily="18" charset="0"/>
              </a:rPr>
              <a:t>Thank</a:t>
            </a:r>
            <a:r>
              <a:rPr lang="en-US" sz="8000" dirty="0" smtClean="0">
                <a:latin typeface="Forte" panose="03060902040502070203" pitchFamily="66" charset="0"/>
              </a:rPr>
              <a:t> you</a:t>
            </a:r>
            <a:endParaRPr lang="en-US" sz="66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53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1135</Words>
  <Application>Microsoft Office PowerPoint</Application>
  <PresentationFormat>Widescreen</PresentationFormat>
  <Paragraphs>187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Black</vt:lpstr>
      <vt:lpstr>Bookman Old Style</vt:lpstr>
      <vt:lpstr>Calibri</vt:lpstr>
      <vt:lpstr>Forte</vt:lpstr>
      <vt:lpstr>Verdana</vt:lpstr>
      <vt:lpstr>Office Theme</vt:lpstr>
      <vt:lpstr>Secure Login System Using Email-Based OTP Authentication</vt:lpstr>
      <vt:lpstr>Introduction</vt:lpstr>
      <vt:lpstr>Problem Statement</vt:lpstr>
      <vt:lpstr>Objectives</vt:lpstr>
      <vt:lpstr>Technologies Used</vt:lpstr>
      <vt:lpstr>System Architecture</vt:lpstr>
      <vt:lpstr>Database Design</vt:lpstr>
      <vt:lpstr>Registration &amp; Login Flow</vt:lpstr>
      <vt:lpstr>Security Features</vt:lpstr>
      <vt:lpstr>Testing, Future Scope &amp;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user</cp:lastModifiedBy>
  <cp:revision>5</cp:revision>
  <dcterms:created xsi:type="dcterms:W3CDTF">2026-07-07T14:49:19Z</dcterms:created>
  <dcterms:modified xsi:type="dcterms:W3CDTF">2026-07-09T09:20:02Z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2026-06-20T00:00:00Z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2026-07-07T00:00:00Z</vt:filetime>
  </property>
  <property fmtid="{D5CDD505-2E9C-101B-9397-08002B2CF9AE}" pid="6" name="Producer">
    <vt:lpwstr>GPL Ghostscript 9.56.1</vt:lpwstr>
  </property>
</Properties>
</file>